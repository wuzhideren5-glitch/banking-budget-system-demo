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lsb" ContentType="application/vnd.ms-excel.sheet.binary.macroEnabled.12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2.xml" ContentType="application/vnd.openxmlformats-officedocument.presentationml.notesSlide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notesSlides/notesSlide6.xml" ContentType="application/vnd.openxmlformats-officedocument.presentationml.notesSlide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notesSlides/notesSlide7.xml" ContentType="application/vnd.openxmlformats-officedocument.presentationml.notesSlide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tags/tag177.xml" ContentType="application/vnd.openxmlformats-officedocument.presentationml.tags+xml"/>
  <Override PartName="/ppt/notesSlides/notesSlide8.xml" ContentType="application/vnd.openxmlformats-officedocument.presentationml.notesSlide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notesSlides/notesSlide9.xml" ContentType="application/vnd.openxmlformats-officedocument.presentationml.notesSlide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
<Relationships xmlns="http://schemas.openxmlformats.org/package/2006/relationships">
  <Relationship Id="rId3" Type="http://schemas.openxmlformats.org/package/2006/relationships/metadata/core-properties" Target="docProps/core.xml"/>
  <Relationship Id="CGWMY6GK79VQ00BGRQR8PL0J7NN0OXVREF06TJD7XFF8TFLT66BRIC0EFY9TPDRRXXM6EOL9ZI6D8LXJQJFA0FFU89QMWH5BBJODPHB3C79134F8207DB777E36879CE8F4E7676" Type="http://schemas.microsoft.com/office/2006/relationships/officeDocumentMain" Target="docProps/core.xml"/>
  <Relationship Id="rId2" Type="http://schemas.openxmlformats.org/officeDocument/2006/relationships/officeDocument" Target="ppt/presentation.xml"/>
  <Relationship Id="SZWMD6GQ7R9A0TBGRKRNQLJZ7ZQ0OYVRQO0XXJDVXFGRTFLT68BJKCJWFYYHPB8RXEMX9OL5ZHK78HXJQFFT6FF78RF0WMWBAEOODHB345694200EAF831495F75709E5BBE696F" Type="http://schemas.microsoft.com/office/2006/relationships/officeDocumentExtended" Target="docProps/app.xml"/>
  <Relationship Id="rId1" Type="http://schemas.microsoft.com/office/2011/relationships/webextensiontaskpanes" Target="ppt/webextensions/taskpanes.xml"/>
  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826" r:id="rId2"/>
    <p:sldId id="1111" r:id="rId3"/>
    <p:sldId id="993" r:id="rId4"/>
    <p:sldId id="1116" r:id="rId5"/>
    <p:sldId id="1121" r:id="rId6"/>
    <p:sldId id="994" r:id="rId7"/>
    <p:sldId id="909" r:id="rId8"/>
    <p:sldId id="1128" r:id="rId9"/>
    <p:sldId id="1126" r:id="rId10"/>
    <p:sldId id="954" r:id="rId11"/>
    <p:sldId id="1112" r:id="rId12"/>
    <p:sldId id="1113" r:id="rId13"/>
    <p:sldId id="345" r:id="rId14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4C7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5" d="100"/>
          <a:sy n="95" d="100"/>
        </p:scale>
        <p:origin x="2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
<Relationships xmlns="http://schemas.openxmlformats.org/package/2006/relationships">
  <Relationship Id="rId8" Type="http://schemas.openxmlformats.org/officeDocument/2006/relationships/slide" Target="slides/slide7.xml"/>
  <Relationship Id="rId13" Type="http://schemas.openxmlformats.org/officeDocument/2006/relationships/slide" Target="slides/slide12.xml"/>
  <Relationship Id="rId18" Type="http://schemas.openxmlformats.org/officeDocument/2006/relationships/viewProps" Target="viewProps.xml"/>
  <Relationship Id="rId3" Type="http://schemas.openxmlformats.org/officeDocument/2006/relationships/slide" Target="slides/slide2.xml"/>
  <Relationship Id="rId7" Type="http://schemas.openxmlformats.org/officeDocument/2006/relationships/slide" Target="slides/slide6.xml"/>
  <Relationship Id="rId12" Type="http://schemas.openxmlformats.org/officeDocument/2006/relationships/slide" Target="slides/slide11.xml"/>
  <Relationship Id="rId17" Type="http://schemas.openxmlformats.org/officeDocument/2006/relationships/presProps" Target="presProps.xml"/>
  <Relationship Id="rId2" Type="http://schemas.openxmlformats.org/officeDocument/2006/relationships/slide" Target="slides/slide1.xml"/>
  <Relationship Id="rId16" Type="http://schemas.openxmlformats.org/officeDocument/2006/relationships/tags" Target="tags/tag1.xml"/>
  <Relationship Id="rId20" Type="http://schemas.openxmlformats.org/officeDocument/2006/relationships/tableStyles" Target="tableStyles.xml"/>
  <Relationship Id="rId1" Type="http://schemas.openxmlformats.org/officeDocument/2006/relationships/slideMaster" Target="slideMasters/slideMaster1.xml"/>
  <Relationship Id="rId6" Type="http://schemas.openxmlformats.org/officeDocument/2006/relationships/slide" Target="slides/slide5.xml"/>
  <Relationship Id="rId11" Type="http://schemas.openxmlformats.org/officeDocument/2006/relationships/slide" Target="slides/slide10.xml"/>
  <Relationship Id="rId5" Type="http://schemas.openxmlformats.org/officeDocument/2006/relationships/slide" Target="slides/slide4.xml"/>
  <Relationship Id="rId15" Type="http://schemas.openxmlformats.org/officeDocument/2006/relationships/notesMaster" Target="notesMasters/notesMaster1.xml"/>
  <Relationship Id="rId10" Type="http://schemas.openxmlformats.org/officeDocument/2006/relationships/slide" Target="slides/slide9.xml"/>
  <Relationship Id="rId19" Type="http://schemas.openxmlformats.org/officeDocument/2006/relationships/theme" Target="theme/theme1.xml"/>
  <Relationship Id="rId4" Type="http://schemas.openxmlformats.org/officeDocument/2006/relationships/slide" Target="slides/slide3.xml"/>
  <Relationship Id="rId9" Type="http://schemas.openxmlformats.org/officeDocument/2006/relationships/slide" Target="slides/slide8.xml"/>
  <Relationship Id="rId14" Type="http://schemas.openxmlformats.org/officeDocument/2006/relationships/slide" Target="slides/slide13.xml"/>
</Relationships>

</file>

<file path=ppt/charts/_rels/chart1.xml.rels><?xml version="1.0" encoding="utf-8"?>
<Relationships xmlns="http://schemas.openxmlformats.org/package/2006/relationships">
  <Relationship Id="rId1" Type="http://schemas.openxmlformats.org/officeDocument/2006/relationships/package" Target="../embeddings/Microsoft_Excel_Binary_Worksheet.xlsb"/>
</Relationships>

</file>

<file path=ppt/charts/_rels/chart2.xml.rels><?xml version="1.0" encoding="utf-8"?>
<Relationships xmlns="http://schemas.openxmlformats.org/package/2006/relationships">
  <Relationship Id="rId1" Type="http://schemas.openxmlformats.org/officeDocument/2006/relationships/package" Target="../embeddings/Microsoft_Excel_Binary_Worksheet1.xlsb"/>
</Relationships>

</file>

<file path=ppt/charts/_rels/chart3.xml.rels><?xml version="1.0" encoding="utf-8"?>
<Relationships xmlns="http://schemas.openxmlformats.org/package/2006/relationships">
  <Relationship Id="rId1" Type="http://schemas.openxmlformats.org/officeDocument/2006/relationships/package" Target="../embeddings/Microsoft_Excel_Binary_Worksheet2.xlsb"/>
</Relationships>

</file>

<file path=ppt/charts/_rels/chart4.xml.rels><?xml version="1.0" encoding="utf-8"?>
<Relationships xmlns="http://schemas.openxmlformats.org/package/2006/relationships">
  <Relationship Id="rId1" Type="http://schemas.openxmlformats.org/officeDocument/2006/relationships/package" Target="../embeddings/Microsoft_Excel_Binary_Worksheet3.xlsb"/>
</Relationships>

</file>

<file path=ppt/charts/_rels/chart5.xml.rels><?xml version="1.0" encoding="utf-8"?>
<Relationships xmlns="http://schemas.openxmlformats.org/package/2006/relationships">
  <Relationship Id="rId1" Type="http://schemas.openxmlformats.org/officeDocument/2006/relationships/package" Target="../embeddings/Microsoft_Excel_Binary_Worksheet4.xlsb"/>
</Relationships>

</file>

<file path=ppt/charts/_rels/chart6.xml.rels><?xml version="1.0" encoding="utf-8"?>
<Relationships xmlns="http://schemas.openxmlformats.org/package/2006/relationships">
  <Relationship Id="rId1" Type="http://schemas.openxmlformats.org/officeDocument/2006/relationships/package" Target="../embeddings/Microsoft_Excel_Binary_Worksheet5.xlsb"/>
</Relationships>

</file>

<file path=ppt/charts/_rels/chart7.xml.rels><?xml version="1.0" encoding="utf-8"?>
<Relationships xmlns="http://schemas.openxmlformats.org/package/2006/relationships">
  <Relationship Id="rId1" Type="http://schemas.openxmlformats.org/officeDocument/2006/relationships/package" Target="../embeddings/Microsoft_Excel_Binary_Worksheet6.xlsb"/>
</Relationships>

</file>

<file path=ppt/charts/_rels/chart8.xml.rels><?xml version="1.0" encoding="utf-8"?>
<Relationships xmlns="http://schemas.openxmlformats.org/package/2006/relationships">
  <Relationship Id="rId1" Type="http://schemas.openxmlformats.org/officeDocument/2006/relationships/package" Target="../embeddings/Microsoft_Excel_Binary_Worksheet7.xlsb"/>
</Relationships>

</file>

<file path=ppt/charts/_rels/chart9.xml.rels><?xml version="1.0" encoding="utf-8"?>
<Relationships xmlns="http://schemas.openxmlformats.org/package/2006/relationships">
  <Relationship Id="rId1" Type="http://schemas.openxmlformats.org/officeDocument/2006/relationships/package" Target="../embeddings/Microsoft_Excel_Binary_Worksheet8.xlsb"/>
</Relationships>

</file>

<file path=ppt/charts/_rels/chart10.xml.rels><?xml version="1.0" encoding="utf-8"?>
<Relationships xmlns="http://schemas.openxmlformats.org/package/2006/relationships">
  <Relationship Id="rId1" Type="http://schemas.openxmlformats.org/officeDocument/2006/relationships/package" Target="../embeddings/Microsoft_Excel_Binary_Worksheet9.xlsb"/>
</Relationships>

</file>

<file path=ppt/charts/_rels/chart11.xml.rels><?xml version="1.0" encoding="utf-8"?>
<Relationships xmlns="http://schemas.openxmlformats.org/package/2006/relationships">
  <Relationship Id="rId1" Type="http://schemas.openxmlformats.org/officeDocument/2006/relationships/package" Target="../embeddings/Microsoft_Excel_Binary_Worksheet10.xlsb"/>
</Relationships>

</file>

<file path=ppt/charts/_rels/chart12.xml.rels><?xml version="1.0" encoding="utf-8"?>
<Relationships xmlns="http://schemas.openxmlformats.org/package/2006/relationships">
  <Relationship Id="rId1" Type="http://schemas.openxmlformats.org/officeDocument/2006/relationships/package" Target="../embeddings/Microsoft_Excel_Binary_Worksheet11.xlsb"/>
</Relationships>

</file>

<file path=ppt/charts/_rels/chart13.xml.rels><?xml version="1.0" encoding="utf-8"?>
<Relationships xmlns="http://schemas.openxmlformats.org/package/2006/relationships">
  <Relationship Id="rId1" Type="http://schemas.openxmlformats.org/officeDocument/2006/relationships/package" Target="../embeddings/Microsoft_Excel_Binary_Worksheet12.xlsb"/>
</Relationships>

</file>

<file path=ppt/charts/_rels/chart14.xml.rels><?xml version="1.0" encoding="utf-8"?>
<Relationships xmlns="http://schemas.openxmlformats.org/package/2006/relationships">
  <Relationship Id="rId1" Type="http://schemas.openxmlformats.org/officeDocument/2006/relationships/package" Target="../embeddings/Microsoft_Excel_Binary_Worksheet13.xlsb"/>
</Relationships>

</file>

<file path=ppt/charts/_rels/chart15.xml.rels><?xml version="1.0" encoding="utf-8"?>
<Relationships xmlns="http://schemas.openxmlformats.org/package/2006/relationships">
  <Relationship Id="rId1" Type="http://schemas.openxmlformats.org/officeDocument/2006/relationships/package" Target="../embeddings/Microsoft_Excel_Binary_Worksheet14.xlsb"/>
</Relationships>

</file>

<file path=ppt/charts/_rels/chart16.xml.rels><?xml version="1.0" encoding="utf-8"?>
<Relationships xmlns="http://schemas.openxmlformats.org/package/2006/relationships">
  <Relationship Id="rId1" Type="http://schemas.openxmlformats.org/officeDocument/2006/relationships/package" Target="../embeddings/Microsoft_Excel_Binary_Worksheet15.xlsb"/>
</Relationships>

</file>

<file path=ppt/charts/_rels/chart17.xml.rels><?xml version="1.0" encoding="utf-8"?>
<Relationships xmlns="http://schemas.openxmlformats.org/package/2006/relationships">
  <Relationship Id="rId1" Type="http://schemas.openxmlformats.org/officeDocument/2006/relationships/package" Target="../embeddings/Microsoft_Excel_Binary_Worksheet16.xlsb"/>
</Relationships>

</file>

<file path=ppt/charts/chart1.xml><?xml version="1.0" encoding="utf-8"?>
<c:chartSpace xmlns:a="http://schemas.openxmlformats.org/drawingml/2006/main" xmlns:c="http://schemas.openxmlformats.org/drawingml/2006/chart" xmlns:c14="http://schemas.microsoft.com/office/drawing/2007/8/2/chart" xmlns:c15="http://schemas.microsoft.com/office/drawing/2012/chart" xmlns:c16="http://schemas.microsoft.com/office/drawing/2014/chart" xmlns:mc="http://schemas.openxmlformats.org/markup-compatibility/2006" xmlns:r="http://schemas.openxmlformats.org/officeDocument/2006/relationships">
  <c:date1904 val="0"/>
  <c:lang val="zh-CN"/>
  <c:roundedCorners val="0"/>
  <mc:AlternateContent>
    <mc:Choice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5193798449612403E-2"/>
          <c:y val="0.17754569190600522"/>
          <c:w val="0.94961240310077522"/>
          <c:h val="0.6988685813751087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3672758920800696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KaiTi"/>
                      <a:ea typeface="KaiTi"/>
                      <a:cs typeface="+mn-cs"/>
                      <a:sym typeface="KaiTi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0-CBE8-4E33-9A9F-7DA7BE24CCFB}"/>
                </c:ext>
              </c:extLst>
            </c:dLbl>
            <c:dLbl>
              <c:idx val="1"/>
              <c:layout>
                <c:manualLayout>
                  <c:x val="0"/>
                  <c:y val="-0.3751087902523934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KaiTi"/>
                      <a:ea typeface="KaiTi"/>
                      <a:cs typeface="KaiTi"/>
                      <a:sym typeface="KaiTi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1-CBE8-4E33-9A9F-7DA7BE24CCFB}"/>
                </c:ext>
              </c:extLst>
            </c:dLbl>
            <c:dLbl>
              <c:idx val="2"/>
              <c:layout>
                <c:manualLayout>
                  <c:x val="0"/>
                  <c:y val="-0.38207136640557005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KaiTi"/>
                      <a:ea typeface="KaiTi"/>
                      <a:cs typeface="KaiTi"/>
                      <a:sym typeface="KaiTi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2-CBE8-4E33-9A9F-7DA7BE24CCFB}"/>
                </c:ext>
              </c:extLst>
            </c:dLbl>
            <c:dLbl>
              <c:idx val="3"/>
              <c:layout>
                <c:manualLayout>
                  <c:x val="0"/>
                  <c:y val="-0.3977371627502175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KaiTi"/>
                      <a:ea typeface="KaiTi"/>
                      <a:cs typeface="KaiTi"/>
                      <a:sym typeface="KaiTi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3-CBE8-4E33-9A9F-7DA7BE24CCFB}"/>
                </c:ext>
              </c:extLst>
            </c:dLbl>
            <c:dLbl>
              <c:idx val="4"/>
              <c:layout>
                <c:manualLayout>
                  <c:x val="0"/>
                  <c:y val="-0.4038294168842471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KaiTi"/>
                      <a:ea typeface="KaiTi"/>
                      <a:cs typeface="KaiTi"/>
                      <a:sym typeface="KaiTi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4-CBE8-4E33-9A9F-7DA7BE24CCF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uri="{CE6537A1-D6FC-4f65-9D91-7224C49458BB}">
                <c15:showLeaderLines val="0"/>
              </c:ext>
            </c:extLst>
          </c:dLbls>
          <c:val>
            <c:numRef>
              <c:f>Sheet1!$A$1:$E$1</c:f>
              <c:numCache>
                <c:formatCode>General</c:formatCode>
                <c:ptCount val="5"/>
                <c:pt idx="0">
                  <c:v>88,888.999999999999</c:v>
                </c:pt>
                <c:pt idx="1">
                  <c:v>11,111.2222</c:v>
                </c:pt>
                <c:pt idx="2">
                  <c:v>33,333.444444444444</c:v>
                </c:pt>
                <c:pt idx="3">
                  <c:v>55,555.666666666666</c:v>
                </c:pt>
                <c:pt idx="4">
                  <c:v>77,777.8888</c:v>
                </c:pt>
              </c:numCache>
            </c:numRef>
          </c:val>
          <c:extLst>
            <c:ext uri="{C3380CC4-5D6E-409C-BE32-E72D297353CC}">
              <c16:uniqueId val="{00000005-CBE8-4E33-9A9F-7DA7BE24CC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0"/>
        <c:overlap val="100"/>
        <c:axId val="135905007"/>
        <c:axId val="1"/>
      </c:barChart>
      <c:catAx>
        <c:axId val="13590500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44755.8459"/>
          <c:min val="2500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35905007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a="http://schemas.openxmlformats.org/drawingml/2006/main" xmlns:c="http://schemas.openxmlformats.org/drawingml/2006/chart" xmlns:c14="http://schemas.microsoft.com/office/drawing/2007/8/2/chart" xmlns:c15="http://schemas.microsoft.com/office/drawing/2012/chart" xmlns:c16="http://schemas.microsoft.com/office/drawing/2014/chart" xmlns:mc="http://schemas.openxmlformats.org/markup-compatibility/2006" xmlns:r="http://schemas.openxmlformats.org/officeDocument/2006/relationships">
  <c:date1904 val="0"/>
  <c:lang val="zh-CN"/>
  <c:roundedCorners val="0"/>
  <mc:AlternateContent>
    <mc:Choice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7055150884495317E-2"/>
          <c:y val="0.17754569190600522"/>
          <c:w val="0.94588969823100932"/>
          <c:h val="0.69886858137510877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36988685813751088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KaiTi"/>
                      <a:ea typeface="KaiTi"/>
                      <a:cs typeface="KaiTi"/>
                      <a:sym typeface="KaiTi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0-1DF4-4285-B4A6-D1E034BF398A}"/>
                </c:ext>
              </c:extLst>
            </c:dLbl>
            <c:dLbl>
              <c:idx val="1"/>
              <c:layout>
                <c:manualLayout>
                  <c:x val="0"/>
                  <c:y val="-0.3785900783289817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KaiTi"/>
                      <a:ea typeface="KaiTi"/>
                      <a:cs typeface="KaiTi"/>
                      <a:sym typeface="KaiTi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1-1DF4-4285-B4A6-D1E034BF398A}"/>
                </c:ext>
              </c:extLst>
            </c:dLbl>
            <c:dLbl>
              <c:idx val="2"/>
              <c:layout>
                <c:manualLayout>
                  <c:x val="0"/>
                  <c:y val="-0.3881636205395996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KaiTi"/>
                      <a:ea typeface="KaiTi"/>
                      <a:cs typeface="KaiTi"/>
                      <a:sym typeface="KaiTi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2-1DF4-4285-B4A6-D1E034BF398A}"/>
                </c:ext>
              </c:extLst>
            </c:dLbl>
            <c:dLbl>
              <c:idx val="3"/>
              <c:layout>
                <c:manualLayout>
                  <c:x val="0"/>
                  <c:y val="-0.39686684073107048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KaiTi"/>
                      <a:ea typeface="KaiTi"/>
                      <a:cs typeface="KaiTi"/>
                      <a:sym typeface="KaiTi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3-1DF4-4285-B4A6-D1E034BF398A}"/>
                </c:ext>
              </c:extLst>
            </c:dLbl>
            <c:dLbl>
              <c:idx val="4"/>
              <c:layout>
                <c:manualLayout>
                  <c:x val="0"/>
                  <c:y val="-0.40382941688424717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KaiTi"/>
                      <a:ea typeface="KaiTi"/>
                      <a:cs typeface="+mn-cs"/>
                      <a:sym typeface="KaiTi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4-1DF4-4285-B4A6-D1E034BF398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uri="{CE6537A1-D6FC-4f65-9D91-7224C49458BB}">
                <c15:showLeaderLines val="0"/>
              </c:ext>
            </c:extLst>
          </c:dLbls>
          <c:val>
            <c:numRef>
              <c:f>Sheet1!$A$1:$E$1</c:f>
              <c:numCache>
                <c:formatCode>General</c:formatCode>
                <c:ptCount val="5"/>
                <c:pt idx="0">
                  <c:v>222.33333333333333</c:v>
                </c:pt>
                <c:pt idx="1">
                  <c:v>444.55555555555555</c:v>
                </c:pt>
                <c:pt idx="2">
                  <c:v>666.77777777777777</c:v>
                </c:pt>
                <c:pt idx="3">
                  <c:v>888.99999999999999</c:v>
                </c:pt>
                <c:pt idx="4">
                  <c:v>111.22222222222222</c:v>
                </c:pt>
              </c:numCache>
            </c:numRef>
          </c:val>
          <c:extLst>
            <c:ext uri="{C3380CC4-5D6E-409C-BE32-E72D297353CC}">
              <c16:uniqueId val="{00000005-1DF4-4285-B4A6-D1E034BF398A}"/>
            </c:ext>
          </c:extLst>
        </c:ser>
        <c:ser>
          <c:idx val="1"/>
          <c:order val="1"/>
          <c:spPr>
            <a:solidFill>
              <a:srgbClr val="C0000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2.6534859521331947E-2"/>
                  <c:y val="-0.14708442123585727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KaiTi"/>
                      <a:ea typeface="KaiTi"/>
                      <a:cs typeface="KaiTi"/>
                      <a:sym typeface="KaiTi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6-1DF4-4285-B4A6-D1E034BF398A}"/>
                </c:ext>
              </c:extLst>
            </c:dLbl>
            <c:dLbl>
              <c:idx val="1"/>
              <c:layout>
                <c:manualLayout>
                  <c:x val="2.6534859521331947E-2"/>
                  <c:y val="-0.14534377719756311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KaiTi"/>
                      <a:ea typeface="KaiTi"/>
                      <a:cs typeface="KaiTi"/>
                      <a:sym typeface="KaiTi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7-1DF4-4285-B4A6-D1E034BF398A}"/>
                </c:ext>
              </c:extLst>
            </c:dLbl>
            <c:dLbl>
              <c:idx val="2"/>
              <c:layout>
                <c:manualLayout>
                  <c:x val="2.6534859521331947E-2"/>
                  <c:y val="-0.14621409921671019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KaiTi"/>
                      <a:ea typeface="KaiTi"/>
                      <a:cs typeface="KaiTi"/>
                      <a:sym typeface="KaiTi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8-1DF4-4285-B4A6-D1E034BF398A}"/>
                </c:ext>
              </c:extLst>
            </c:dLbl>
            <c:dLbl>
              <c:idx val="3"/>
              <c:layout>
                <c:manualLayout>
                  <c:x val="2.6534859521331947E-2"/>
                  <c:y val="-0.14621409921671019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KaiTi"/>
                      <a:ea typeface="KaiTi"/>
                      <a:cs typeface="KaiTi"/>
                      <a:sym typeface="KaiTi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9-1DF4-4285-B4A6-D1E034BF398A}"/>
                </c:ext>
              </c:extLst>
            </c:dLbl>
            <c:dLbl>
              <c:idx val="4"/>
              <c:layout>
                <c:manualLayout>
                  <c:x val="2.6534859521331947E-2"/>
                  <c:y val="-0.144473455178416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KaiTi"/>
                      <a:ea typeface="KaiTi"/>
                      <a:cs typeface="+mn-cs"/>
                      <a:sym typeface="KaiTi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A-1DF4-4285-B4A6-D1E034BF398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uri="{CE6537A1-D6FC-4f65-9D91-7224C49458BB}">
                <c15:showLeaderLines val="0"/>
              </c:ext>
            </c:extLst>
          </c:dLbls>
          <c:val>
            <c:numRef>
              <c:f>Sheet1!$A$2:$E$2</c:f>
              <c:numCache>
                <c:formatCode>General</c:formatCode>
                <c:ptCount val="5"/>
                <c:pt idx="0">
                  <c:v>33.444444444444444</c:v>
                </c:pt>
                <c:pt idx="1">
                  <c:v>55.666666666666666</c:v>
                </c:pt>
                <c:pt idx="2">
                  <c:v>77.888888888888888</c:v>
                </c:pt>
                <c:pt idx="3">
                  <c:v>99.111111111111111</c:v>
                </c:pt>
                <c:pt idx="4">
                  <c:v>22.333333333333333</c:v>
                </c:pt>
              </c:numCache>
            </c:numRef>
          </c:val>
          <c:extLst>
            <c:ext uri="{C3380CC4-5D6E-409C-BE32-E72D297353CC}">
              <c16:uniqueId val="{0000000B-1DF4-4285-B4A6-D1E034BF39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0"/>
        <c:axId val="135874287"/>
        <c:axId val="1"/>
      </c:barChart>
      <c:catAx>
        <c:axId val="13587428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90.33080000000001"/>
          <c:min val="1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35874287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a="http://schemas.openxmlformats.org/drawingml/2006/main" xmlns:c="http://schemas.openxmlformats.org/drawingml/2006/chart" xmlns:c14="http://schemas.microsoft.com/office/drawing/2007/8/2/chart" xmlns:c15="http://schemas.microsoft.com/office/drawing/2012/chart" xmlns:c16="http://schemas.microsoft.com/office/drawing/2014/chart" xmlns:mc="http://schemas.openxmlformats.org/markup-compatibility/2006" xmlns:r="http://schemas.openxmlformats.org/officeDocument/2006/relationships">
  <c:date1904 val="0"/>
  <c:lang val="zh-CN"/>
  <c:roundedCorners val="0"/>
  <mc:AlternateContent>
    <mc:Choice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5328787140769606E-2"/>
          <c:y val="0.17754569190600522"/>
          <c:w val="0.94934242571846084"/>
          <c:h val="0.6988685813751087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3620539599651871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KaiTi"/>
                      <a:ea typeface="KaiTi"/>
                      <a:cs typeface="+mn-cs"/>
                      <a:sym typeface="KaiTi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0-9B4F-472B-A782-B02822AFA5FD}"/>
                </c:ext>
              </c:extLst>
            </c:dLbl>
            <c:dLbl>
              <c:idx val="1"/>
              <c:layout>
                <c:manualLayout>
                  <c:x val="0"/>
                  <c:y val="-0.3681462140992167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KaiTi"/>
                      <a:ea typeface="KaiTi"/>
                      <a:cs typeface="+mn-cs"/>
                      <a:sym typeface="KaiTi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1-9B4F-472B-A782-B02822AFA5FD}"/>
                </c:ext>
              </c:extLst>
            </c:dLbl>
            <c:dLbl>
              <c:idx val="2"/>
              <c:layout>
                <c:manualLayout>
                  <c:x val="0"/>
                  <c:y val="-0.3846823324630113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KaiTi"/>
                      <a:ea typeface="KaiTi"/>
                      <a:cs typeface="KaiTi"/>
                      <a:sym typeface="KaiTi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2-9B4F-472B-A782-B02822AFA5FD}"/>
                </c:ext>
              </c:extLst>
            </c:dLbl>
            <c:dLbl>
              <c:idx val="3"/>
              <c:layout>
                <c:manualLayout>
                  <c:x val="0"/>
                  <c:y val="-0.39947780678851175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KaiTi"/>
                      <a:ea typeface="KaiTi"/>
                      <a:cs typeface="KaiTi"/>
                      <a:sym typeface="KaiTi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3-9B4F-472B-A782-B02822AFA5FD}"/>
                </c:ext>
              </c:extLst>
            </c:dLbl>
            <c:dLbl>
              <c:idx val="4"/>
              <c:layout>
                <c:manualLayout>
                  <c:x val="0"/>
                  <c:y val="-0.4038294168842471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KaiTi"/>
                      <a:ea typeface="KaiTi"/>
                      <a:cs typeface="KaiTi"/>
                      <a:sym typeface="KaiTi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4-9B4F-472B-A782-B02822AFA5F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uri="{CE6537A1-D6FC-4f65-9D91-7224C49458BB}">
                <c15:showLeaderLines val="0"/>
              </c:ext>
            </c:extLst>
          </c:dLbls>
          <c:val>
            <c:numRef>
              <c:f>Sheet1!$A$1:$E$1</c:f>
              <c:numCache>
                <c:formatCode>General</c:formatCode>
                <c:ptCount val="5"/>
                <c:pt idx="0">
                  <c:v>44,444.555555555555</c:v>
                </c:pt>
                <c:pt idx="1">
                  <c:v>66,666.777</c:v>
                </c:pt>
                <c:pt idx="2">
                  <c:v>88,888.999999999999</c:v>
                </c:pt>
                <c:pt idx="3">
                  <c:v>11,111.22</c:v>
                </c:pt>
                <c:pt idx="4">
                  <c:v>33,333.4444</c:v>
                </c:pt>
              </c:numCache>
            </c:numRef>
          </c:val>
          <c:extLst>
            <c:ext uri="{C3380CC4-5D6E-409C-BE32-E72D297353CC}">
              <c16:uniqueId val="{00000005-9B4F-472B-A782-B02822AFA5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0"/>
        <c:overlap val="100"/>
        <c:axId val="135879087"/>
        <c:axId val="1"/>
      </c:barChart>
      <c:catAx>
        <c:axId val="13587908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7966.9833"/>
          <c:min val="1000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35879087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a="http://schemas.openxmlformats.org/drawingml/2006/main" xmlns:c="http://schemas.openxmlformats.org/drawingml/2006/chart" xmlns:c14="http://schemas.microsoft.com/office/drawing/2007/8/2/chart" xmlns:c15="http://schemas.microsoft.com/office/drawing/2012/chart" xmlns:c16="http://schemas.microsoft.com/office/drawing/2014/chart" xmlns:mc="http://schemas.openxmlformats.org/markup-compatibility/2006" xmlns:r="http://schemas.openxmlformats.org/officeDocument/2006/relationships">
  <c:date1904 val="0"/>
  <c:lang val="zh-CN"/>
  <c:roundedCorners val="0"/>
  <mc:AlternateContent>
    <mc:Choice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007905138339921"/>
          <c:y val="0.1442663378545006"/>
          <c:w val="0.5984189723320158"/>
          <c:h val="0.71146732429099879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C00000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</c:spPr>
            <c:extLst>
              <c:ext uri="{C3380CC4-5D6E-409C-BE32-E72D297353CC}">
                <c16:uniqueId val="{00000000-8B90-4215-8212-4B3D6B22E3FA}"/>
              </c:ext>
            </c:extLst>
          </c:dPt>
          <c:dLbls>
            <c:dLbl>
              <c:idx val="0"/>
              <c:layout>
                <c:manualLayout>
                  <c:x val="0"/>
                  <c:y val="-0.3094944512946978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KaiTi"/>
                      <a:ea typeface="KaiTi"/>
                      <a:cs typeface="+mn-cs"/>
                      <a:sym typeface="KaiTi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0-8B90-4215-8212-4B3D6B22E3FA}"/>
                </c:ext>
              </c:extLst>
            </c:dLbl>
            <c:dLbl>
              <c:idx val="1"/>
              <c:layout>
                <c:manualLayout>
                  <c:x val="0"/>
                  <c:y val="-0.31442663378545005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KaiTi"/>
                      <a:ea typeface="KaiTi"/>
                      <a:cs typeface="KaiTi"/>
                      <a:sym typeface="KaiTi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1-8B90-4215-8212-4B3D6B22E3F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5,555.6666666666666</c:v>
                </c:pt>
                <c:pt idx="1">
                  <c:v>7,777.8888888888888</c:v>
                </c:pt>
              </c:numCache>
            </c:numRef>
          </c:val>
          <c:extLst>
            <c:ext uri="{C3380CC4-5D6E-409C-BE32-E72D297353CC}">
              <c16:uniqueId val="{00000002-8B90-4215-8212-4B3D6B22E3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0"/>
        <c:overlap val="100"/>
        <c:axId val="575317199"/>
        <c:axId val="1"/>
      </c:barChart>
      <c:catAx>
        <c:axId val="57531719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0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57531719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a="http://schemas.openxmlformats.org/drawingml/2006/main" xmlns:c="http://schemas.openxmlformats.org/drawingml/2006/chart" xmlns:c14="http://schemas.microsoft.com/office/drawing/2007/8/2/chart" xmlns:c15="http://schemas.microsoft.com/office/drawing/2012/chart" xmlns:c16="http://schemas.microsoft.com/office/drawing/2014/chart" xmlns:mc="http://schemas.openxmlformats.org/markup-compatibility/2006" xmlns:r="http://schemas.openxmlformats.org/officeDocument/2006/relationships">
  <c:date1904 val="0"/>
  <c:lang val="zh-CN"/>
  <c:roundedCorners val="0"/>
  <mc:AlternateContent>
    <mc:Choice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007905138339921"/>
          <c:y val="0.19582850521436848"/>
          <c:w val="0.5984189723320158"/>
          <c:h val="0.6685979142526071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C00000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</c:spPr>
            <c:extLst>
              <c:ext uri="{C3380CC4-5D6E-409C-BE32-E72D297353CC}">
                <c16:uniqueId val="{00000000-B63F-4749-B791-24A1C4199A70}"/>
              </c:ext>
            </c:extLst>
          </c:dPt>
          <c:dLbls>
            <c:dLbl>
              <c:idx val="0"/>
              <c:layout>
                <c:manualLayout>
                  <c:x val="0"/>
                  <c:y val="-0.396292004634994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KaiTi"/>
                      <a:ea typeface="KaiTi"/>
                      <a:cs typeface="+mn-cs"/>
                      <a:sym typeface="KaiTi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0-B63F-4749-B791-24A1C4199A70}"/>
                </c:ext>
              </c:extLst>
            </c:dLbl>
            <c:dLbl>
              <c:idx val="1"/>
              <c:layout>
                <c:manualLayout>
                  <c:x val="0"/>
                  <c:y val="-0.392815758980301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KaiTi"/>
                      <a:ea typeface="KaiTi"/>
                      <a:cs typeface="KaiTi"/>
                      <a:sym typeface="KaiTi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1-B63F-4749-B791-24A1C4199A7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9,999.1111111111111</c:v>
                </c:pt>
                <c:pt idx="1">
                  <c:v>2,222.3333333333333</c:v>
                </c:pt>
              </c:numCache>
            </c:numRef>
          </c:val>
          <c:extLst>
            <c:ext uri="{C3380CC4-5D6E-409C-BE32-E72D297353CC}">
              <c16:uniqueId val="{00000002-B63F-4749-B791-24A1C4199A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0"/>
        <c:overlap val="100"/>
        <c:axId val="1956991919"/>
        <c:axId val="1"/>
      </c:barChart>
      <c:catAx>
        <c:axId val="195699191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7310.5227773256584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95699191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a="http://schemas.openxmlformats.org/drawingml/2006/main" xmlns:c="http://schemas.openxmlformats.org/drawingml/2006/chart" xmlns:c14="http://schemas.microsoft.com/office/drawing/2007/8/2/chart" xmlns:c15="http://schemas.microsoft.com/office/drawing/2012/chart" xmlns:c16="http://schemas.microsoft.com/office/drawing/2014/chart" xmlns:mc="http://schemas.openxmlformats.org/markup-compatibility/2006" xmlns:r="http://schemas.openxmlformats.org/officeDocument/2006/relationships">
  <c:date1904 val="0"/>
  <c:lang val="zh-CN"/>
  <c:roundedCorners val="0"/>
  <mc:AlternateContent>
    <mc:Choice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2105263157894736E-2"/>
          <c:y val="0.12731229597388466"/>
          <c:w val="0.91578947368421049"/>
          <c:h val="0.74537540805223068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3"/>
            </a:solidFill>
            <a:ln>
              <a:noFill/>
            </a:ln>
          </c:spPr>
          <c:invertIfNegative val="0"/>
          <c:val>
            <c:numRef>
              <c:f>Sheet1!$A$1:$B$1</c:f>
              <c:numCache>
                <c:formatCode>General</c:formatCode>
                <c:ptCount val="2"/>
                <c:pt idx="0">
                  <c:v>4</c:v>
                </c:pt>
                <c:pt idx="1">
                  <c:v>5.6666666666666666</c:v>
                </c:pt>
              </c:numCache>
            </c:numRef>
          </c:val>
          <c:extLst>
            <c:ext uri="{C3380CC4-5D6E-409C-BE32-E72D297353CC}">
              <c16:uniqueId val="{00000000-AB4D-4062-B889-9048739D7F1D}"/>
            </c:ext>
          </c:extLst>
        </c:ser>
        <c:ser>
          <c:idx val="1"/>
          <c:order val="1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3.264417845484222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bg1"/>
                      </a:solidFill>
                      <a:latin typeface="楷体"/>
                      <a:ea typeface="楷体"/>
                      <a:cs typeface="+mn-cs"/>
                      <a:sym typeface="楷体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1-AB4D-4062-B889-9048739D7F1D}"/>
                </c:ext>
              </c:extLst>
            </c:dLbl>
            <c:dLbl>
              <c:idx val="1"/>
              <c:layout>
                <c:manualLayout>
                  <c:x val="0"/>
                  <c:y val="-2.176278563656148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bg1"/>
                      </a:solidFill>
                      <a:latin typeface="楷体"/>
                      <a:ea typeface="楷体"/>
                      <a:cs typeface="+mn-cs"/>
                      <a:sym typeface="楷体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2-AB4D-4062-B889-9048739D7F1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uri="{CE6537A1-D6FC-4f65-9D91-7224C49458BB}">
                <c15:showLeaderLines val="0"/>
              </c:ext>
            </c:extLst>
          </c:dLbls>
          <c:val>
            <c:numRef>
              <c:f>Sheet1!$A$2:$B$2</c:f>
              <c:numCache>
                <c:formatCode>General</c:formatCode>
                <c:ptCount val="2"/>
                <c:pt idx="0">
                  <c:v>77,777</c:v>
                </c:pt>
                <c:pt idx="1">
                  <c:v>88,888.9999999999</c:v>
                </c:pt>
              </c:numCache>
            </c:numRef>
          </c:val>
          <c:extLst>
            <c:ext uri="{C3380CC4-5D6E-409C-BE32-E72D297353CC}">
              <c16:uniqueId val="{00000003-AB4D-4062-B889-9048739D7F1D}"/>
            </c:ext>
          </c:extLst>
        </c:ser>
        <c:ser>
          <c:idx val="2"/>
          <c:order val="2"/>
          <c:spPr>
            <a:solidFill>
              <a:srgbClr val="C0000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2.176278563656148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bg1"/>
                      </a:solidFill>
                      <a:latin typeface="楷体"/>
                      <a:ea typeface="楷体"/>
                      <a:cs typeface="+mn-cs"/>
                      <a:sym typeface="楷体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4-AB4D-4062-B889-9048739D7F1D}"/>
                </c:ext>
              </c:extLst>
            </c:dLbl>
            <c:dLbl>
              <c:idx val="1"/>
              <c:layout>
                <c:manualLayout>
                  <c:x val="0"/>
                  <c:y val="-2.176278563656148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bg1"/>
                      </a:solidFill>
                      <a:latin typeface="楷体"/>
                      <a:ea typeface="楷体"/>
                      <a:cs typeface="+mn-cs"/>
                      <a:sym typeface="楷体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5-AB4D-4062-B889-9048739D7F1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uri="{CE6537A1-D6FC-4f65-9D91-7224C49458BB}">
                <c15:showLeaderLines val="0"/>
              </c:ext>
            </c:extLst>
          </c:dLbls>
          <c:val>
            <c:numRef>
              <c:f>Sheet1!$A$3:$B$3</c:f>
              <c:numCache>
                <c:formatCode>General</c:formatCode>
                <c:ptCount val="2"/>
                <c:pt idx="0">
                  <c:v>1,111</c:v>
                </c:pt>
                <c:pt idx="1">
                  <c:v>2,222.3333333333333</c:v>
                </c:pt>
              </c:numCache>
            </c:numRef>
          </c:val>
          <c:extLst>
            <c:ext uri="{C3380CC4-5D6E-409C-BE32-E72D297353CC}">
              <c16:uniqueId val="{00000006-AB4D-4062-B889-9048739D7F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0"/>
        <c:overlap val="100"/>
        <c:axId val="575304719"/>
        <c:axId val="1"/>
      </c:barChart>
      <c:barChart>
        <c:barDir val="col"/>
        <c:grouping val="clustered"/>
        <c:varyColors val="0"/>
        <c:ser>
          <c:idx val="3"/>
          <c:order val="3"/>
          <c:invertIfNegative val="0"/>
          <c:extLst>
            <c:ext uri="{C3380CC4-5D6E-409C-BE32-E72D297353CC}">
              <c16:uniqueId val="{00000007-AB4D-4062-B889-9048739D7F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"/>
        <c:axId val="3"/>
      </c:barChart>
      <c:catAx>
        <c:axId val="57530471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400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one"/>
        <c:spPr>
          <a:ln w="9525" cmpd="sng" algn="ctr">
            <a:solidFill>
              <a:srgbClr val="FFFFFF"/>
            </a:solidFill>
            <a:prstDash val="solid"/>
          </a:ln>
        </c:spPr>
        <c:txPr>
          <a:bodyPr wrap="none"/>
          <a:lstStyle/>
          <a:p>
            <a:pPr>
              <a:defRPr sz="1000" kern="1200">
                <a:latin typeface="楷体"/>
                <a:ea typeface="楷体"/>
                <a:cs typeface="楷体"/>
                <a:sym typeface="楷体"/>
              </a:defRPr>
            </a:pPr>
            <a:endParaRPr lang="zh-CN"/>
          </a:p>
        </c:txPr>
        <c:crossAx val="575304719"/>
        <c:crosses val="min"/>
        <c:crossBetween val="between"/>
        <c:majorUnit val="2000"/>
      </c:valAx>
      <c:catAx>
        <c:axId val="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>
            <a:noFill/>
          </a:ln>
        </c:spPr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30"/>
          <c:min val="-20"/>
        </c:scaling>
        <c:delete val="0"/>
        <c:axPos val="r"/>
        <c:majorGridlines>
          <c:spPr>
            <a:ln>
              <a:noFill/>
            </a:ln>
          </c:spPr>
        </c:majorGridlines>
        <c:majorTickMark val="out"/>
        <c:minorTickMark val="none"/>
        <c:tickLblPos val="none"/>
        <c:spPr>
          <a:ln w="9525" cmpd="sng" algn="ctr">
            <a:solidFill>
              <a:srgbClr val="FFFFFF"/>
            </a:solidFill>
            <a:prstDash val="solid"/>
          </a:ln>
        </c:spPr>
        <c:txPr>
          <a:bodyPr wrap="none"/>
          <a:lstStyle/>
          <a:p>
            <a:pPr>
              <a:defRPr sz="1000" kern="1200">
                <a:latin typeface="楷体"/>
                <a:ea typeface="楷体"/>
                <a:cs typeface="楷体"/>
                <a:sym typeface="楷体"/>
              </a:defRPr>
            </a:pPr>
            <a:endParaRPr lang="zh-CN"/>
          </a:p>
        </c:txPr>
        <c:crossAx val="2"/>
        <c:crosses val="max"/>
        <c:crossBetween val="between"/>
        <c:majorUnit val="10"/>
      </c:valAx>
    </c:plotArea>
    <c:plotVisOnly val="0"/>
    <c:dispBlanksAs val="gap"/>
    <c:showDLblsOverMax val="1"/>
  </c:chart>
  <c:externalData r:id="rId1">
    <c:autoUpdate val="0"/>
  </c:externalData>
</c:chartSpace>
</file>

<file path=ppt/charts/chart7.xml><?xml version="1.0" encoding="utf-8"?>
<c:chartSpace xmlns:a="http://schemas.openxmlformats.org/drawingml/2006/main" xmlns:c="http://schemas.openxmlformats.org/drawingml/2006/chart" xmlns:c14="http://schemas.microsoft.com/office/drawing/2007/8/2/chart" xmlns:c15="http://schemas.microsoft.com/office/drawing/2012/chart" xmlns:c16="http://schemas.microsoft.com/office/drawing/2014/chart" xmlns:mc="http://schemas.openxmlformats.org/markup-compatibility/2006" xmlns:r="http://schemas.openxmlformats.org/officeDocument/2006/relationships">
  <c:date1904 val="0"/>
  <c:lang val="zh-CN"/>
  <c:roundedCorners val="0"/>
  <mc:AlternateContent>
    <mc:Choice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007905138339921"/>
          <c:y val="0.14408866995073891"/>
          <c:w val="0.5984189723320158"/>
          <c:h val="0.71182266009852213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C00000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</c:spPr>
            <c:extLst>
              <c:ext uri="{C3380CC4-5D6E-409C-BE32-E72D297353CC}">
                <c16:uniqueId val="{00000000-89E6-4C61-B9BB-E244F54F9760}"/>
              </c:ext>
            </c:extLst>
          </c:dPt>
          <c:dLbls>
            <c:dLbl>
              <c:idx val="0"/>
              <c:layout>
                <c:manualLayout>
                  <c:x val="0"/>
                  <c:y val="-0.3583743842364531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KaiTi"/>
                      <a:ea typeface="KaiTi"/>
                      <a:cs typeface="+mn-cs"/>
                      <a:sym typeface="KaiTi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0-89E6-4C61-B9BB-E244F54F9760}"/>
                </c:ext>
              </c:extLst>
            </c:dLbl>
            <c:dLbl>
              <c:idx val="1"/>
              <c:layout>
                <c:manualLayout>
                  <c:x val="0"/>
                  <c:y val="-0.3546798029556650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KaiTi"/>
                      <a:ea typeface="KaiTi"/>
                      <a:cs typeface="KaiTi"/>
                      <a:sym typeface="KaiTi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1-89E6-4C61-B9BB-E244F54F976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4,444.5555555555555</c:v>
                </c:pt>
                <c:pt idx="1">
                  <c:v>6,666.7777777777777</c:v>
                </c:pt>
              </c:numCache>
            </c:numRef>
          </c:val>
          <c:extLst>
            <c:ext uri="{C3380CC4-5D6E-409C-BE32-E72D297353CC}">
              <c16:uniqueId val="{00000002-89E6-4C61-B9BB-E244F54F97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0"/>
        <c:overlap val="100"/>
        <c:axId val="1963632479"/>
        <c:axId val="1"/>
      </c:barChart>
      <c:catAx>
        <c:axId val="196363247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0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96363247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8.xml><?xml version="1.0" encoding="utf-8"?>
<c:chartSpace xmlns:a="http://schemas.openxmlformats.org/drawingml/2006/main" xmlns:c="http://schemas.openxmlformats.org/drawingml/2006/chart" xmlns:c14="http://schemas.microsoft.com/office/drawing/2007/8/2/chart" xmlns:c15="http://schemas.microsoft.com/office/drawing/2012/chart" xmlns:c16="http://schemas.microsoft.com/office/drawing/2014/chart" xmlns:mc="http://schemas.openxmlformats.org/markup-compatibility/2006" xmlns:r="http://schemas.openxmlformats.org/officeDocument/2006/relationships">
  <c:date1904 val="0"/>
  <c:lang val="zh-CN"/>
  <c:roundedCorners val="0"/>
  <mc:AlternateContent>
    <mc:Choice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9470899470899474E-2"/>
          <c:y val="0.16642958748221906"/>
          <c:w val="0.80105820105820102"/>
          <c:h val="0.66714082503556182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C00000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</c:spPr>
            <c:extLst>
              <c:ext uri="{C3380CC4-5D6E-409C-BE32-E72D297353CC}">
                <c16:uniqueId val="{00000000-BA44-45FA-BDA9-B3DA7F7A12A3}"/>
              </c:ext>
            </c:extLst>
          </c:dPt>
          <c:dLbls>
            <c:dLbl>
              <c:idx val="0"/>
              <c:layout>
                <c:manualLayout>
                  <c:x val="0"/>
                  <c:y val="-0.2944523470839260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KaiTi"/>
                      <a:ea typeface="KaiTi"/>
                      <a:cs typeface="+mn-cs"/>
                      <a:sym typeface="KaiTi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0-BA44-45FA-BDA9-B3DA7F7A12A3}"/>
                </c:ext>
              </c:extLst>
            </c:dLbl>
            <c:dLbl>
              <c:idx val="1"/>
              <c:layout>
                <c:manualLayout>
                  <c:x val="0"/>
                  <c:y val="-0.2972972972972973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KaiTi"/>
                      <a:ea typeface="KaiTi"/>
                      <a:cs typeface="KaiTi"/>
                      <a:sym typeface="KaiTi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1-BA44-45FA-BDA9-B3DA7F7A12A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888</c:v>
                </c:pt>
                <c:pt idx="1">
                  <c:v>999.11111111111111</c:v>
                </c:pt>
              </c:numCache>
            </c:numRef>
          </c:val>
          <c:extLst>
            <c:ext uri="{C3380CC4-5D6E-409C-BE32-E72D297353CC}">
              <c16:uniqueId val="{00000002-BA44-45FA-BDA9-B3DA7F7A12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0"/>
        <c:overlap val="100"/>
        <c:axId val="575295119"/>
        <c:axId val="1"/>
      </c:barChart>
      <c:catAx>
        <c:axId val="57529511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2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57529511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9.xml><?xml version="1.0" encoding="utf-8"?>
<c:chartSpace xmlns:a="http://schemas.openxmlformats.org/drawingml/2006/main" xmlns:c="http://schemas.openxmlformats.org/drawingml/2006/chart" xmlns:c14="http://schemas.microsoft.com/office/drawing/2007/8/2/chart" xmlns:c15="http://schemas.microsoft.com/office/drawing/2012/chart" xmlns:c16="http://schemas.microsoft.com/office/drawing/2014/chart" xmlns:mc="http://schemas.openxmlformats.org/markup-compatibility/2006" xmlns:r="http://schemas.openxmlformats.org/officeDocument/2006/relationships">
  <c:date1904 val="0"/>
  <c:lang val="zh-CN"/>
  <c:roundedCorners val="0"/>
  <mc:AlternateContent>
    <mc:Choice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007905138339921"/>
          <c:y val="0.1442663378545006"/>
          <c:w val="0.5984189723320158"/>
          <c:h val="0.71146732429099879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C00000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</c:spPr>
            <c:extLst>
              <c:ext uri="{C3380CC4-5D6E-409C-BE32-E72D297353CC}">
                <c16:uniqueId val="{00000000-1F59-4EC2-B31D-FBB7172928CF}"/>
              </c:ext>
            </c:extLst>
          </c:dPt>
          <c:dLbls>
            <c:dLbl>
              <c:idx val="0"/>
              <c:layout>
                <c:manualLayout>
                  <c:x val="0"/>
                  <c:y val="-0.3070283600493218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KaiTi"/>
                      <a:ea typeface="KaiTi"/>
                      <a:cs typeface="+mn-cs"/>
                      <a:sym typeface="KaiTi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0-1F59-4EC2-B31D-FBB7172928CF}"/>
                </c:ext>
              </c:extLst>
            </c:dLbl>
            <c:dLbl>
              <c:idx val="1"/>
              <c:layout>
                <c:manualLayout>
                  <c:x val="0"/>
                  <c:y val="-0.3033292231812577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KaiTi"/>
                      <a:ea typeface="KaiTi"/>
                      <a:cs typeface="KaiTi"/>
                      <a:sym typeface="KaiTi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1-1F59-4EC2-B31D-FBB7172928C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2,222</c:v>
                </c:pt>
                <c:pt idx="1">
                  <c:v>3,333.4444444444444</c:v>
                </c:pt>
              </c:numCache>
            </c:numRef>
          </c:val>
          <c:extLst>
            <c:ext uri="{C3380CC4-5D6E-409C-BE32-E72D297353CC}">
              <c16:uniqueId val="{00000002-1F59-4EC2-B31D-FBB7172928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0"/>
        <c:overlap val="100"/>
        <c:axId val="575297999"/>
        <c:axId val="1"/>
      </c:barChart>
      <c:catAx>
        <c:axId val="57529799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5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57529799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0.xml><?xml version="1.0" encoding="utf-8"?>
<c:chartSpace xmlns:a="http://schemas.openxmlformats.org/drawingml/2006/main" xmlns:c="http://schemas.openxmlformats.org/drawingml/2006/chart" xmlns:c14="http://schemas.microsoft.com/office/drawing/2007/8/2/chart" xmlns:c15="http://schemas.microsoft.com/office/drawing/2012/chart" xmlns:c16="http://schemas.microsoft.com/office/drawing/2014/chart" xmlns:mc="http://schemas.openxmlformats.org/markup-compatibility/2006" xmlns:r="http://schemas.openxmlformats.org/officeDocument/2006/relationships">
  <c:date1904 val="0"/>
  <c:lang val="zh-CN"/>
  <c:roundedCorners val="0"/>
  <mc:AlternateContent>
    <mc:Choice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343859649122807"/>
          <c:y val="0.19582850521436848"/>
          <c:w val="0.5312280701754386"/>
          <c:h val="0.6685979142526071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C00000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</c:spPr>
            <c:extLst>
              <c:ext uri="{C3380CC4-5D6E-409C-BE32-E72D297353CC}">
                <c16:uniqueId val="{00000000-E655-4EE8-8789-68981BD05183}"/>
              </c:ext>
            </c:extLst>
          </c:dPt>
          <c:dLbls>
            <c:dLbl>
              <c:idx val="0"/>
              <c:layout>
                <c:manualLayout>
                  <c:x val="0"/>
                  <c:y val="-0.3847045191193511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KaiTi"/>
                      <a:ea typeface="KaiTi"/>
                      <a:cs typeface="+mn-cs"/>
                      <a:sym typeface="KaiTi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0-E655-4EE8-8789-68981BD05183}"/>
                </c:ext>
              </c:extLst>
            </c:dLbl>
            <c:dLbl>
              <c:idx val="1"/>
              <c:layout>
                <c:manualLayout>
                  <c:x val="0"/>
                  <c:y val="-0.3951332560834299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KaiTi"/>
                      <a:ea typeface="KaiTi"/>
                      <a:cs typeface="KaiTi"/>
                      <a:sym typeface="KaiTi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1-E655-4EE8-8789-68981BD0518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99,999</c:v>
                </c:pt>
                <c:pt idx="1">
                  <c:v>11,111.2222222222</c:v>
                </c:pt>
              </c:numCache>
            </c:numRef>
          </c:val>
          <c:extLst>
            <c:ext uri="{C3380CC4-5D6E-409C-BE32-E72D297353CC}">
              <c16:uniqueId val="{00000002-E655-4EE8-8789-68981BD051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0"/>
        <c:overlap val="100"/>
        <c:axId val="575301359"/>
        <c:axId val="1"/>
      </c:barChart>
      <c:catAx>
        <c:axId val="57530135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5103.0860990246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57530135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1.xml><?xml version="1.0" encoding="utf-8"?>
<c:chartSpace xmlns:a="http://schemas.openxmlformats.org/drawingml/2006/main" xmlns:c="http://schemas.openxmlformats.org/drawingml/2006/chart" xmlns:c14="http://schemas.microsoft.com/office/drawing/2007/8/2/chart" xmlns:c15="http://schemas.microsoft.com/office/drawing/2012/chart" xmlns:c16="http://schemas.microsoft.com/office/drawing/2014/chart" xmlns:mc="http://schemas.openxmlformats.org/markup-compatibility/2006" xmlns:r="http://schemas.openxmlformats.org/officeDocument/2006/relationships">
  <c:date1904 val="0"/>
  <c:lang val="zh-CN"/>
  <c:roundedCorners val="0"/>
  <mc:AlternateContent>
    <mc:Choice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007905138339921"/>
          <c:y val="0.1442663378545006"/>
          <c:w val="0.5984189723320158"/>
          <c:h val="0.71146732429099879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C00000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</c:spPr>
            <c:extLst>
              <c:ext uri="{C3380CC4-5D6E-409C-BE32-E72D297353CC}">
                <c16:uniqueId val="{00000000-6502-4F4F-953F-30ABA8E35DDE}"/>
              </c:ext>
            </c:extLst>
          </c:dPt>
          <c:dLbls>
            <c:dLbl>
              <c:idx val="0"/>
              <c:layout>
                <c:manualLayout>
                  <c:x val="0"/>
                  <c:y val="-0.34401972872996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KaiTi"/>
                      <a:ea typeface="KaiTi"/>
                      <a:cs typeface="+mn-cs"/>
                      <a:sym typeface="KaiTi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0-6502-4F4F-953F-30ABA8E35DDE}"/>
                </c:ext>
              </c:extLst>
            </c:dLbl>
            <c:dLbl>
              <c:idx val="1"/>
              <c:layout>
                <c:manualLayout>
                  <c:x val="0"/>
                  <c:y val="-0.3329223181257706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KaiTi"/>
                      <a:ea typeface="KaiTi"/>
                      <a:cs typeface="KaiTi"/>
                      <a:sym typeface="KaiTi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1-6502-4F4F-953F-30ABA8E35DD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3,333</c:v>
                </c:pt>
                <c:pt idx="1">
                  <c:v>4,444.5555555555555</c:v>
                </c:pt>
              </c:numCache>
            </c:numRef>
          </c:val>
          <c:extLst>
            <c:ext uri="{C3380CC4-5D6E-409C-BE32-E72D297353CC}">
              <c16:uniqueId val="{00000002-6502-4F4F-953F-30ABA8E35D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0"/>
        <c:overlap val="100"/>
        <c:axId val="575329679"/>
        <c:axId val="1"/>
      </c:barChart>
      <c:catAx>
        <c:axId val="57532967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45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57532967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2.xml><?xml version="1.0" encoding="utf-8"?>
<c:chartSpace xmlns:a="http://schemas.openxmlformats.org/drawingml/2006/main" xmlns:c="http://schemas.openxmlformats.org/drawingml/2006/chart" xmlns:c14="http://schemas.microsoft.com/office/drawing/2007/8/2/chart" xmlns:c15="http://schemas.microsoft.com/office/drawing/2012/chart" xmlns:c16="http://schemas.microsoft.com/office/drawing/2014/chart" xmlns:mc="http://schemas.openxmlformats.org/markup-compatibility/2006" xmlns:r="http://schemas.openxmlformats.org/officeDocument/2006/relationships">
  <c:date1904 val="0"/>
  <c:lang val="zh-CN"/>
  <c:roundedCorners val="0"/>
  <mc:AlternateContent>
    <mc:Choice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1304347826086956"/>
          <c:y val="0.13131313131313133"/>
          <c:w val="0.77391304347826084"/>
          <c:h val="0.73737373737373735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-2.0553359683794466E-2"/>
                  <c:y val="-0.24691358024691357"/>
                </c:manualLayout>
              </c:layout>
              <c:numFmt formatCode="#,##0.00&quot;%&quot;;&quot;-&quot;#,##0.0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楷体"/>
                      <a:ea typeface="楷体"/>
                      <a:cs typeface="+mn-cs"/>
                      <a:sym typeface="楷体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0-8F9B-40AD-9A57-03F0D79E38B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6.7777777777777777</c:v>
                </c:pt>
              </c:numCache>
            </c:numRef>
          </c:val>
          <c:extLst>
            <c:ext uri="{C3380CC4-5D6E-409C-BE32-E72D297353CC}">
              <c16:uniqueId val="{00000001-8F9B-40AD-9A57-03F0D79E38B3}"/>
            </c:ext>
          </c:extLst>
        </c:ser>
        <c:ser>
          <c:idx val="1"/>
          <c:order val="1"/>
          <c:spPr>
            <a:solidFill>
              <a:srgbClr val="C0000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1.7391304347826087E-2"/>
                  <c:y val="-0.27946127946127947"/>
                </c:manualLayout>
              </c:layout>
              <c:numFmt formatCode="#,##0.00&quot;%&quot;;&quot;-&quot;#,##0.0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楷体"/>
                      <a:ea typeface="楷体"/>
                      <a:cs typeface="楷体"/>
                      <a:sym typeface="楷体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2-8F9B-40AD-9A57-03F0D79E38B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8.9999999999999999</c:v>
                </c:pt>
              </c:numCache>
            </c:numRef>
          </c:val>
          <c:extLst>
            <c:ext uri="{C3380CC4-5D6E-409C-BE32-E72D297353CC}">
              <c16:uniqueId val="{00000003-8F9B-40AD-9A57-03F0D79E38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0"/>
        <c:axId val="151680959"/>
        <c:axId val="1"/>
      </c:barChart>
      <c:catAx>
        <c:axId val="15168095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"/>
          <c:min val="3.5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5168095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3.xml><?xml version="1.0" encoding="utf-8"?>
<c:chartSpace xmlns:a="http://schemas.openxmlformats.org/drawingml/2006/main" xmlns:c="http://schemas.openxmlformats.org/drawingml/2006/chart" xmlns:c14="http://schemas.microsoft.com/office/drawing/2007/8/2/chart" xmlns:c15="http://schemas.microsoft.com/office/drawing/2012/chart" xmlns:c16="http://schemas.microsoft.com/office/drawing/2014/chart" xmlns:mc="http://schemas.openxmlformats.org/markup-compatibility/2006" xmlns:r="http://schemas.openxmlformats.org/officeDocument/2006/relationships">
  <c:date1904 val="0"/>
  <c:lang val="zh-CN"/>
  <c:roundedCorners val="0"/>
  <mc:AlternateContent>
    <mc:Choice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5649122807017543"/>
          <c:y val="0.18440463645943098"/>
          <c:w val="0.68631578947368421"/>
          <c:h val="0.69230769230769229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35932560590094836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楷体"/>
                      <a:ea typeface="楷体"/>
                      <a:cs typeface="+mn-cs"/>
                      <a:sym typeface="楷体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0-F227-4E30-8F33-BB17AA59856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111.22222222222222</c:v>
                </c:pt>
              </c:numCache>
            </c:numRef>
          </c:val>
          <c:extLst>
            <c:ext uri="{C3380CC4-5D6E-409C-BE32-E72D297353CC}">
              <c16:uniqueId val="{00000001-F227-4E30-8F33-BB17AA59856F}"/>
            </c:ext>
          </c:extLst>
        </c:ser>
        <c:ser>
          <c:idx val="1"/>
          <c:order val="1"/>
          <c:spPr>
            <a:solidFill>
              <a:srgbClr val="C0000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2.9473684210526315E-2"/>
                  <c:y val="-0.32033719704952579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楷体"/>
                      <a:ea typeface="楷体"/>
                      <a:cs typeface="+mn-cs"/>
                      <a:sym typeface="楷体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2-F227-4E30-8F33-BB17AA59856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333.44444444444444</c:v>
                </c:pt>
              </c:numCache>
            </c:numRef>
          </c:val>
          <c:extLst>
            <c:ext uri="{C3380CC4-5D6E-409C-BE32-E72D297353CC}">
              <c16:uniqueId val="{00000003-F227-4E30-8F33-BB17AA5985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0"/>
        <c:axId val="135843567"/>
        <c:axId val="1"/>
      </c:barChart>
      <c:catAx>
        <c:axId val="13584356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At val="0"/>
        <c:auto val="0"/>
        <c:lblAlgn val="ctr"/>
        <c:lblOffset val="100"/>
        <c:noMultiLvlLbl val="0"/>
      </c:catAx>
      <c:valAx>
        <c:axId val="1"/>
        <c:scaling>
          <c:orientation val="minMax"/>
          <c:max val="303.14600000000002"/>
          <c:min val="-5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35843567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4.xml><?xml version="1.0" encoding="utf-8"?>
<c:chartSpace xmlns:a="http://schemas.openxmlformats.org/drawingml/2006/main" xmlns:c="http://schemas.openxmlformats.org/drawingml/2006/chart" xmlns:c14="http://schemas.microsoft.com/office/drawing/2007/8/2/chart" xmlns:c15="http://schemas.microsoft.com/office/drawing/2012/chart" xmlns:c16="http://schemas.microsoft.com/office/drawing/2014/chart" xmlns:mc="http://schemas.openxmlformats.org/markup-compatibility/2006" xmlns:r="http://schemas.openxmlformats.org/officeDocument/2006/relationships">
  <c:date1904 val="0"/>
  <c:lang val="zh-CN"/>
  <c:roundedCorners val="0"/>
  <mc:AlternateContent>
    <mc:Choice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764486975013291E-2"/>
          <c:y val="0.21666666666666667"/>
          <c:w val="0.94471026049973417"/>
          <c:h val="0.6333333333333333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36538461538461536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KaiTi"/>
                      <a:ea typeface="KaiTi"/>
                      <a:cs typeface="+mn-cs"/>
                      <a:sym typeface="KaiTi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0-C8AD-44B9-AB53-D231F4F461FC}"/>
                </c:ext>
              </c:extLst>
            </c:dLbl>
            <c:dLbl>
              <c:idx val="1"/>
              <c:layout>
                <c:manualLayout>
                  <c:x val="0"/>
                  <c:y val="-0.36923076923076925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KaiTi"/>
                      <a:ea typeface="KaiTi"/>
                      <a:cs typeface="+mn-cs"/>
                      <a:sym typeface="KaiTi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1-C8AD-44B9-AB53-D231F4F461FC}"/>
                </c:ext>
              </c:extLst>
            </c:dLbl>
            <c:dLbl>
              <c:idx val="2"/>
              <c:layout>
                <c:manualLayout>
                  <c:x val="0"/>
                  <c:y val="-0.3846153846153846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KaiTi"/>
                      <a:ea typeface="KaiTi"/>
                      <a:cs typeface="+mn-cs"/>
                      <a:sym typeface="KaiTi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2-C8AD-44B9-AB53-D231F4F461FC}"/>
                </c:ext>
              </c:extLst>
            </c:dLbl>
            <c:dLbl>
              <c:idx val="3"/>
              <c:layout>
                <c:manualLayout>
                  <c:x val="0"/>
                  <c:y val="-0.3141025641025641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KaiTi"/>
                      <a:ea typeface="KaiTi"/>
                      <a:cs typeface="+mn-cs"/>
                      <a:sym typeface="KaiTi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3-C8AD-44B9-AB53-D231F4F461FC}"/>
                </c:ext>
              </c:extLst>
            </c:dLbl>
            <c:dLbl>
              <c:idx val="4"/>
              <c:layout>
                <c:manualLayout>
                  <c:x val="0"/>
                  <c:y val="-0.34487179487179487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KaiTi"/>
                      <a:ea typeface="KaiTi"/>
                      <a:cs typeface="+mn-cs"/>
                      <a:sym typeface="KaiTi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4-C8AD-44B9-AB53-D231F4F461F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uri="{CE6537A1-D6FC-4f65-9D91-7224C49458BB}">
                <c15:showLeaderLines val="0"/>
              </c:ext>
            </c:extLst>
          </c:dLbls>
          <c:val>
            <c:numRef>
              <c:f>Sheet1!$A$1:$E$1</c:f>
              <c:numCache>
                <c:formatCode>General</c:formatCode>
                <c:ptCount val="5"/>
                <c:pt idx="0">
                  <c:v>55.666666666666666</c:v>
                </c:pt>
                <c:pt idx="1">
                  <c:v>77.8888888888888</c:v>
                </c:pt>
                <c:pt idx="2">
                  <c:v>99.111111111111111</c:v>
                </c:pt>
                <c:pt idx="3">
                  <c:v>22.333333333333333</c:v>
                </c:pt>
                <c:pt idx="4">
                  <c:v>44.555555555555555</c:v>
                </c:pt>
              </c:numCache>
            </c:numRef>
          </c:val>
          <c:extLst>
            <c:ext uri="{C3380CC4-5D6E-409C-BE32-E72D297353CC}">
              <c16:uniqueId val="{00000005-C8AD-44B9-AB53-D231F4F461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51674239"/>
        <c:axId val="1"/>
      </c:barChart>
      <c:catAx>
        <c:axId val="15167423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3.192581760099801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5167423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5.xml><?xml version="1.0" encoding="utf-8"?>
<c:chartSpace xmlns:a="http://schemas.openxmlformats.org/drawingml/2006/main" xmlns:c="http://schemas.openxmlformats.org/drawingml/2006/chart" xmlns:c14="http://schemas.microsoft.com/office/drawing/2007/8/2/chart" xmlns:c15="http://schemas.microsoft.com/office/drawing/2012/chart" xmlns:c16="http://schemas.microsoft.com/office/drawing/2014/chart" xmlns:mc="http://schemas.openxmlformats.org/markup-compatibility/2006" xmlns:r="http://schemas.openxmlformats.org/officeDocument/2006/relationships">
  <c:date1904 val="0"/>
  <c:lang val="zh-CN"/>
  <c:roundedCorners val="0"/>
  <mc:AlternateContent>
    <mc:Choice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5741857659831121E-2"/>
          <c:y val="0.46774193548387094"/>
          <c:w val="0.8685162846803377"/>
          <c:h val="0.26267281105990781"/>
        </c:manualLayout>
      </c:layout>
      <c:lineChart>
        <c:grouping val="standard"/>
        <c:varyColors val="0"/>
        <c:ser>
          <c:idx val="0"/>
          <c:order val="0"/>
          <c:spPr>
            <a:ln w="9525" cmpd="sng" algn="ctr">
              <a:solidFill>
                <a:schemeClr val="accent1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square"/>
              <c:size val="4"/>
              <c:spPr>
                <a:solidFill>
                  <a:schemeClr val="accent1"/>
                </a:solidFill>
                <a:ln w="9525" cmpd="sng" algn="ctr">
                  <a:solidFill>
                    <a:schemeClr val="accent1"/>
                  </a:solidFill>
                  <a:prstDash val="solid"/>
                </a:ln>
              </c:spPr>
            </c:marker>
            <c:bubble3D val="0"/>
            <c:extLst>
              <c:ext uri="{C3380CC4-5D6E-409C-BE32-E72D297353CC}">
                <c16:uniqueId val="{00000000-63C8-4E77-BA98-AE5A63EFB9CA}"/>
              </c:ext>
            </c:extLst>
          </c:dPt>
          <c:dPt>
            <c:idx val="1"/>
            <c:marker>
              <c:symbol val="square"/>
              <c:size val="4"/>
              <c:spPr>
                <a:solidFill>
                  <a:schemeClr val="accent1"/>
                </a:solidFill>
                <a:ln w="9525" cmpd="sng" algn="ctr">
                  <a:solidFill>
                    <a:schemeClr val="accent1"/>
                  </a:solidFill>
                  <a:prstDash val="solid"/>
                </a:ln>
              </c:spPr>
            </c:marker>
            <c:bubble3D val="0"/>
            <c:extLst>
              <c:ext uri="{C3380CC4-5D6E-409C-BE32-E72D297353CC}">
                <c16:uniqueId val="{00000001-63C8-4E77-BA98-AE5A63EFB9CA}"/>
              </c:ext>
            </c:extLst>
          </c:dPt>
          <c:dPt>
            <c:idx val="2"/>
            <c:marker>
              <c:symbol val="square"/>
              <c:size val="4"/>
              <c:spPr>
                <a:solidFill>
                  <a:schemeClr val="accent1"/>
                </a:solidFill>
                <a:ln w="9525" cmpd="sng" algn="ctr">
                  <a:solidFill>
                    <a:schemeClr val="accent1"/>
                  </a:solidFill>
                  <a:prstDash val="solid"/>
                </a:ln>
              </c:spPr>
            </c:marker>
            <c:bubble3D val="0"/>
            <c:extLst>
              <c:ext uri="{C3380CC4-5D6E-409C-BE32-E72D297353CC}">
                <c16:uniqueId val="{00000002-63C8-4E77-BA98-AE5A63EFB9CA}"/>
              </c:ext>
            </c:extLst>
          </c:dPt>
          <c:dPt>
            <c:idx val="3"/>
            <c:marker>
              <c:symbol val="square"/>
              <c:size val="4"/>
              <c:spPr>
                <a:solidFill>
                  <a:schemeClr val="accent1"/>
                </a:solidFill>
                <a:ln w="9525" cmpd="sng" algn="ctr">
                  <a:solidFill>
                    <a:schemeClr val="accent1"/>
                  </a:solidFill>
                  <a:prstDash val="solid"/>
                </a:ln>
              </c:spPr>
            </c:marker>
            <c:bubble3D val="0"/>
            <c:extLst>
              <c:ext uri="{C3380CC4-5D6E-409C-BE32-E72D297353CC}">
                <c16:uniqueId val="{00000003-63C8-4E77-BA98-AE5A63EFB9CA}"/>
              </c:ext>
            </c:extLst>
          </c:dPt>
          <c:dPt>
            <c:idx val="4"/>
            <c:marker>
              <c:symbol val="square"/>
              <c:size val="4"/>
              <c:spPr>
                <a:solidFill>
                  <a:schemeClr val="accent1"/>
                </a:solidFill>
                <a:ln w="9525" cmpd="sng" algn="ctr">
                  <a:solidFill>
                    <a:schemeClr val="accent1"/>
                  </a:solidFill>
                  <a:prstDash val="solid"/>
                </a:ln>
              </c:spPr>
            </c:marker>
            <c:bubble3D val="0"/>
            <c:extLst>
              <c:ext uri="{C3380CC4-5D6E-409C-BE32-E72D297353CC}">
                <c16:uniqueId val="{00000004-63C8-4E77-BA98-AE5A63EFB9CA}"/>
              </c:ext>
            </c:extLst>
          </c:dPt>
          <c:dLbls>
            <c:dLbl>
              <c:idx val="0"/>
              <c:layout>
                <c:manualLayout>
                  <c:x val="0"/>
                  <c:y val="-0.20046082949308755"/>
                </c:manualLayout>
              </c:layout>
              <c:numFmt formatCode="#,##0.00&quot;%&quot;;&quot;-&quot;#,##0.0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楷体"/>
                      <a:ea typeface="楷体"/>
                      <a:cs typeface="+mn-cs"/>
                      <a:sym typeface="楷体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0-63C8-4E77-BA98-AE5A63EFB9CA}"/>
                </c:ext>
              </c:extLst>
            </c:dLbl>
            <c:dLbl>
              <c:idx val="1"/>
              <c:layout>
                <c:manualLayout>
                  <c:x val="0"/>
                  <c:y val="-0.20046082949308755"/>
                </c:manualLayout>
              </c:layout>
              <c:numFmt formatCode="#,##0.00&quot;%&quot;;&quot;-&quot;#,##0.0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楷体"/>
                      <a:ea typeface="楷体"/>
                      <a:cs typeface="+mn-cs"/>
                      <a:sym typeface="楷体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1-63C8-4E77-BA98-AE5A63EFB9CA}"/>
                </c:ext>
              </c:extLst>
            </c:dLbl>
            <c:dLbl>
              <c:idx val="2"/>
              <c:layout>
                <c:manualLayout>
                  <c:x val="0"/>
                  <c:y val="-0.20046082949308755"/>
                </c:manualLayout>
              </c:layout>
              <c:numFmt formatCode="#,##0.00&quot;%&quot;;&quot;-&quot;#,##0.0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楷体"/>
                      <a:ea typeface="楷体"/>
                      <a:cs typeface="+mn-cs"/>
                      <a:sym typeface="楷体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2-63C8-4E77-BA98-AE5A63EFB9CA}"/>
                </c:ext>
              </c:extLst>
            </c:dLbl>
            <c:dLbl>
              <c:idx val="3"/>
              <c:layout>
                <c:manualLayout>
                  <c:x val="0"/>
                  <c:y val="-0.20046082949308755"/>
                </c:manualLayout>
              </c:layout>
              <c:numFmt formatCode="#,##0.00&quot;%&quot;;&quot;-&quot;#,##0.0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楷体"/>
                      <a:ea typeface="楷体"/>
                      <a:cs typeface="+mn-cs"/>
                      <a:sym typeface="楷体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3-63C8-4E77-BA98-AE5A63EFB9CA}"/>
                </c:ext>
              </c:extLst>
            </c:dLbl>
            <c:dLbl>
              <c:idx val="4"/>
              <c:layout>
                <c:manualLayout>
                  <c:x val="0"/>
                  <c:y val="-0.20046082949308755"/>
                </c:manualLayout>
              </c:layout>
              <c:numFmt formatCode="#,##0.00&quot;%&quot;;&quot;-&quot;#,##0.0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楷体"/>
                      <a:ea typeface="楷体"/>
                      <a:cs typeface="+mn-cs"/>
                      <a:sym typeface="楷体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4-63C8-4E77-BA98-AE5A63EFB9C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uri="{CE6537A1-D6FC-4f65-9D91-7224C49458BB}">
                <c15:showLeaderLines val="0"/>
              </c:ext>
            </c:extLst>
          </c:dLbls>
          <c:val>
            <c:numRef>
              <c:f>Sheet1!$A$1:$E$1</c:f>
              <c:numCache>
                <c:formatCode>General</c:formatCode>
                <c:ptCount val="5"/>
                <c:pt idx="0">
                  <c:v>6.777777777777777</c:v>
                </c:pt>
                <c:pt idx="1">
                  <c:v>8.9999999999999999</c:v>
                </c:pt>
                <c:pt idx="2">
                  <c:v>1.2222222222222222</c:v>
                </c:pt>
                <c:pt idx="3">
                  <c:v>3.4444444444444444</c:v>
                </c:pt>
                <c:pt idx="4">
                  <c:v>5.6666666666666666</c:v>
                </c:pt>
              </c:numCache>
            </c:numRef>
          </c:val>
          <c:smooth val="0"/>
          <c:extLst>
            <c:ext uri="{C3380CC4-5D6E-409C-BE32-E72D297353CC}">
              <c16:uniqueId val="{00000005-63C8-4E77-BA98-AE5A63EFB9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4196063"/>
        <c:axId val="1"/>
      </c:lineChart>
      <c:catAx>
        <c:axId val="11419606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>
            <a:noFill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.687478182515548"/>
          <c:min val="3.0999049442554876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14196063"/>
        <c:crosses val="min"/>
        <c:crossBetween val="midCat"/>
      </c:valAx>
    </c:plotArea>
    <c:plotVisOnly val="0"/>
    <c:dispBlanksAs val="gap"/>
    <c:showDLblsOverMax val="1"/>
  </c:chart>
  <c:externalData r:id="rId1">
    <c:autoUpdate val="0"/>
  </c:externalData>
</c:chartSpace>
</file>

<file path=ppt/charts/chart16.xml><?xml version="1.0" encoding="utf-8"?>
<c:chartSpace xmlns:a="http://schemas.openxmlformats.org/drawingml/2006/main" xmlns:c="http://schemas.openxmlformats.org/drawingml/2006/chart" xmlns:c14="http://schemas.microsoft.com/office/drawing/2007/8/2/chart" xmlns:c16="http://schemas.microsoft.com/office/drawing/2014/chart" xmlns:mc="http://schemas.openxmlformats.org/markup-compatibility/2006" xmlns:r="http://schemas.openxmlformats.org/officeDocument/2006/relationships">
  <c:date1904 val="0"/>
  <c:lang val="zh-CN"/>
  <c:roundedCorners val="0"/>
  <mc:AlternateContent>
    <mc:Choice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764486975013291E-2"/>
          <c:y val="5.1999999999999998E-2"/>
          <c:w val="0.94471026049973417"/>
          <c:h val="0.89600000000000002"/>
        </c:manualLayout>
      </c:layout>
      <c:barChart>
        <c:barDir val="col"/>
        <c:grouping val="clustered"/>
        <c:varyColors val="0"/>
        <c:ser>
          <c:idx val="2"/>
          <c:order val="2"/>
          <c:invertIfNegative val="0"/>
          <c:extLst>
            <c:ext uri="{C3380CC4-5D6E-409C-BE32-E72D297353CC}">
              <c16:uniqueId val="{0000000C-6732-4D08-95E7-B65D50EDEF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"/>
        <c:axId val="3"/>
      </c:barChart>
      <c:lineChart>
        <c:grouping val="standard"/>
        <c:varyColors val="0"/>
        <c:ser>
          <c:idx val="0"/>
          <c:order val="0"/>
          <c:spPr>
            <a:ln w="12700" cmpd="sng" algn="ctr">
              <a:solidFill>
                <a:srgbClr val="1B5099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square"/>
              <c:size val="4"/>
              <c:spPr>
                <a:solidFill>
                  <a:srgbClr val="1B5099"/>
                </a:solidFill>
                <a:ln w="9525" cmpd="sng" algn="ctr">
                  <a:solidFill>
                    <a:srgbClr val="1B5099"/>
                  </a:solidFill>
                  <a:prstDash val="solid"/>
                </a:ln>
              </c:spPr>
            </c:marker>
            <c:bubble3D val="0"/>
            <c:extLst>
              <c:ext uri="{C3380CC4-5D6E-409C-BE32-E72D297353CC}">
                <c16:uniqueId val="{00000000-6732-4D08-95E7-B65D50EDEF15}"/>
              </c:ext>
            </c:extLst>
          </c:dPt>
          <c:dPt>
            <c:idx val="1"/>
            <c:marker>
              <c:symbol val="square"/>
              <c:size val="4"/>
              <c:spPr>
                <a:solidFill>
                  <a:srgbClr val="1B5099"/>
                </a:solidFill>
                <a:ln w="9525" cmpd="sng" algn="ctr">
                  <a:solidFill>
                    <a:srgbClr val="1B5099"/>
                  </a:solidFill>
                  <a:prstDash val="solid"/>
                </a:ln>
              </c:spPr>
            </c:marker>
            <c:bubble3D val="0"/>
            <c:extLst>
              <c:ext uri="{C3380CC4-5D6E-409C-BE32-E72D297353CC}">
                <c16:uniqueId val="{00000001-6732-4D08-95E7-B65D50EDEF15}"/>
              </c:ext>
            </c:extLst>
          </c:dPt>
          <c:dPt>
            <c:idx val="2"/>
            <c:marker>
              <c:symbol val="square"/>
              <c:size val="4"/>
              <c:spPr>
                <a:solidFill>
                  <a:srgbClr val="1B5099"/>
                </a:solidFill>
                <a:ln w="9525" cmpd="sng" algn="ctr">
                  <a:solidFill>
                    <a:srgbClr val="1B5099"/>
                  </a:solidFill>
                  <a:prstDash val="solid"/>
                </a:ln>
              </c:spPr>
            </c:marker>
            <c:bubble3D val="0"/>
            <c:extLst>
              <c:ext uri="{C3380CC4-5D6E-409C-BE32-E72D297353CC}">
                <c16:uniqueId val="{00000002-6732-4D08-95E7-B65D50EDEF15}"/>
              </c:ext>
            </c:extLst>
          </c:dPt>
          <c:dPt>
            <c:idx val="3"/>
            <c:marker>
              <c:symbol val="square"/>
              <c:size val="4"/>
              <c:spPr>
                <a:solidFill>
                  <a:srgbClr val="1B5099"/>
                </a:solidFill>
                <a:ln w="9525" cmpd="sng" algn="ctr">
                  <a:solidFill>
                    <a:srgbClr val="1B5099"/>
                  </a:solidFill>
                  <a:prstDash val="solid"/>
                </a:ln>
              </c:spPr>
            </c:marker>
            <c:bubble3D val="0"/>
            <c:extLst>
              <c:ext uri="{C3380CC4-5D6E-409C-BE32-E72D297353CC}">
                <c16:uniqueId val="{00000003-6732-4D08-95E7-B65D50EDEF15}"/>
              </c:ext>
            </c:extLst>
          </c:dPt>
          <c:dPt>
            <c:idx val="4"/>
            <c:marker>
              <c:symbol val="square"/>
              <c:size val="4"/>
              <c:spPr>
                <a:solidFill>
                  <a:srgbClr val="1B5099"/>
                </a:solidFill>
                <a:ln w="9525" cmpd="sng" algn="ctr">
                  <a:solidFill>
                    <a:srgbClr val="1B5099"/>
                  </a:solidFill>
                  <a:prstDash val="solid"/>
                </a:ln>
              </c:spPr>
            </c:marker>
            <c:bubble3D val="0"/>
            <c:extLst>
              <c:ext uri="{C3380CC4-5D6E-409C-BE32-E72D297353CC}">
                <c16:uniqueId val="{00000004-6732-4D08-95E7-B65D50EDEF15}"/>
              </c:ext>
            </c:extLst>
          </c:dPt>
          <c:val>
            <c:numRef>
              <c:f>Sheet1!$A$1:$E$1</c:f>
              <c:numCache>
                <c:formatCode>General</c:formatCode>
                <c:ptCount val="5"/>
                <c:pt idx="0">
                  <c:v>7.8888888888888888</c:v>
                </c:pt>
                <c:pt idx="1">
                  <c:v>9.111111111111111</c:v>
                </c:pt>
                <c:pt idx="2">
                  <c:v>2.3333333333333333</c:v>
                </c:pt>
                <c:pt idx="3">
                  <c:v>4.5555555555555555</c:v>
                </c:pt>
                <c:pt idx="4">
                  <c:v>6.7777777777777777</c:v>
                </c:pt>
              </c:numCache>
            </c:numRef>
          </c:val>
          <c:smooth val="0"/>
          <c:extLst>
            <c:ext uri="{C3380CC4-5D6E-409C-BE32-E72D297353CC}">
              <c16:uniqueId val="{00000005-6732-4D08-95E7-B65D50EDEF15}"/>
            </c:ext>
          </c:extLst>
        </c:ser>
        <c:ser>
          <c:idx val="1"/>
          <c:order val="1"/>
          <c:spPr>
            <a:ln w="12700" cmpd="sng" algn="ctr">
              <a:solidFill>
                <a:srgbClr val="C00000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circle"/>
              <c:size val="4"/>
              <c:spPr>
                <a:solidFill>
                  <a:srgbClr val="C00000"/>
                </a:solidFill>
                <a:ln w="9525" cmpd="sng" algn="ctr">
                  <a:solidFill>
                    <a:srgbClr val="C00000"/>
                  </a:solidFill>
                  <a:prstDash val="solid"/>
                </a:ln>
              </c:spPr>
            </c:marker>
            <c:bubble3D val="0"/>
            <c:extLst>
              <c:ext uri="{C3380CC4-5D6E-409C-BE32-E72D297353CC}">
                <c16:uniqueId val="{00000006-6732-4D08-95E7-B65D50EDEF15}"/>
              </c:ext>
            </c:extLst>
          </c:dPt>
          <c:dPt>
            <c:idx val="1"/>
            <c:marker>
              <c:symbol val="circle"/>
              <c:size val="4"/>
              <c:spPr>
                <a:solidFill>
                  <a:srgbClr val="C00000"/>
                </a:solidFill>
                <a:ln w="9525" cmpd="sng" algn="ctr">
                  <a:solidFill>
                    <a:srgbClr val="C00000"/>
                  </a:solidFill>
                  <a:prstDash val="solid"/>
                </a:ln>
              </c:spPr>
            </c:marker>
            <c:bubble3D val="0"/>
            <c:extLst>
              <c:ext uri="{C3380CC4-5D6E-409C-BE32-E72D297353CC}">
                <c16:uniqueId val="{00000007-6732-4D08-95E7-B65D50EDEF15}"/>
              </c:ext>
            </c:extLst>
          </c:dPt>
          <c:dPt>
            <c:idx val="2"/>
            <c:marker>
              <c:symbol val="circle"/>
              <c:size val="4"/>
              <c:spPr>
                <a:solidFill>
                  <a:srgbClr val="C00000"/>
                </a:solidFill>
                <a:ln w="9525" cmpd="sng" algn="ctr">
                  <a:solidFill>
                    <a:srgbClr val="C00000"/>
                  </a:solidFill>
                  <a:prstDash val="solid"/>
                </a:ln>
              </c:spPr>
            </c:marker>
            <c:bubble3D val="0"/>
            <c:extLst>
              <c:ext uri="{C3380CC4-5D6E-409C-BE32-E72D297353CC}">
                <c16:uniqueId val="{00000008-6732-4D08-95E7-B65D50EDEF15}"/>
              </c:ext>
            </c:extLst>
          </c:dPt>
          <c:dPt>
            <c:idx val="3"/>
            <c:marker>
              <c:symbol val="circle"/>
              <c:size val="4"/>
              <c:spPr>
                <a:solidFill>
                  <a:srgbClr val="C00000"/>
                </a:solidFill>
                <a:ln w="9525" cmpd="sng" algn="ctr">
                  <a:solidFill>
                    <a:srgbClr val="C00000"/>
                  </a:solidFill>
                  <a:prstDash val="solid"/>
                </a:ln>
              </c:spPr>
            </c:marker>
            <c:bubble3D val="0"/>
            <c:extLst>
              <c:ext uri="{C3380CC4-5D6E-409C-BE32-E72D297353CC}">
                <c16:uniqueId val="{00000009-6732-4D08-95E7-B65D50EDEF15}"/>
              </c:ext>
            </c:extLst>
          </c:dPt>
          <c:dPt>
            <c:idx val="4"/>
            <c:marker>
              <c:symbol val="circle"/>
              <c:size val="4"/>
              <c:spPr>
                <a:solidFill>
                  <a:srgbClr val="C00000"/>
                </a:solidFill>
                <a:ln w="9525" cmpd="sng" algn="ctr">
                  <a:solidFill>
                    <a:srgbClr val="C00000"/>
                  </a:solidFill>
                  <a:prstDash val="solid"/>
                </a:ln>
              </c:spPr>
            </c:marker>
            <c:bubble3D val="0"/>
            <c:extLst>
              <c:ext uri="{C3380CC4-5D6E-409C-BE32-E72D297353CC}">
                <c16:uniqueId val="{0000000A-6732-4D08-95E7-B65D50EDEF15}"/>
              </c:ext>
            </c:extLst>
          </c:dPt>
          <c:val>
            <c:numRef>
              <c:f>Sheet1!$A$2:$E$2</c:f>
              <c:numCache>
                <c:formatCode>General</c:formatCode>
                <c:ptCount val="5"/>
                <c:pt idx="0">
                  <c:v>8.9999999999999999</c:v>
                </c:pt>
                <c:pt idx="1">
                  <c:v>1.222222222222222</c:v>
                </c:pt>
                <c:pt idx="2">
                  <c:v>3.444444444444444</c:v>
                </c:pt>
                <c:pt idx="3">
                  <c:v>5.6666666666666666</c:v>
                </c:pt>
                <c:pt idx="4">
                  <c:v>7.8888888888888888</c:v>
                </c:pt>
              </c:numCache>
            </c:numRef>
          </c:val>
          <c:smooth val="0"/>
          <c:extLst>
            <c:ext uri="{C3380CC4-5D6E-409C-BE32-E72D297353CC}">
              <c16:uniqueId val="{0000000B-6732-4D08-95E7-B65D50EDEF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1843679"/>
        <c:axId val="1"/>
      </c:lineChart>
      <c:catAx>
        <c:axId val="15184367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.5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rgbClr val="FFFFFF"/>
            </a:solidFill>
            <a:prstDash val="solid"/>
          </a:ln>
        </c:spPr>
        <c:crossAx val="151843679"/>
        <c:crosses val="min"/>
        <c:crossBetween val="midCat"/>
      </c:valAx>
      <c:catAx>
        <c:axId val="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>
            <a:noFill/>
          </a:ln>
        </c:spPr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800"/>
          <c:min val="-500"/>
        </c:scaling>
        <c:delete val="0"/>
        <c:axPos val="r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rgbClr val="FFFFFF"/>
            </a:solidFill>
            <a:prstDash val="solid"/>
          </a:ln>
        </c:spPr>
        <c:crossAx val="2"/>
        <c:crosses val="max"/>
        <c:crossBetween val="midCat"/>
      </c:valAx>
    </c:plotArea>
    <c:plotVisOnly val="0"/>
    <c:dispBlanksAs val="gap"/>
    <c:showDLblsOverMax val="1"/>
  </c:chart>
  <c:externalData r:id="rId1">
    <c:autoUpdate val="0"/>
  </c:externalData>
</c:chartSpace>
</file>

<file path=ppt/charts/chart17.xml><?xml version="1.0" encoding="utf-8"?>
<c:chartSpace xmlns:a="http://schemas.openxmlformats.org/drawingml/2006/main" xmlns:c="http://schemas.openxmlformats.org/drawingml/2006/chart" xmlns:c14="http://schemas.microsoft.com/office/drawing/2007/8/2/chart" xmlns:c16="http://schemas.microsoft.com/office/drawing/2014/chart" xmlns:mc="http://schemas.openxmlformats.org/markup-compatibility/2006" xmlns:r="http://schemas.openxmlformats.org/officeDocument/2006/relationships">
  <c:date1904 val="0"/>
  <c:lang val="zh-CN"/>
  <c:roundedCorners val="0"/>
  <mc:AlternateContent>
    <mc:Choice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4928092042186004E-2"/>
          <c:y val="4.7619047619047616E-2"/>
          <c:w val="0.95014381591562802"/>
          <c:h val="0.90476190476190477"/>
        </c:manualLayout>
      </c:layout>
      <c:barChart>
        <c:barDir val="col"/>
        <c:grouping val="clustered"/>
        <c:varyColors val="0"/>
        <c:ser>
          <c:idx val="2"/>
          <c:order val="2"/>
          <c:invertIfNegative val="0"/>
          <c:extLst>
            <c:ext uri="{C3380CC4-5D6E-409C-BE32-E72D297353CC}">
              <c16:uniqueId val="{0000000C-13E4-4AA2-BF39-0B9564222C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"/>
        <c:axId val="3"/>
      </c:barChart>
      <c:lineChart>
        <c:grouping val="standard"/>
        <c:varyColors val="0"/>
        <c:ser>
          <c:idx val="0"/>
          <c:order val="0"/>
          <c:spPr>
            <a:ln w="12700" cmpd="sng" algn="ctr">
              <a:solidFill>
                <a:srgbClr val="1B5099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square"/>
              <c:size val="4"/>
              <c:spPr>
                <a:solidFill>
                  <a:srgbClr val="1B5099"/>
                </a:solidFill>
                <a:ln w="9525" cmpd="sng" algn="ctr">
                  <a:solidFill>
                    <a:srgbClr val="1B5099"/>
                  </a:solidFill>
                  <a:prstDash val="solid"/>
                </a:ln>
              </c:spPr>
            </c:marker>
            <c:bubble3D val="0"/>
            <c:extLst>
              <c:ext uri="{C3380CC4-5D6E-409C-BE32-E72D297353CC}">
                <c16:uniqueId val="{00000000-13E4-4AA2-BF39-0B9564222CC9}"/>
              </c:ext>
            </c:extLst>
          </c:dPt>
          <c:dPt>
            <c:idx val="1"/>
            <c:marker>
              <c:symbol val="square"/>
              <c:size val="4"/>
              <c:spPr>
                <a:solidFill>
                  <a:srgbClr val="1B5099"/>
                </a:solidFill>
                <a:ln w="9525" cmpd="sng" algn="ctr">
                  <a:solidFill>
                    <a:srgbClr val="1B5099"/>
                  </a:solidFill>
                  <a:prstDash val="solid"/>
                </a:ln>
              </c:spPr>
            </c:marker>
            <c:bubble3D val="0"/>
            <c:extLst>
              <c:ext uri="{C3380CC4-5D6E-409C-BE32-E72D297353CC}">
                <c16:uniqueId val="{00000001-13E4-4AA2-BF39-0B9564222CC9}"/>
              </c:ext>
            </c:extLst>
          </c:dPt>
          <c:dPt>
            <c:idx val="2"/>
            <c:marker>
              <c:symbol val="square"/>
              <c:size val="4"/>
              <c:spPr>
                <a:solidFill>
                  <a:srgbClr val="1B5099"/>
                </a:solidFill>
                <a:ln w="9525" cmpd="sng" algn="ctr">
                  <a:solidFill>
                    <a:srgbClr val="1B5099"/>
                  </a:solidFill>
                  <a:prstDash val="solid"/>
                </a:ln>
              </c:spPr>
            </c:marker>
            <c:bubble3D val="0"/>
            <c:extLst>
              <c:ext uri="{C3380CC4-5D6E-409C-BE32-E72D297353CC}">
                <c16:uniqueId val="{00000002-13E4-4AA2-BF39-0B9564222CC9}"/>
              </c:ext>
            </c:extLst>
          </c:dPt>
          <c:dPt>
            <c:idx val="3"/>
            <c:marker>
              <c:symbol val="square"/>
              <c:size val="4"/>
              <c:spPr>
                <a:solidFill>
                  <a:srgbClr val="1B5099"/>
                </a:solidFill>
                <a:ln w="9525" cmpd="sng" algn="ctr">
                  <a:solidFill>
                    <a:srgbClr val="1B5099"/>
                  </a:solidFill>
                  <a:prstDash val="solid"/>
                </a:ln>
              </c:spPr>
            </c:marker>
            <c:bubble3D val="0"/>
            <c:extLst>
              <c:ext uri="{C3380CC4-5D6E-409C-BE32-E72D297353CC}">
                <c16:uniqueId val="{00000003-13E4-4AA2-BF39-0B9564222CC9}"/>
              </c:ext>
            </c:extLst>
          </c:dPt>
          <c:dPt>
            <c:idx val="4"/>
            <c:marker>
              <c:symbol val="square"/>
              <c:size val="4"/>
              <c:spPr>
                <a:solidFill>
                  <a:srgbClr val="1B5099"/>
                </a:solidFill>
                <a:ln w="9525" cmpd="sng" algn="ctr">
                  <a:solidFill>
                    <a:srgbClr val="1B5099"/>
                  </a:solidFill>
                  <a:prstDash val="solid"/>
                </a:ln>
              </c:spPr>
            </c:marker>
            <c:bubble3D val="0"/>
            <c:extLst>
              <c:ext uri="{C3380CC4-5D6E-409C-BE32-E72D297353CC}">
                <c16:uniqueId val="{00000004-13E4-4AA2-BF39-0B9564222CC9}"/>
              </c:ext>
            </c:extLst>
          </c:dPt>
          <c:val>
            <c:numRef>
              <c:f>Sheet1!$A$1:$E$1</c:f>
              <c:numCache>
                <c:formatCode>General</c:formatCode>
                <c:ptCount val="5"/>
                <c:pt idx="0">
                  <c:v>9.1111111111111111</c:v>
                </c:pt>
                <c:pt idx="1">
                  <c:v>2.3333333333333333</c:v>
                </c:pt>
                <c:pt idx="2">
                  <c:v>4.5555555555555555</c:v>
                </c:pt>
                <c:pt idx="3">
                  <c:v>6.7777777777777777</c:v>
                </c:pt>
                <c:pt idx="4">
                  <c:v>8.9999999999999999</c:v>
                </c:pt>
              </c:numCache>
            </c:numRef>
          </c:val>
          <c:smooth val="0"/>
          <c:extLst>
            <c:ext uri="{C3380CC4-5D6E-409C-BE32-E72D297353CC}">
              <c16:uniqueId val="{00000005-13E4-4AA2-BF39-0B9564222CC9}"/>
            </c:ext>
          </c:extLst>
        </c:ser>
        <c:ser>
          <c:idx val="1"/>
          <c:order val="1"/>
          <c:spPr>
            <a:ln w="12700" cmpd="sng" algn="ctr">
              <a:solidFill>
                <a:srgbClr val="C00000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circle"/>
              <c:size val="4"/>
              <c:spPr>
                <a:solidFill>
                  <a:srgbClr val="C00000"/>
                </a:solidFill>
                <a:ln w="9525" cmpd="sng" algn="ctr">
                  <a:solidFill>
                    <a:srgbClr val="C00000"/>
                  </a:solidFill>
                  <a:prstDash val="solid"/>
                </a:ln>
              </c:spPr>
            </c:marker>
            <c:bubble3D val="0"/>
            <c:extLst>
              <c:ext uri="{C3380CC4-5D6E-409C-BE32-E72D297353CC}">
                <c16:uniqueId val="{00000006-13E4-4AA2-BF39-0B9564222CC9}"/>
              </c:ext>
            </c:extLst>
          </c:dPt>
          <c:dPt>
            <c:idx val="1"/>
            <c:marker>
              <c:symbol val="circle"/>
              <c:size val="4"/>
              <c:spPr>
                <a:solidFill>
                  <a:srgbClr val="C00000"/>
                </a:solidFill>
                <a:ln w="9525" cmpd="sng" algn="ctr">
                  <a:solidFill>
                    <a:srgbClr val="C00000"/>
                  </a:solidFill>
                  <a:prstDash val="solid"/>
                </a:ln>
              </c:spPr>
            </c:marker>
            <c:bubble3D val="0"/>
            <c:extLst>
              <c:ext uri="{C3380CC4-5D6E-409C-BE32-E72D297353CC}">
                <c16:uniqueId val="{00000007-13E4-4AA2-BF39-0B9564222CC9}"/>
              </c:ext>
            </c:extLst>
          </c:dPt>
          <c:dPt>
            <c:idx val="2"/>
            <c:marker>
              <c:symbol val="circle"/>
              <c:size val="4"/>
              <c:spPr>
                <a:solidFill>
                  <a:srgbClr val="C00000"/>
                </a:solidFill>
                <a:ln w="9525" cmpd="sng" algn="ctr">
                  <a:solidFill>
                    <a:srgbClr val="C00000"/>
                  </a:solidFill>
                  <a:prstDash val="solid"/>
                </a:ln>
              </c:spPr>
            </c:marker>
            <c:bubble3D val="0"/>
            <c:extLst>
              <c:ext uri="{C3380CC4-5D6E-409C-BE32-E72D297353CC}">
                <c16:uniqueId val="{00000008-13E4-4AA2-BF39-0B9564222CC9}"/>
              </c:ext>
            </c:extLst>
          </c:dPt>
          <c:dPt>
            <c:idx val="3"/>
            <c:marker>
              <c:symbol val="circle"/>
              <c:size val="4"/>
              <c:spPr>
                <a:solidFill>
                  <a:srgbClr val="C00000"/>
                </a:solidFill>
                <a:ln w="9525" cmpd="sng" algn="ctr">
                  <a:solidFill>
                    <a:srgbClr val="C00000"/>
                  </a:solidFill>
                  <a:prstDash val="solid"/>
                </a:ln>
              </c:spPr>
            </c:marker>
            <c:bubble3D val="0"/>
            <c:extLst>
              <c:ext uri="{C3380CC4-5D6E-409C-BE32-E72D297353CC}">
                <c16:uniqueId val="{00000009-13E4-4AA2-BF39-0B9564222CC9}"/>
              </c:ext>
            </c:extLst>
          </c:dPt>
          <c:dPt>
            <c:idx val="4"/>
            <c:marker>
              <c:symbol val="circle"/>
              <c:size val="4"/>
              <c:spPr>
                <a:solidFill>
                  <a:srgbClr val="C00000"/>
                </a:solidFill>
                <a:ln w="9525" cmpd="sng" algn="ctr">
                  <a:solidFill>
                    <a:srgbClr val="C00000"/>
                  </a:solidFill>
                  <a:prstDash val="solid"/>
                </a:ln>
              </c:spPr>
            </c:marker>
            <c:bubble3D val="0"/>
            <c:extLst>
              <c:ext uri="{C3380CC4-5D6E-409C-BE32-E72D297353CC}">
                <c16:uniqueId val="{0000000A-13E4-4AA2-BF39-0B9564222CC9}"/>
              </c:ext>
            </c:extLst>
          </c:dPt>
          <c:val>
            <c:numRef>
              <c:f>Sheet1!$A$2:$E$2</c:f>
              <c:numCache>
                <c:formatCode>General</c:formatCode>
                <c:ptCount val="5"/>
                <c:pt idx="0">
                  <c:v>1.2222222222222222</c:v>
                </c:pt>
                <c:pt idx="1">
                  <c:v>0.44444444444444444</c:v>
                </c:pt>
                <c:pt idx="2">
                  <c:v>0.66666666666666666</c:v>
                </c:pt>
                <c:pt idx="3">
                  <c:v>7.8888888888888888</c:v>
                </c:pt>
                <c:pt idx="4">
                  <c:v>0.11111111111111111</c:v>
                </c:pt>
              </c:numCache>
            </c:numRef>
          </c:val>
          <c:smooth val="0"/>
          <c:extLst>
            <c:ext uri="{C3380CC4-5D6E-409C-BE32-E72D297353CC}">
              <c16:uniqueId val="{0000000B-13E4-4AA2-BF39-0B9564222C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1845599"/>
        <c:axId val="1"/>
      </c:lineChart>
      <c:catAx>
        <c:axId val="15184559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At val="0"/>
        <c:auto val="0"/>
        <c:lblAlgn val="ctr"/>
        <c:lblOffset val="100"/>
        <c:noMultiLvlLbl val="0"/>
      </c:catAx>
      <c:valAx>
        <c:axId val="1"/>
        <c:scaling>
          <c:orientation val="minMax"/>
          <c:max val="5"/>
          <c:min val="-0.5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rgbClr val="FFFFFF"/>
            </a:solidFill>
            <a:prstDash val="solid"/>
          </a:ln>
        </c:spPr>
        <c:crossAx val="151845599"/>
        <c:crosses val="min"/>
        <c:crossBetween val="midCat"/>
      </c:valAx>
      <c:catAx>
        <c:axId val="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>
            <a:noFill/>
          </a:ln>
        </c:spPr>
        <c:crossAx val="3"/>
        <c:crossesAt val="0"/>
        <c:auto val="0"/>
        <c:lblAlgn val="ctr"/>
        <c:lblOffset val="100"/>
        <c:noMultiLvlLbl val="0"/>
      </c:catAx>
      <c:valAx>
        <c:axId val="3"/>
        <c:scaling>
          <c:orientation val="minMax"/>
          <c:max val="800"/>
          <c:min val="-500"/>
        </c:scaling>
        <c:delete val="0"/>
        <c:axPos val="r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rgbClr val="FFFFFF"/>
            </a:solidFill>
            <a:prstDash val="solid"/>
          </a:ln>
        </c:spPr>
        <c:crossAx val="2"/>
        <c:crosses val="max"/>
        <c:crossBetween val="midCat"/>
      </c:valAx>
    </c:plotArea>
    <c:plotVisOnly val="0"/>
    <c:dispBlanksAs val="gap"/>
    <c:showDLblsOverMax val="1"/>
  </c:chart>
  <c:externalData r:id="rId1">
    <c:autoUpdate val="0"/>
  </c:externalData>
</c:chartSpace>
</file>

<file path=ppt/notesMasters/_rels/notesMaster1.xml.rels><?xml version="1.0" encoding="utf-8"?>
<Relationships xmlns="http://schemas.openxmlformats.org/package/2006/relationships">
  <Relationship Id="rId1" Type="http://schemas.openxmlformats.org/officeDocument/2006/relationships/theme" Target="../theme/theme2.xml"/>
</Relationships>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57F7E7-438D-472A-9C62-6AA15F134070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2BFB1B-D161-4B73-B14A-29F5992B2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9223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
<Relationships xmlns="http://schemas.openxmlformats.org/package/2006/relationships">
  <Relationship Id="rId2" Type="http://schemas.openxmlformats.org/officeDocument/2006/relationships/slide" Target="../slides/slide1.xml"/>
  <Relationship Id="rId1" Type="http://schemas.openxmlformats.org/officeDocument/2006/relationships/notesMaster" Target="../notesMasters/notesMaster1.xml"/>
</Relationships>

</file>

<file path=ppt/notesSlides/_rels/notesSlide2.xml.rels><?xml version="1.0" encoding="utf-8"?>
<Relationships xmlns="http://schemas.openxmlformats.org/package/2006/relationships">
  <Relationship Id="rId2" Type="http://schemas.openxmlformats.org/officeDocument/2006/relationships/slide" Target="../slides/slide2.xml"/>
  <Relationship Id="rId1" Type="http://schemas.openxmlformats.org/officeDocument/2006/relationships/notesMaster" Target="../notesMasters/notesMaster1.xml"/>
</Relationships>

</file>

<file path=ppt/notesSlides/_rels/notesSlide3.xml.rels><?xml version="1.0" encoding="utf-8"?>
<Relationships xmlns="http://schemas.openxmlformats.org/package/2006/relationships">
  <Relationship Id="rId2" Type="http://schemas.openxmlformats.org/officeDocument/2006/relationships/slide" Target="../slides/slide3.xml"/>
  <Relationship Id="rId1" Type="http://schemas.openxmlformats.org/officeDocument/2006/relationships/notesMaster" Target="../notesMasters/notesMaster1.xml"/>
</Relationships>

</file>

<file path=ppt/notesSlides/_rels/notesSlide4.xml.rels><?xml version="1.0" encoding="utf-8"?>
<Relationships xmlns="http://schemas.openxmlformats.org/package/2006/relationships">
  <Relationship Id="rId2" Type="http://schemas.openxmlformats.org/officeDocument/2006/relationships/slide" Target="../slides/slide4.xml"/>
  <Relationship Id="rId1" Type="http://schemas.openxmlformats.org/officeDocument/2006/relationships/notesMaster" Target="../notesMasters/notesMaster1.xml"/>
</Relationships>

</file>

<file path=ppt/notesSlides/_rels/notesSlide5.xml.rels><?xml version="1.0" encoding="utf-8"?>
<Relationships xmlns="http://schemas.openxmlformats.org/package/2006/relationships">
  <Relationship Id="rId2" Type="http://schemas.openxmlformats.org/officeDocument/2006/relationships/slide" Target="../slides/slide5.xml"/>
  <Relationship Id="rId1" Type="http://schemas.openxmlformats.org/officeDocument/2006/relationships/notesMaster" Target="../notesMasters/notesMaster1.xml"/>
</Relationships>

</file>

<file path=ppt/notesSlides/_rels/notesSlide6.xml.rels><?xml version="1.0" encoding="utf-8"?>
<Relationships xmlns="http://schemas.openxmlformats.org/package/2006/relationships">
  <Relationship Id="rId2" Type="http://schemas.openxmlformats.org/officeDocument/2006/relationships/slide" Target="../slides/slide6.xml"/>
  <Relationship Id="rId1" Type="http://schemas.openxmlformats.org/officeDocument/2006/relationships/notesMaster" Target="../notesMasters/notesMaster1.xml"/>
</Relationships>

</file>

<file path=ppt/notesSlides/_rels/notesSlide7.xml.rels><?xml version="1.0" encoding="utf-8"?>
<Relationships xmlns="http://schemas.openxmlformats.org/package/2006/relationships">
  <Relationship Id="rId2" Type="http://schemas.openxmlformats.org/officeDocument/2006/relationships/slide" Target="../slides/slide9.xml"/>
  <Relationship Id="rId1" Type="http://schemas.openxmlformats.org/officeDocument/2006/relationships/notesMaster" Target="../notesMasters/notesMaster1.xml"/>
</Relationships>

</file>

<file path=ppt/notesSlides/_rels/notesSlide8.xml.rels><?xml version="1.0" encoding="utf-8"?>
<Relationships xmlns="http://schemas.openxmlformats.org/package/2006/relationships">
  <Relationship Id="rId2" Type="http://schemas.openxmlformats.org/officeDocument/2006/relationships/slide" Target="../slides/slide10.xml"/>
  <Relationship Id="rId1" Type="http://schemas.openxmlformats.org/officeDocument/2006/relationships/notesMaster" Target="../notesMasters/notesMaster1.xml"/>
</Relationships>

</file>

<file path=ppt/notesSlides/_rels/notesSlide9.xml.rels><?xml version="1.0" encoding="utf-8"?>
<Relationships xmlns="http://schemas.openxmlformats.org/package/2006/relationships">
  <Relationship Id="rId2" Type="http://schemas.openxmlformats.org/officeDocument/2006/relationships/slide" Target="../slides/slide11.xml"/>
  <Relationship Id="rId1" Type="http://schemas.openxmlformats.org/officeDocument/2006/relationships/notesMaster" Target="../notesMasters/notesMaster1.xml"/>
</Relationships>

</file>

<file path=ppt/notesSlides/_rels/notesSlide10.xml.rels><?xml version="1.0" encoding="utf-8"?>
<Relationships xmlns="http://schemas.openxmlformats.org/package/2006/relationships">
  <Relationship Id="rId2" Type="http://schemas.openxmlformats.org/officeDocument/2006/relationships/slide" Target="../slides/slide13.xml"/>
  <Relationship Id="rId1" Type="http://schemas.openxmlformats.org/officeDocument/2006/relationships/notesMaster" Target="../notesMasters/notesMaster1.xml"/>
</Relationships>

</file>

<file path=ppt/notesSlides/notesSlide1.xml><?xml version="1.0" encoding="utf-8"?>
<p:notes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8863" cy="34528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4A3F5F-5BE5-BE47-8794-75776C6257FA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val="36659105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8863" cy="34528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4A3F5F-5BE5-BE47-8794-75776C6257FA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val="19722966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8863" cy="34528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4A3F5F-5BE5-BE47-8794-75776C6257FA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val="36151960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8863" cy="34528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4A3F5F-5BE5-BE47-8794-75776C6257FA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val="25679391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>
          <a:extLst>
            <a:ext uri="{FF2B5EF4-FFF2-40B4-BE49-F238E27FC236}">
              <a16:creationId id="{74B6DFA8-8406-07FC-63D1-FE0F7CB0A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id="{B96F82D5-27C2-517A-16DA-99B2A743A9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8863" cy="3452813"/>
          </a:xfrm>
        </p:spPr>
      </p:sp>
      <p:sp>
        <p:nvSpPr>
          <p:cNvPr id="3" name="备注占位符 2">
            <a:extLst>
              <a:ext uri="{FF2B5EF4-FFF2-40B4-BE49-F238E27FC236}">
                <a16:creationId id="{4E381C6C-B5B6-C047-0613-33CB0C706B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id="{D54E8959-F971-B41C-0021-52E33E42D9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4A3F5F-5BE5-BE47-8794-75776C6257FA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val="30959250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8863" cy="34528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4A3F5F-5BE5-BE47-8794-75776C6257FA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val="8565061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>
          <a:extLst>
            <a:ext uri="{FF2B5EF4-FFF2-40B4-BE49-F238E27FC236}">
              <a16:creationId id="{FFF35609-1A4B-6857-7F68-9ADB05FB4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id="{76148EE9-E214-3FCC-A3ED-03427FBCC7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8863" cy="3452813"/>
          </a:xfrm>
        </p:spPr>
      </p:sp>
      <p:sp>
        <p:nvSpPr>
          <p:cNvPr id="3" name="备注占位符 2">
            <a:extLst>
              <a:ext uri="{FF2B5EF4-FFF2-40B4-BE49-F238E27FC236}">
                <a16:creationId id="{E82774E0-54EC-55EB-CA14-E7947D27C5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id="{C9C9EC47-0648-BF8F-DFFB-C5542E522D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4A3F5F-5BE5-BE47-8794-75776C6257FA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val="33844326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4A3F5F-5BE5-BE47-8794-75776C6257FA}" type="slidenum">
              <a:rPr kumimoji="1" lang="zh-CN" altLang="en-US" smtClean="0"/>
              <a:t>44</a:t>
            </a:fld>
            <a:endParaRPr kumimoji="1" lang="zh-CN" altLang="en-US"/>
          </a:p>
        </p:txBody>
      </p:sp>
    </p:spTree>
    <p:extLst>
      <p:ext uri="{BB962C8B-B14F-4D97-AF65-F5344CB8AC3E}">
        <p14:creationId val="35977727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8863" cy="34528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4A3F5F-5BE5-BE47-8794-75776C6257FA}" type="slidenum">
              <a:rPr kumimoji="1" lang="zh-CN" altLang="en-US" smtClean="0"/>
              <a:t>55</a:t>
            </a:fld>
            <a:endParaRPr kumimoji="1" lang="zh-CN" altLang="en-US"/>
          </a:p>
        </p:txBody>
      </p:sp>
    </p:spTree>
    <p:extLst>
      <p:ext uri="{BB962C8B-B14F-4D97-AF65-F5344CB8AC3E}">
        <p14:creationId val="20017330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8863" cy="34528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4A3F5F-5BE5-BE47-8794-75776C6257FA}" type="slidenum">
              <a:rPr kumimoji="1" lang="zh-CN" altLang="en-US" smtClean="0"/>
              <a:t>66</a:t>
            </a:fld>
            <a:endParaRPr kumimoji="1" lang="zh-CN" altLang="en-US"/>
          </a:p>
        </p:txBody>
      </p:sp>
    </p:spTree>
    <p:extLst>
      <p:ext uri="{BB962C8B-B14F-4D97-AF65-F5344CB8AC3E}">
        <p14:creationId val="1601418537"/>
      </p:ext>
    </p:extLst>
  </p:cSld>
  <p:clrMapOvr>
    <a:masterClrMapping/>
  </p:clrMapOvr>
</p:notes>
</file>

<file path=ppt/slideLayouts/_rels/slideLayout1.xml.rels><?xml version="1.0" encoding="utf-8"?>
<Relationships xmlns="http://schemas.openxmlformats.org/package/2006/relationships">
  <Relationship Id="rId1" Type="http://schemas.openxmlformats.org/officeDocument/2006/relationships/slideMaster" Target="../slideMasters/slideMaster1.xml"/>
</Relationships>

</file>

<file path=ppt/slideLayouts/_rels/slideLayout2.xml.rels><?xml version="1.0" encoding="utf-8"?>
<Relationships xmlns="http://schemas.openxmlformats.org/package/2006/relationships">
  <Relationship Id="rId1" Type="http://schemas.openxmlformats.org/officeDocument/2006/relationships/slideMaster" Target="../slideMasters/slideMaster1.xml"/>
</Relationships>

</file>

<file path=ppt/slideLayouts/_rels/slideLayout3.xml.rels><?xml version="1.0" encoding="utf-8"?>
<Relationships xmlns="http://schemas.openxmlformats.org/package/2006/relationships">
  <Relationship Id="rId1" Type="http://schemas.openxmlformats.org/officeDocument/2006/relationships/slideMaster" Target="../slideMasters/slideMaster1.xml"/>
</Relationships>

</file>

<file path=ppt/slideLayouts/_rels/slideLayout4.xml.rels><?xml version="1.0" encoding="utf-8"?>
<Relationships xmlns="http://schemas.openxmlformats.org/package/2006/relationships">
  <Relationship Id="rId1" Type="http://schemas.openxmlformats.org/officeDocument/2006/relationships/slideMaster" Target="../slideMasters/slideMaster1.xml"/>
</Relationships>

</file>

<file path=ppt/slideLayouts/_rels/slideLayout5.xml.rels><?xml version="1.0" encoding="utf-8"?>
<Relationships xmlns="http://schemas.openxmlformats.org/package/2006/relationships">
  <Relationship Id="rId1" Type="http://schemas.openxmlformats.org/officeDocument/2006/relationships/slideMaster" Target="../slideMasters/slideMaster1.xml"/>
</Relationships>

</file>

<file path=ppt/slideLayouts/_rels/slideLayout6.xml.rels><?xml version="1.0" encoding="utf-8"?>
<Relationships xmlns="http://schemas.openxmlformats.org/package/2006/relationships">
  <Relationship Id="rId1" Type="http://schemas.openxmlformats.org/officeDocument/2006/relationships/slideMaster" Target="../slideMasters/slideMaster1.xml"/>
</Relationships>

</file>

<file path=ppt/slideLayouts/_rels/slideLayout7.xml.rels><?xml version="1.0" encoding="utf-8"?>
<Relationships xmlns="http://schemas.openxmlformats.org/package/2006/relationships">
  <Relationship Id="rId1" Type="http://schemas.openxmlformats.org/officeDocument/2006/relationships/slideMaster" Target="../slideMasters/slideMaster1.xml"/>
</Relationships>

</file>

<file path=ppt/slideLayouts/_rels/slideLayout8.xml.rels><?xml version="1.0" encoding="utf-8"?>
<Relationships xmlns="http://schemas.openxmlformats.org/package/2006/relationships">
  <Relationship Id="rId1" Type="http://schemas.openxmlformats.org/officeDocument/2006/relationships/slideMaster" Target="../slideMasters/slideMaster1.xml"/>
</Relationships>

</file>

<file path=ppt/slideLayouts/_rels/slideLayout9.xml.rels><?xml version="1.0" encoding="utf-8"?>
<Relationships xmlns="http://schemas.openxmlformats.org/package/2006/relationships">
  <Relationship Id="rId1" Type="http://schemas.openxmlformats.org/officeDocument/2006/relationships/slideMaster" Target="../slideMasters/slideMaster1.xml"/>
</Relationships>

</file>

<file path=ppt/slideLayouts/_rels/slideLayout10.xml.rels><?xml version="1.0" encoding="utf-8"?>
<Relationships xmlns="http://schemas.openxmlformats.org/package/2006/relationships">
  <Relationship Id="rId1" Type="http://schemas.openxmlformats.org/officeDocument/2006/relationships/slideMaster" Target="../slideMasters/slideMaster1.xml"/>
</Relationships>

</file>

<file path=ppt/slideLayouts/_rels/slideLayout11.xml.rels><?xml version="1.0" encoding="utf-8"?>
<Relationships xmlns="http://schemas.openxmlformats.org/package/2006/relationships">
  <Relationship Id="rId1" Type="http://schemas.openxmlformats.org/officeDocument/2006/relationships/slideMaster" Target="../slideMasters/slideMaster1.xml"/>
</Relationships>

</file>

<file path=ppt/slideLayouts/_rels/slideLayout12.xml.rels><?xml version="1.0" encoding="utf-8"?>
<Relationships xmlns="http://schemas.openxmlformats.org/package/2006/relationships">
  <Relationship Id="rId3" Type="http://schemas.openxmlformats.org/officeDocument/2006/relationships/image" Target="../media/image3.png"/>
  <Relationship Id="rId2" Type="http://schemas.openxmlformats.org/officeDocument/2006/relationships/image" Target="../media/image2.emf"/>
  <Relationship Id="rId1" Type="http://schemas.openxmlformats.org/officeDocument/2006/relationships/slideMaster" Target="../slideMasters/slideMaster1.xml"/>
</Relationships>

</file>

<file path=ppt/slideLayouts/_rels/slideLayout13.xml.rels><?xml version="1.0" encoding="utf-8"?>
<Relationships xmlns="http://schemas.openxmlformats.org/package/2006/relationships">
  <Relationship Id="rId3" Type="http://schemas.openxmlformats.org/officeDocument/2006/relationships/oleObject" Target="../embeddings/oleObject2.bin"/>
  <Relationship Id="rId2" Type="http://schemas.openxmlformats.org/officeDocument/2006/relationships/slideMaster" Target="../slideMasters/slideMaster1.xml"/>
  <Relationship Id="rId1" Type="http://schemas.openxmlformats.org/officeDocument/2006/relationships/tags" Target="../tags/tag3.xml"/>
  <Relationship Id="rId5" Type="http://schemas.openxmlformats.org/officeDocument/2006/relationships/image" Target="../media/image5.emf"/>
  <Relationship Id="rId4" Type="http://schemas.openxmlformats.org/officeDocument/2006/relationships/image" Target="../media/image4.emf"/>
</Relationships>

</file>

<file path=ppt/slideLayouts/_rels/slideLayout14.xml.rels><?xml version="1.0" encoding="utf-8"?>
<Relationships xmlns="http://schemas.openxmlformats.org/package/2006/relationships">
  <Relationship Id="rId3" Type="http://schemas.openxmlformats.org/officeDocument/2006/relationships/image" Target="../media/image3.png"/>
  <Relationship Id="rId2" Type="http://schemas.openxmlformats.org/officeDocument/2006/relationships/image" Target="../media/image2.emf"/>
  <Relationship Id="rId1" Type="http://schemas.openxmlformats.org/officeDocument/2006/relationships/slideMaster" Target="../slideMasters/slideMaster1.xml"/>
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E09B86-857A-4491-836F-60CBA73C7F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6D60833-5735-4735-A0AF-58C8C7C3AE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586F87-2456-42DC-B6EB-760DAC595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120B2-B5F0-4593-906B-70D26E373FEC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71DC39-7CE7-41C3-8B2F-8BA1271FC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33B8AA-8BF7-4672-B5F2-F4F69193C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72ED1-408A-4C1C-AE41-135C32316B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6111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69439A-A03D-44D8-B376-7934194FC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C992E7-9A2F-45D6-B16B-B3A2D79584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13F617-2391-4627-9EAA-3CFDD7397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120B2-B5F0-4593-906B-70D26E373FEC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A92D45-BB78-42FE-8D9E-F6D2A4F81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A65FA5-1926-4514-BFC0-70CC18AB4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72ED1-408A-4C1C-AE41-135C32316B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2350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6CA717-1E85-4566-A284-A9832F735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4D5A60E-CEC6-443C-8DB3-BE9DAF3248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FAEAE4-6D64-46E8-BD8F-A4E0FFC5F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120B2-B5F0-4593-906B-70D26E373FEC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0B6683-D828-4769-9ED9-007DE8BE6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0B8F71-563E-4F5A-B331-6DDF3CA1B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72ED1-408A-4C1C-AE41-135C32316B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7288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5B86C0-DF77-46CE-9375-7FC778A67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53650C-70EF-4221-9EE9-558CEAEC2D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144E182-564B-49BE-8846-3CF78252FA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7D509B7-0202-4153-B5C1-541E6BC6D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120B2-B5F0-4593-906B-70D26E373FEC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B0304E2-3C90-4ADC-B1D7-AEE710397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4BDEC36-D95C-47B0-AB44-05A54DAEC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72ED1-408A-4C1C-AE41-135C32316B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7368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F90E4A-FAE1-446E-B11D-78A6F0180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17D480E-30DA-4132-B2E2-161DA7344C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63E576A-5F52-4315-8029-AEC8953081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E211EBB-188B-4727-B131-DAC1822EBE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157C40D-FE71-495A-B50D-28745EC631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BB6ADD9-3D5A-4B75-AEE4-BCB270170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120B2-B5F0-4593-906B-70D26E373FEC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CF0E85A-DACB-4B99-A0FB-A6F90AF87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F1C4059-23BE-444A-8AAC-3549785F3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72ED1-408A-4C1C-AE41-135C32316B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6979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07ABAF-37D1-4E25-985C-27625488F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464A5A1-26FF-4B84-AF00-2AFCCCB41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120B2-B5F0-4593-906B-70D26E373FEC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96F52AD-E82C-4E7A-8D6D-BBDA1A55D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F66A724-57AC-4416-9BC4-DE96F320F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72ED1-408A-4C1C-AE41-135C32316B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1049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10C65F1-70C9-4DBA-A2F9-4B49C3E05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120B2-B5F0-4593-906B-70D26E373FEC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18BED8E-A7FB-4241-B60E-6EC8C8282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327C44-4B3A-4631-840D-AC21B74E8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72ED1-408A-4C1C-AE41-135C32316B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5476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785E87-ECC1-48E2-B72D-96F526D4C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67CA6E-ADC6-42F0-B2FF-9A3F5BC289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DD31133-CD6B-4A8F-A804-118C1D400D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4523246-1C55-4D4A-977F-0D83655FA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120B2-B5F0-4593-906B-70D26E373FEC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84D7AAD-568F-4351-BB82-4ADB5DF07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C08D3A9-906D-443B-8E22-D6ABDA044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72ED1-408A-4C1C-AE41-135C32316B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3206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CF7E2F-D0D3-4E08-8BD2-2EF42306D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3FB8486-D958-4B39-84C8-FC360C978D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EE377A2-9725-4C44-8080-9601700B4C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291CC17-0692-446E-A25E-0E304D1DE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120B2-B5F0-4593-906B-70D26E373FEC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B9093D0-19E9-4DA7-A345-4E58D47F3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732C70A-8CF0-4EE2-9CB3-A97D4C1FE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72ED1-408A-4C1C-AE41-135C32316B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0702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55B67A-6A37-42C8-A30E-5598F37BB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0DE84D7-5AF9-4B48-A1BF-66BA48A87E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F7CB51-10A2-4A66-A17A-A3D8D59F2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120B2-B5F0-4593-906B-70D26E373FEC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1D4E14-2281-4128-854C-EA644E90C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49F409-6D23-467A-92C6-7D3B613E6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72ED1-408A-4C1C-AE41-135C32316B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6380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8B6C7CC-08EE-4DDD-B083-3CC4F7D760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4465A47-D4EC-46CF-B972-2AC5B89FDF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F3DB38-5484-4887-9DBE-1EEE6BB25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120B2-B5F0-4593-906B-70D26E373FEC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E64B3E-C809-4295-B22A-01999B4FC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A8926E-CD3D-4E7C-900A-7AAE8797C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72ED1-408A-4C1C-AE41-135C32316B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93062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1863045"/>
            <a:ext cx="8954576" cy="2364628"/>
          </a:xfrm>
        </p:spPr>
        <p:txBody>
          <a:bodyPr>
            <a:noAutofit/>
          </a:bodyPr>
          <a:lstStyle>
            <a:lvl1pPr algn="ctr">
              <a:lnSpc>
                <a:spcPct val="120000"/>
              </a:lnSpc>
              <a:defRPr sz="4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点击修改标题 </a:t>
            </a:r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406400" y="5565244"/>
            <a:ext cx="8665285" cy="38652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 b="1">
                <a:solidFill>
                  <a:schemeClr val="accent1"/>
                </a:solidFill>
              </a:defRPr>
            </a:lvl1pPr>
            <a:lvl2pPr marL="342900" indent="0">
              <a:buNone/>
              <a:defRPr>
                <a:solidFill>
                  <a:srgbClr val="FF0000"/>
                </a:solidFill>
              </a:defRPr>
            </a:lvl2pPr>
            <a:lvl3pPr marL="685800" indent="0">
              <a:buNone/>
              <a:defRPr>
                <a:solidFill>
                  <a:srgbClr val="FF0000"/>
                </a:solidFill>
              </a:defRPr>
            </a:lvl3pPr>
            <a:lvl4pPr marL="1028700" indent="0">
              <a:buNone/>
              <a:defRPr>
                <a:solidFill>
                  <a:srgbClr val="FF0000"/>
                </a:solidFill>
              </a:defRPr>
            </a:lvl4pPr>
            <a:lvl5pPr marL="1371600" indent="0">
              <a:buNone/>
              <a:defRPr>
                <a:solidFill>
                  <a:srgbClr val="FF0000"/>
                </a:solidFill>
              </a:defRPr>
            </a:lvl5pPr>
          </a:lstStyle>
          <a:p>
            <a:pPr lvl="0"/>
            <a:r>
              <a:rPr lang="zh-CN" altLang="en-US" dirty="0">
                <a:solidFill>
                  <a:srgbClr val="D80C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FZZhengHeiS-R-GB" charset="-122"/>
              </a:rPr>
              <a:t>日期：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449733" y="0"/>
            <a:ext cx="3742267" cy="6864212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474" b="-3550"/>
          <a:stretch>
            <a:fillRect/>
          </a:stretch>
        </p:blipFill>
        <p:spPr>
          <a:xfrm>
            <a:off x="406400" y="457200"/>
            <a:ext cx="1615836" cy="329508"/>
          </a:xfrm>
          <a:prstGeom prst="rect">
            <a:avLst/>
          </a:prstGeom>
        </p:spPr>
      </p:pic>
      <p:sp>
        <p:nvSpPr>
          <p:cNvPr id="8" name="Text Placeholder 6"/>
          <p:cNvSpPr txBox="1"/>
          <p:nvPr userDrawn="1"/>
        </p:nvSpPr>
        <p:spPr>
          <a:xfrm>
            <a:off x="8021589" y="101853"/>
            <a:ext cx="4823552" cy="4236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zh-CN" altLang="en-US" sz="1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FZZhengHeiS-R-GB" charset="-122"/>
              </a:rPr>
              <a:t>内部资料请勿外传</a:t>
            </a:r>
            <a:endParaRPr lang="en-US" altLang="zh-CN" sz="18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FZZhengHeiS-R-GB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39920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内容-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>
            <a:extLst>
              <a:ext uri="{FF2B5EF4-FFF2-40B4-BE49-F238E27FC236}">
                <a16:creationId xmlns:a16="http://schemas.microsoft.com/office/drawing/2014/main" id="{F0E6E0A6-05D5-490F-979C-287D1F3B27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530055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572" imgH="476" progId="TCLayout.ActiveDocument.1">
                  <p:embed/>
                </p:oleObj>
              </mc:Choice>
              <mc:Fallback>
                <p:oleObj name="think-cell 幻灯片" r:id="rId3" imgW="572" imgH="476" progId="TCLayout.ActiveDocument.1">
                  <p:embed/>
                  <p:pic>
                    <p:nvPicPr>
                      <p:cNvPr id="3" name="对象 2" hidden="1">
                        <a:extLst>
                          <a:ext uri="{FF2B5EF4-FFF2-40B4-BE49-F238E27FC236}">
                            <a16:creationId xmlns:a16="http://schemas.microsoft.com/office/drawing/2014/main" id="{F0E6E0A6-05D5-490F-979C-287D1F3B27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0000" y="468000"/>
            <a:ext cx="10515600" cy="432000"/>
          </a:xfrm>
        </p:spPr>
        <p:txBody>
          <a:bodyPr>
            <a:noAutofit/>
          </a:bodyPr>
          <a:lstStyle>
            <a:lvl1pPr>
              <a:defRPr sz="2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252857" y="6413502"/>
            <a:ext cx="2743200" cy="365125"/>
          </a:xfrm>
          <a:prstGeom prst="rect">
            <a:avLst/>
          </a:prstGeom>
        </p:spPr>
        <p:txBody>
          <a:bodyPr/>
          <a:lstStyle/>
          <a:p>
            <a:fld id="{71C962F8-67CB-43C0-8F4B-53AB2EE0A60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06401" y="6397752"/>
            <a:ext cx="729000" cy="17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6343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1863045"/>
            <a:ext cx="8954576" cy="2364628"/>
          </a:xfrm>
        </p:spPr>
        <p:txBody>
          <a:bodyPr>
            <a:noAutofit/>
          </a:bodyPr>
          <a:lstStyle>
            <a:lvl1pPr algn="ctr">
              <a:lnSpc>
                <a:spcPct val="120000"/>
              </a:lnSpc>
              <a:defRPr sz="4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点击修改标题 </a:t>
            </a:r>
            <a:r>
              <a:rPr lang="en-US" altLang="zh-CN" dirty="0"/>
              <a:t>Click to edit Master title style</a:t>
            </a:r>
            <a:endParaRPr 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449733" y="0"/>
            <a:ext cx="3742267" cy="686421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38283D8-711D-49EA-A6A2-89E9C62689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474" b="-3550"/>
          <a:stretch>
            <a:fillRect/>
          </a:stretch>
        </p:blipFill>
        <p:spPr>
          <a:xfrm>
            <a:off x="406400" y="457200"/>
            <a:ext cx="1615836" cy="329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709826"/>
      </p:ext>
    </p:extLst>
  </p:cSld>
  <p:clrMapOvr>
    <a:masterClrMapping/>
  </p:clrMapOvr>
</p:sldLayout>
</file>

<file path=ppt/slideMasters/_rels/slideMaster1.xml.rels><?xml version="1.0" encoding="utf-8"?>
<Relationships xmlns="http://schemas.openxmlformats.org/package/2006/relationships">
  <Relationship Id="rId8" Type="http://schemas.openxmlformats.org/officeDocument/2006/relationships/slideLayout" Target="../slideLayouts/slideLayout8.xml"/>
  <Relationship Id="rId13" Type="http://schemas.openxmlformats.org/officeDocument/2006/relationships/slideLayout" Target="../slideLayouts/slideLayout13.xml"/>
  <Relationship Id="rId18" Type="http://schemas.openxmlformats.org/officeDocument/2006/relationships/image" Target="../media/image1.emf"/>
  <Relationship Id="rId3" Type="http://schemas.openxmlformats.org/officeDocument/2006/relationships/slideLayout" Target="../slideLayouts/slideLayout3.xml"/>
  <Relationship Id="rId7" Type="http://schemas.openxmlformats.org/officeDocument/2006/relationships/slideLayout" Target="../slideLayouts/slideLayout7.xml"/>
  <Relationship Id="rId12" Type="http://schemas.openxmlformats.org/officeDocument/2006/relationships/slideLayout" Target="../slideLayouts/slideLayout12.xml"/>
  <Relationship Id="rId17" Type="http://schemas.openxmlformats.org/officeDocument/2006/relationships/oleObject" Target="../embeddings/oleObject1.bin"/>
  <Relationship Id="rId2" Type="http://schemas.openxmlformats.org/officeDocument/2006/relationships/slideLayout" Target="../slideLayouts/slideLayout2.xml"/>
  <Relationship Id="rId16" Type="http://schemas.openxmlformats.org/officeDocument/2006/relationships/tags" Target="../tags/tag2.xml"/>
  <Relationship Id="rId1" Type="http://schemas.openxmlformats.org/officeDocument/2006/relationships/slideLayout" Target="../slideLayouts/slideLayout1.xml"/>
  <Relationship Id="rId6" Type="http://schemas.openxmlformats.org/officeDocument/2006/relationships/slideLayout" Target="../slideLayouts/slideLayout6.xml"/>
  <Relationship Id="rId11" Type="http://schemas.openxmlformats.org/officeDocument/2006/relationships/slideLayout" Target="../slideLayouts/slideLayout11.xml"/>
  <Relationship Id="rId5" Type="http://schemas.openxmlformats.org/officeDocument/2006/relationships/slideLayout" Target="../slideLayouts/slideLayout5.xml"/>
  <Relationship Id="rId15" Type="http://schemas.openxmlformats.org/officeDocument/2006/relationships/theme" Target="../theme/theme1.xml"/>
  <Relationship Id="rId10" Type="http://schemas.openxmlformats.org/officeDocument/2006/relationships/slideLayout" Target="../slideLayouts/slideLayout10.xml"/>
  <Relationship Id="rId4" Type="http://schemas.openxmlformats.org/officeDocument/2006/relationships/slideLayout" Target="../slideLayouts/slideLayout4.xml"/>
  <Relationship Id="rId9" Type="http://schemas.openxmlformats.org/officeDocument/2006/relationships/slideLayout" Target="../slideLayouts/slideLayout9.xml"/>
  <Relationship Id="rId14" Type="http://schemas.openxmlformats.org/officeDocument/2006/relationships/slideLayout" Target="../slideLayouts/slideLayout14.xml"/>
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对象 6" hidden="1">
            <a:extLst>
              <a:ext uri="{FF2B5EF4-FFF2-40B4-BE49-F238E27FC236}">
                <a16:creationId xmlns:a16="http://schemas.microsoft.com/office/drawing/2014/main" id="{B39FE976-0551-4263-A7F8-89D7A51F4434}"/>
              </a:ext>
            </a:extLst>
          </p:cNvPr>
          <p:cNvGraphicFramePr>
            <a:graphicFrameLocks/>
          </p:cNvGraphicFramePr>
          <p:nvPr userDrawn="1"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34461444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7" imgW="498" imgH="499" progId="TCLayout.ActiveDocument.1">
                  <p:embed/>
                </p:oleObj>
              </mc:Choice>
              <mc:Fallback>
                <p:oleObj name="think-cell 幻灯片" r:id="rId17" imgW="498" imgH="499" progId="TCLayout.ActiveDocument.1">
                  <p:embed/>
                  <p:pic>
                    <p:nvPicPr>
                      <p:cNvPr id="7" name="对象 6" hidden="1">
                        <a:extLst>
                          <a:ext uri="{FF2B5EF4-FFF2-40B4-BE49-F238E27FC236}">
                            <a16:creationId xmlns:a16="http://schemas.microsoft.com/office/drawing/2014/main" id="{B39FE976-0551-4263-A7F8-89D7A51F44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55AF722-CB6B-4A1E-B71F-DDD9F0ED2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A9FB482-C532-44AA-9370-D5D88147E2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2E7257-0AD4-4EF0-AED3-0B39CD43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D120B2-B5F0-4593-906B-70D26E373FEC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AA3E02-412A-4D1B-AE15-2D5118F0F4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FD1E80-1A3C-4119-9EC2-8A793E7F6C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272ED1-408A-4C1C-AE41-135C32316B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811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
<Relationships xmlns="http://schemas.openxmlformats.org/package/2006/relationships">
  <Relationship Id="rId3" Type="http://schemas.openxmlformats.org/officeDocument/2006/relationships/notesSlide" Target="../notesSlides/notesSlide1.xml"/>
  <Relationship Id="rId2" Type="http://schemas.openxmlformats.org/officeDocument/2006/relationships/slideLayout" Target="../slideLayouts/slideLayout12.xml"/>
  <Relationship Id="rId1" Type="http://schemas.openxmlformats.org/officeDocument/2006/relationships/tags" Target="../tags/tag4.xml"/>
  <Relationship Id="rId5" Type="http://schemas.openxmlformats.org/officeDocument/2006/relationships/image" Target="../media/image6.emf"/>
  <Relationship Id="rId4" Type="http://schemas.openxmlformats.org/officeDocument/2006/relationships/oleObject" Target="../embeddings/oleObject3.bin"/>
</Relationships>

</file>

<file path=ppt/slides/_rels/slide2.xml.rels><?xml version="1.0" encoding="utf-8"?>
<Relationships xmlns="http://schemas.openxmlformats.org/package/2006/relationships">
  <Relationship Id="rId8" Type="http://schemas.openxmlformats.org/officeDocument/2006/relationships/oleObject" Target="../embeddings/oleObject4.bin"/>
  <Relationship Id="rId3" Type="http://schemas.openxmlformats.org/officeDocument/2006/relationships/tags" Target="../tags/tag7.xml"/>
  <Relationship Id="rId7" Type="http://schemas.openxmlformats.org/officeDocument/2006/relationships/notesSlide" Target="../notesSlides/notesSlide2.xml"/>
  <Relationship Id="rId2" Type="http://schemas.openxmlformats.org/officeDocument/2006/relationships/tags" Target="../tags/tag6.xml"/>
  <Relationship Id="rId1" Type="http://schemas.openxmlformats.org/officeDocument/2006/relationships/tags" Target="../tags/tag5.xml"/>
  <Relationship Id="rId6" Type="http://schemas.openxmlformats.org/officeDocument/2006/relationships/slideLayout" Target="../slideLayouts/slideLayout13.xml"/>
  <Relationship Id="rId5" Type="http://schemas.openxmlformats.org/officeDocument/2006/relationships/tags" Target="../tags/tag9.xml"/>
  <Relationship Id="rId10" Type="http://schemas.openxmlformats.org/officeDocument/2006/relationships/slide" Target="slide3.xml"/>
  <Relationship Id="rId4" Type="http://schemas.openxmlformats.org/officeDocument/2006/relationships/tags" Target="../tags/tag8.xml"/>
  <Relationship Id="rId9" Type="http://schemas.openxmlformats.org/officeDocument/2006/relationships/image" Target="../media/image7.emf"/>
</Relationships>

</file>

<file path=ppt/slides/_rels/slide3.xml.rels><?xml version="1.0" encoding="utf-8"?>
<Relationships xmlns="http://schemas.openxmlformats.org/package/2006/relationships">
  <Relationship Id="rId3" Type="http://schemas.openxmlformats.org/officeDocument/2006/relationships/notesSlide" Target="../notesSlides/notesSlide3.xml"/>
  <Relationship Id="rId2" Type="http://schemas.openxmlformats.org/officeDocument/2006/relationships/slideLayout" Target="../slideLayouts/slideLayout13.xml"/>
  <Relationship Id="rId1" Type="http://schemas.openxmlformats.org/officeDocument/2006/relationships/tags" Target="../tags/tag10.xml"/>
  <Relationship Id="rId5" Type="http://schemas.openxmlformats.org/officeDocument/2006/relationships/image" Target="../media/image7.emf"/>
  <Relationship Id="rId4" Type="http://schemas.openxmlformats.org/officeDocument/2006/relationships/oleObject" Target="../embeddings/oleObject5.bin"/>
</Relationships>

</file>

<file path=ppt/slides/_rels/slide4.xml.rels><?xml version="1.0" encoding="utf-8"?>
<Relationships xmlns="http://schemas.openxmlformats.org/package/2006/relationships">
  <Relationship Id="rId13" Type="http://schemas.openxmlformats.org/officeDocument/2006/relationships/tags" Target="../tags/tag23.xml"/>
  <Relationship Id="rId18" Type="http://schemas.openxmlformats.org/officeDocument/2006/relationships/tags" Target="../tags/tag28.xml"/>
  <Relationship Id="rId26" Type="http://schemas.openxmlformats.org/officeDocument/2006/relationships/tags" Target="../tags/tag36.xml"/>
  <Relationship Id="rId39" Type="http://schemas.openxmlformats.org/officeDocument/2006/relationships/tags" Target="../tags/tag49.xml"/>
  <Relationship Id="rId21" Type="http://schemas.openxmlformats.org/officeDocument/2006/relationships/tags" Target="../tags/tag31.xml"/>
  <Relationship Id="rId34" Type="http://schemas.openxmlformats.org/officeDocument/2006/relationships/tags" Target="../tags/tag44.xml"/>
  <Relationship Id="rId42" Type="http://schemas.openxmlformats.org/officeDocument/2006/relationships/tags" Target="../tags/tag52.xml"/>
  <Relationship Id="rId47" Type="http://schemas.openxmlformats.org/officeDocument/2006/relationships/notesSlide" Target="../notesSlides/notesSlide4.xml"/>
  <Relationship Id="rId50" Type="http://schemas.openxmlformats.org/officeDocument/2006/relationships/chart" Target="../charts/chart1.xml"/>
  <Relationship Id="rId7" Type="http://schemas.openxmlformats.org/officeDocument/2006/relationships/tags" Target="../tags/tag17.xml"/>
  <Relationship Id="rId2" Type="http://schemas.openxmlformats.org/officeDocument/2006/relationships/tags" Target="../tags/tag12.xml"/>
  <Relationship Id="rId16" Type="http://schemas.openxmlformats.org/officeDocument/2006/relationships/tags" Target="../tags/tag26.xml"/>
  <Relationship Id="rId29" Type="http://schemas.openxmlformats.org/officeDocument/2006/relationships/tags" Target="../tags/tag39.xml"/>
  <Relationship Id="rId11" Type="http://schemas.openxmlformats.org/officeDocument/2006/relationships/tags" Target="../tags/tag21.xml"/>
  <Relationship Id="rId24" Type="http://schemas.openxmlformats.org/officeDocument/2006/relationships/tags" Target="../tags/tag34.xml"/>
  <Relationship Id="rId32" Type="http://schemas.openxmlformats.org/officeDocument/2006/relationships/tags" Target="../tags/tag42.xml"/>
  <Relationship Id="rId37" Type="http://schemas.openxmlformats.org/officeDocument/2006/relationships/tags" Target="../tags/tag47.xml"/>
  <Relationship Id="rId40" Type="http://schemas.openxmlformats.org/officeDocument/2006/relationships/tags" Target="../tags/tag50.xml"/>
  <Relationship Id="rId45" Type="http://schemas.openxmlformats.org/officeDocument/2006/relationships/tags" Target="../tags/tag55.xml"/>
  <Relationship Id="rId5" Type="http://schemas.openxmlformats.org/officeDocument/2006/relationships/tags" Target="../tags/tag15.xml"/>
  <Relationship Id="rId15" Type="http://schemas.openxmlformats.org/officeDocument/2006/relationships/tags" Target="../tags/tag25.xml"/>
  <Relationship Id="rId23" Type="http://schemas.openxmlformats.org/officeDocument/2006/relationships/tags" Target="../tags/tag33.xml"/>
  <Relationship Id="rId28" Type="http://schemas.openxmlformats.org/officeDocument/2006/relationships/tags" Target="../tags/tag38.xml"/>
  <Relationship Id="rId36" Type="http://schemas.openxmlformats.org/officeDocument/2006/relationships/tags" Target="../tags/tag46.xml"/>
  <Relationship Id="rId49" Type="http://schemas.openxmlformats.org/officeDocument/2006/relationships/image" Target="../media/image8.emf"/>
  <Relationship Id="rId10" Type="http://schemas.openxmlformats.org/officeDocument/2006/relationships/tags" Target="../tags/tag20.xml"/>
  <Relationship Id="rId19" Type="http://schemas.openxmlformats.org/officeDocument/2006/relationships/tags" Target="../tags/tag29.xml"/>
  <Relationship Id="rId31" Type="http://schemas.openxmlformats.org/officeDocument/2006/relationships/tags" Target="../tags/tag41.xml"/>
  <Relationship Id="rId44" Type="http://schemas.openxmlformats.org/officeDocument/2006/relationships/tags" Target="../tags/tag54.xml"/>
  <Relationship Id="rId52" Type="http://schemas.openxmlformats.org/officeDocument/2006/relationships/chart" Target="../charts/chart3.xml"/>
  <Relationship Id="rId4" Type="http://schemas.openxmlformats.org/officeDocument/2006/relationships/tags" Target="../tags/tag14.xml"/>
  <Relationship Id="rId9" Type="http://schemas.openxmlformats.org/officeDocument/2006/relationships/tags" Target="../tags/tag19.xml"/>
  <Relationship Id="rId14" Type="http://schemas.openxmlformats.org/officeDocument/2006/relationships/tags" Target="../tags/tag24.xml"/>
  <Relationship Id="rId22" Type="http://schemas.openxmlformats.org/officeDocument/2006/relationships/tags" Target="../tags/tag32.xml"/>
  <Relationship Id="rId27" Type="http://schemas.openxmlformats.org/officeDocument/2006/relationships/tags" Target="../tags/tag37.xml"/>
  <Relationship Id="rId30" Type="http://schemas.openxmlformats.org/officeDocument/2006/relationships/tags" Target="../tags/tag40.xml"/>
  <Relationship Id="rId35" Type="http://schemas.openxmlformats.org/officeDocument/2006/relationships/tags" Target="../tags/tag45.xml"/>
  <Relationship Id="rId43" Type="http://schemas.openxmlformats.org/officeDocument/2006/relationships/tags" Target="../tags/tag53.xml"/>
  <Relationship Id="rId48" Type="http://schemas.openxmlformats.org/officeDocument/2006/relationships/oleObject" Target="../embeddings/oleObject6.bin"/>
  <Relationship Id="rId8" Type="http://schemas.openxmlformats.org/officeDocument/2006/relationships/tags" Target="../tags/tag18.xml"/>
  <Relationship Id="rId51" Type="http://schemas.openxmlformats.org/officeDocument/2006/relationships/chart" Target="../charts/chart2.xml"/>
  <Relationship Id="rId3" Type="http://schemas.openxmlformats.org/officeDocument/2006/relationships/tags" Target="../tags/tag13.xml"/>
  <Relationship Id="rId12" Type="http://schemas.openxmlformats.org/officeDocument/2006/relationships/tags" Target="../tags/tag22.xml"/>
  <Relationship Id="rId17" Type="http://schemas.openxmlformats.org/officeDocument/2006/relationships/tags" Target="../tags/tag27.xml"/>
  <Relationship Id="rId25" Type="http://schemas.openxmlformats.org/officeDocument/2006/relationships/tags" Target="../tags/tag35.xml"/>
  <Relationship Id="rId33" Type="http://schemas.openxmlformats.org/officeDocument/2006/relationships/tags" Target="../tags/tag43.xml"/>
  <Relationship Id="rId38" Type="http://schemas.openxmlformats.org/officeDocument/2006/relationships/tags" Target="../tags/tag48.xml"/>
  <Relationship Id="rId46" Type="http://schemas.openxmlformats.org/officeDocument/2006/relationships/slideLayout" Target="../slideLayouts/slideLayout13.xml"/>
  <Relationship Id="rId20" Type="http://schemas.openxmlformats.org/officeDocument/2006/relationships/tags" Target="../tags/tag30.xml"/>
  <Relationship Id="rId41" Type="http://schemas.openxmlformats.org/officeDocument/2006/relationships/tags" Target="../tags/tag51.xml"/>
  <Relationship Id="rId1" Type="http://schemas.openxmlformats.org/officeDocument/2006/relationships/tags" Target="../tags/tag11.xml"/>
  <Relationship Id="rId6" Type="http://schemas.openxmlformats.org/officeDocument/2006/relationships/tags" Target="../tags/tag16.xml"/>
</Relationships>

</file>

<file path=ppt/slides/_rels/slide5.xml.rels><?xml version="1.0" encoding="utf-8"?>
<Relationships xmlns="http://schemas.openxmlformats.org/package/2006/relationships">
  <Relationship Id="rId13" Type="http://schemas.openxmlformats.org/officeDocument/2006/relationships/tags" Target="../tags/tag68.xml"/>
  <Relationship Id="rId18" Type="http://schemas.openxmlformats.org/officeDocument/2006/relationships/tags" Target="../tags/tag73.xml"/>
  <Relationship Id="rId26" Type="http://schemas.openxmlformats.org/officeDocument/2006/relationships/tags" Target="../tags/tag81.xml"/>
  <Relationship Id="rId39" Type="http://schemas.openxmlformats.org/officeDocument/2006/relationships/tags" Target="../tags/tag94.xml"/>
  <Relationship Id="rId21" Type="http://schemas.openxmlformats.org/officeDocument/2006/relationships/tags" Target="../tags/tag76.xml"/>
  <Relationship Id="rId34" Type="http://schemas.openxmlformats.org/officeDocument/2006/relationships/tags" Target="../tags/tag89.xml"/>
  <Relationship Id="rId42" Type="http://schemas.openxmlformats.org/officeDocument/2006/relationships/tags" Target="../tags/tag97.xml"/>
  <Relationship Id="rId47" Type="http://schemas.openxmlformats.org/officeDocument/2006/relationships/tags" Target="../tags/tag102.xml"/>
  <Relationship Id="rId50" Type="http://schemas.openxmlformats.org/officeDocument/2006/relationships/tags" Target="../tags/tag105.xml"/>
  <Relationship Id="rId55" Type="http://schemas.openxmlformats.org/officeDocument/2006/relationships/chart" Target="../charts/chart4.xml"/>
  <Relationship Id="rId7" Type="http://schemas.openxmlformats.org/officeDocument/2006/relationships/tags" Target="../tags/tag62.xml"/>
  <Relationship Id="rId2" Type="http://schemas.openxmlformats.org/officeDocument/2006/relationships/tags" Target="../tags/tag57.xml"/>
  <Relationship Id="rId16" Type="http://schemas.openxmlformats.org/officeDocument/2006/relationships/tags" Target="../tags/tag71.xml"/>
  <Relationship Id="rId29" Type="http://schemas.openxmlformats.org/officeDocument/2006/relationships/tags" Target="../tags/tag84.xml"/>
  <Relationship Id="rId11" Type="http://schemas.openxmlformats.org/officeDocument/2006/relationships/tags" Target="../tags/tag66.xml"/>
  <Relationship Id="rId24" Type="http://schemas.openxmlformats.org/officeDocument/2006/relationships/tags" Target="../tags/tag79.xml"/>
  <Relationship Id="rId32" Type="http://schemas.openxmlformats.org/officeDocument/2006/relationships/tags" Target="../tags/tag87.xml"/>
  <Relationship Id="rId37" Type="http://schemas.openxmlformats.org/officeDocument/2006/relationships/tags" Target="../tags/tag92.xml"/>
  <Relationship Id="rId40" Type="http://schemas.openxmlformats.org/officeDocument/2006/relationships/tags" Target="../tags/tag95.xml"/>
  <Relationship Id="rId45" Type="http://schemas.openxmlformats.org/officeDocument/2006/relationships/tags" Target="../tags/tag100.xml"/>
  <Relationship Id="rId53" Type="http://schemas.openxmlformats.org/officeDocument/2006/relationships/oleObject" Target="../embeddings/oleObject7.bin"/>
  <Relationship Id="rId58" Type="http://schemas.openxmlformats.org/officeDocument/2006/relationships/chart" Target="../charts/chart7.xml"/>
  <Relationship Id="rId5" Type="http://schemas.openxmlformats.org/officeDocument/2006/relationships/tags" Target="../tags/tag60.xml"/>
  <Relationship Id="rId61" Type="http://schemas.openxmlformats.org/officeDocument/2006/relationships/chart" Target="../charts/chart10.xml"/>
  <Relationship Id="rId19" Type="http://schemas.openxmlformats.org/officeDocument/2006/relationships/tags" Target="../tags/tag74.xml"/>
  <Relationship Id="rId14" Type="http://schemas.openxmlformats.org/officeDocument/2006/relationships/tags" Target="../tags/tag69.xml"/>
  <Relationship Id="rId22" Type="http://schemas.openxmlformats.org/officeDocument/2006/relationships/tags" Target="../tags/tag77.xml"/>
  <Relationship Id="rId27" Type="http://schemas.openxmlformats.org/officeDocument/2006/relationships/tags" Target="../tags/tag82.xml"/>
  <Relationship Id="rId30" Type="http://schemas.openxmlformats.org/officeDocument/2006/relationships/tags" Target="../tags/tag85.xml"/>
  <Relationship Id="rId35" Type="http://schemas.openxmlformats.org/officeDocument/2006/relationships/tags" Target="../tags/tag90.xml"/>
  <Relationship Id="rId43" Type="http://schemas.openxmlformats.org/officeDocument/2006/relationships/tags" Target="../tags/tag98.xml"/>
  <Relationship Id="rId48" Type="http://schemas.openxmlformats.org/officeDocument/2006/relationships/tags" Target="../tags/tag103.xml"/>
  <Relationship Id="rId56" Type="http://schemas.openxmlformats.org/officeDocument/2006/relationships/chart" Target="../charts/chart5.xml"/>
  <Relationship Id="rId8" Type="http://schemas.openxmlformats.org/officeDocument/2006/relationships/tags" Target="../tags/tag63.xml"/>
  <Relationship Id="rId51" Type="http://schemas.openxmlformats.org/officeDocument/2006/relationships/slideLayout" Target="../slideLayouts/slideLayout13.xml"/>
  <Relationship Id="rId3" Type="http://schemas.openxmlformats.org/officeDocument/2006/relationships/tags" Target="../tags/tag58.xml"/>
  <Relationship Id="rId12" Type="http://schemas.openxmlformats.org/officeDocument/2006/relationships/tags" Target="../tags/tag67.xml"/>
  <Relationship Id="rId17" Type="http://schemas.openxmlformats.org/officeDocument/2006/relationships/tags" Target="../tags/tag72.xml"/>
  <Relationship Id="rId25" Type="http://schemas.openxmlformats.org/officeDocument/2006/relationships/tags" Target="../tags/tag80.xml"/>
  <Relationship Id="rId33" Type="http://schemas.openxmlformats.org/officeDocument/2006/relationships/tags" Target="../tags/tag88.xml"/>
  <Relationship Id="rId38" Type="http://schemas.openxmlformats.org/officeDocument/2006/relationships/tags" Target="../tags/tag93.xml"/>
  <Relationship Id="rId46" Type="http://schemas.openxmlformats.org/officeDocument/2006/relationships/tags" Target="../tags/tag101.xml"/>
  <Relationship Id="rId59" Type="http://schemas.openxmlformats.org/officeDocument/2006/relationships/chart" Target="../charts/chart8.xml"/>
  <Relationship Id="rId20" Type="http://schemas.openxmlformats.org/officeDocument/2006/relationships/tags" Target="../tags/tag75.xml"/>
  <Relationship Id="rId41" Type="http://schemas.openxmlformats.org/officeDocument/2006/relationships/tags" Target="../tags/tag96.xml"/>
  <Relationship Id="rId54" Type="http://schemas.openxmlformats.org/officeDocument/2006/relationships/image" Target="../media/image8.emf"/>
  <Relationship Id="rId62" Type="http://schemas.openxmlformats.org/officeDocument/2006/relationships/chart" Target="../charts/chart11.xml"/>
  <Relationship Id="rId1" Type="http://schemas.openxmlformats.org/officeDocument/2006/relationships/tags" Target="../tags/tag56.xml"/>
  <Relationship Id="rId6" Type="http://schemas.openxmlformats.org/officeDocument/2006/relationships/tags" Target="../tags/tag61.xml"/>
  <Relationship Id="rId15" Type="http://schemas.openxmlformats.org/officeDocument/2006/relationships/tags" Target="../tags/tag70.xml"/>
  <Relationship Id="rId23" Type="http://schemas.openxmlformats.org/officeDocument/2006/relationships/tags" Target="../tags/tag78.xml"/>
  <Relationship Id="rId28" Type="http://schemas.openxmlformats.org/officeDocument/2006/relationships/tags" Target="../tags/tag83.xml"/>
  <Relationship Id="rId36" Type="http://schemas.openxmlformats.org/officeDocument/2006/relationships/tags" Target="../tags/tag91.xml"/>
  <Relationship Id="rId49" Type="http://schemas.openxmlformats.org/officeDocument/2006/relationships/tags" Target="../tags/tag104.xml"/>
  <Relationship Id="rId57" Type="http://schemas.openxmlformats.org/officeDocument/2006/relationships/chart" Target="../charts/chart6.xml"/>
  <Relationship Id="rId10" Type="http://schemas.openxmlformats.org/officeDocument/2006/relationships/tags" Target="../tags/tag65.xml"/>
  <Relationship Id="rId31" Type="http://schemas.openxmlformats.org/officeDocument/2006/relationships/tags" Target="../tags/tag86.xml"/>
  <Relationship Id="rId44" Type="http://schemas.openxmlformats.org/officeDocument/2006/relationships/tags" Target="../tags/tag99.xml"/>
  <Relationship Id="rId52" Type="http://schemas.openxmlformats.org/officeDocument/2006/relationships/notesSlide" Target="../notesSlides/notesSlide5.xml"/>
  <Relationship Id="rId60" Type="http://schemas.openxmlformats.org/officeDocument/2006/relationships/chart" Target="../charts/chart9.xml"/>
  <Relationship Id="rId4" Type="http://schemas.openxmlformats.org/officeDocument/2006/relationships/tags" Target="../tags/tag59.xml"/>
  <Relationship Id="rId9" Type="http://schemas.openxmlformats.org/officeDocument/2006/relationships/tags" Target="../tags/tag64.xml"/>
</Relationships>

</file>

<file path=ppt/slides/_rels/slide6.xml.rels><?xml version="1.0" encoding="utf-8"?>
<Relationships xmlns="http://schemas.openxmlformats.org/package/2006/relationships">
  <Relationship Id="rId3" Type="http://schemas.openxmlformats.org/officeDocument/2006/relationships/tags" Target="../tags/tag108.xml"/>
  <Relationship Id="rId7" Type="http://schemas.openxmlformats.org/officeDocument/2006/relationships/image" Target="../media/image9.emf"/>
  <Relationship Id="rId2" Type="http://schemas.openxmlformats.org/officeDocument/2006/relationships/tags" Target="../tags/tag107.xml"/>
  <Relationship Id="rId1" Type="http://schemas.openxmlformats.org/officeDocument/2006/relationships/tags" Target="../tags/tag106.xml"/>
  <Relationship Id="rId6" Type="http://schemas.openxmlformats.org/officeDocument/2006/relationships/oleObject" Target="../embeddings/oleObject8.bin"/>
  <Relationship Id="rId5" Type="http://schemas.openxmlformats.org/officeDocument/2006/relationships/notesSlide" Target="../notesSlides/notesSlide6.xml"/>
  <Relationship Id="rId4" Type="http://schemas.openxmlformats.org/officeDocument/2006/relationships/slideLayout" Target="../slideLayouts/slideLayout13.xml"/>
</Relationships>

</file>

<file path=ppt/slides/_rels/slide7.xml.rels><?xml version="1.0" encoding="utf-8"?>
<Relationships xmlns="http://schemas.openxmlformats.org/package/2006/relationships">
  <Relationship Id="rId3" Type="http://schemas.openxmlformats.org/officeDocument/2006/relationships/slideLayout" Target="../slideLayouts/slideLayout13.xml"/>
  <Relationship Id="rId2" Type="http://schemas.openxmlformats.org/officeDocument/2006/relationships/tags" Target="../tags/tag110.xml"/>
  <Relationship Id="rId1" Type="http://schemas.openxmlformats.org/officeDocument/2006/relationships/tags" Target="../tags/tag109.xml"/>
  <Relationship Id="rId5" Type="http://schemas.openxmlformats.org/officeDocument/2006/relationships/image" Target="../media/image4.emf"/>
  <Relationship Id="rId4" Type="http://schemas.openxmlformats.org/officeDocument/2006/relationships/oleObject" Target="../embeddings/oleObject9.bin"/>
</Relationships>

</file>

<file path=ppt/slides/_rels/slide8.xml.rels><?xml version="1.0" encoding="utf-8"?>
<Relationships xmlns="http://schemas.openxmlformats.org/package/2006/relationships">
  <Relationship Id="rId3" Type="http://schemas.openxmlformats.org/officeDocument/2006/relationships/oleObject" Target="../embeddings/oleObject10.bin"/>
  <Relationship Id="rId2" Type="http://schemas.openxmlformats.org/officeDocument/2006/relationships/slideLayout" Target="../slideLayouts/slideLayout13.xml"/>
  <Relationship Id="rId1" Type="http://schemas.openxmlformats.org/officeDocument/2006/relationships/tags" Target="../tags/tag111.xml"/>
  <Relationship Id="rId4" Type="http://schemas.openxmlformats.org/officeDocument/2006/relationships/image" Target="../media/image10.emf"/>
</Relationships>

</file>

<file path=ppt/slides/_rels/slide9.xml.rels><?xml version="1.0" encoding="utf-8"?>
<Relationships xmlns="http://schemas.openxmlformats.org/package/2006/relationships">
  <Relationship Id="rId26" Type="http://schemas.openxmlformats.org/officeDocument/2006/relationships/tags" Target="../tags/tag137.xml"/>
  <Relationship Id="rId21" Type="http://schemas.openxmlformats.org/officeDocument/2006/relationships/tags" Target="../tags/tag132.xml"/>
  <Relationship Id="rId42" Type="http://schemas.openxmlformats.org/officeDocument/2006/relationships/tags" Target="../tags/tag153.xml"/>
  <Relationship Id="rId47" Type="http://schemas.openxmlformats.org/officeDocument/2006/relationships/tags" Target="../tags/tag158.xml"/>
  <Relationship Id="rId63" Type="http://schemas.openxmlformats.org/officeDocument/2006/relationships/tags" Target="../tags/tag174.xml"/>
  <Relationship Id="rId68" Type="http://schemas.openxmlformats.org/officeDocument/2006/relationships/oleObject" Target="../embeddings/oleObject11.bin"/>
  <Relationship Id="rId2" Type="http://schemas.openxmlformats.org/officeDocument/2006/relationships/tags" Target="../tags/tag113.xml"/>
  <Relationship Id="rId16" Type="http://schemas.openxmlformats.org/officeDocument/2006/relationships/tags" Target="../tags/tag127.xml"/>
  <Relationship Id="rId29" Type="http://schemas.openxmlformats.org/officeDocument/2006/relationships/tags" Target="../tags/tag140.xml"/>
  <Relationship Id="rId11" Type="http://schemas.openxmlformats.org/officeDocument/2006/relationships/tags" Target="../tags/tag122.xml"/>
  <Relationship Id="rId24" Type="http://schemas.openxmlformats.org/officeDocument/2006/relationships/tags" Target="../tags/tag135.xml"/>
  <Relationship Id="rId32" Type="http://schemas.openxmlformats.org/officeDocument/2006/relationships/tags" Target="../tags/tag143.xml"/>
  <Relationship Id="rId37" Type="http://schemas.openxmlformats.org/officeDocument/2006/relationships/tags" Target="../tags/tag148.xml"/>
  <Relationship Id="rId40" Type="http://schemas.openxmlformats.org/officeDocument/2006/relationships/tags" Target="../tags/tag151.xml"/>
  <Relationship Id="rId45" Type="http://schemas.openxmlformats.org/officeDocument/2006/relationships/tags" Target="../tags/tag156.xml"/>
  <Relationship Id="rId53" Type="http://schemas.openxmlformats.org/officeDocument/2006/relationships/tags" Target="../tags/tag164.xml"/>
  <Relationship Id="rId58" Type="http://schemas.openxmlformats.org/officeDocument/2006/relationships/tags" Target="../tags/tag169.xml"/>
  <Relationship Id="rId66" Type="http://schemas.openxmlformats.org/officeDocument/2006/relationships/slideLayout" Target="../slideLayouts/slideLayout13.xml"/>
  <Relationship Id="rId74" Type="http://schemas.openxmlformats.org/officeDocument/2006/relationships/chart" Target="../charts/chart16.xml"/>
  <Relationship Id="rId5" Type="http://schemas.openxmlformats.org/officeDocument/2006/relationships/tags" Target="../tags/tag116.xml"/>
  <Relationship Id="rId61" Type="http://schemas.openxmlformats.org/officeDocument/2006/relationships/tags" Target="../tags/tag172.xml"/>
  <Relationship Id="rId19" Type="http://schemas.openxmlformats.org/officeDocument/2006/relationships/tags" Target="../tags/tag130.xml"/>
  <Relationship Id="rId14" Type="http://schemas.openxmlformats.org/officeDocument/2006/relationships/tags" Target="../tags/tag125.xml"/>
  <Relationship Id="rId22" Type="http://schemas.openxmlformats.org/officeDocument/2006/relationships/tags" Target="../tags/tag133.xml"/>
  <Relationship Id="rId27" Type="http://schemas.openxmlformats.org/officeDocument/2006/relationships/tags" Target="../tags/tag138.xml"/>
  <Relationship Id="rId30" Type="http://schemas.openxmlformats.org/officeDocument/2006/relationships/tags" Target="../tags/tag141.xml"/>
  <Relationship Id="rId35" Type="http://schemas.openxmlformats.org/officeDocument/2006/relationships/tags" Target="../tags/tag146.xml"/>
  <Relationship Id="rId43" Type="http://schemas.openxmlformats.org/officeDocument/2006/relationships/tags" Target="../tags/tag154.xml"/>
  <Relationship Id="rId48" Type="http://schemas.openxmlformats.org/officeDocument/2006/relationships/tags" Target="../tags/tag159.xml"/>
  <Relationship Id="rId56" Type="http://schemas.openxmlformats.org/officeDocument/2006/relationships/tags" Target="../tags/tag167.xml"/>
  <Relationship Id="rId64" Type="http://schemas.openxmlformats.org/officeDocument/2006/relationships/tags" Target="../tags/tag175.xml"/>
  <Relationship Id="rId69" Type="http://schemas.openxmlformats.org/officeDocument/2006/relationships/image" Target="../media/image6.emf"/>
  <Relationship Id="rId8" Type="http://schemas.openxmlformats.org/officeDocument/2006/relationships/tags" Target="../tags/tag119.xml"/>
  <Relationship Id="rId51" Type="http://schemas.openxmlformats.org/officeDocument/2006/relationships/tags" Target="../tags/tag162.xml"/>
  <Relationship Id="rId72" Type="http://schemas.openxmlformats.org/officeDocument/2006/relationships/chart" Target="../charts/chart14.xml"/>
  <Relationship Id="rId3" Type="http://schemas.openxmlformats.org/officeDocument/2006/relationships/tags" Target="../tags/tag114.xml"/>
  <Relationship Id="rId12" Type="http://schemas.openxmlformats.org/officeDocument/2006/relationships/tags" Target="../tags/tag123.xml"/>
  <Relationship Id="rId17" Type="http://schemas.openxmlformats.org/officeDocument/2006/relationships/tags" Target="../tags/tag128.xml"/>
  <Relationship Id="rId25" Type="http://schemas.openxmlformats.org/officeDocument/2006/relationships/tags" Target="../tags/tag136.xml"/>
  <Relationship Id="rId33" Type="http://schemas.openxmlformats.org/officeDocument/2006/relationships/tags" Target="../tags/tag144.xml"/>
  <Relationship Id="rId38" Type="http://schemas.openxmlformats.org/officeDocument/2006/relationships/tags" Target="../tags/tag149.xml"/>
  <Relationship Id="rId46" Type="http://schemas.openxmlformats.org/officeDocument/2006/relationships/tags" Target="../tags/tag157.xml"/>
  <Relationship Id="rId59" Type="http://schemas.openxmlformats.org/officeDocument/2006/relationships/tags" Target="../tags/tag170.xml"/>
  <Relationship Id="rId67" Type="http://schemas.openxmlformats.org/officeDocument/2006/relationships/notesSlide" Target="../notesSlides/notesSlide7.xml"/>
  <Relationship Id="rId20" Type="http://schemas.openxmlformats.org/officeDocument/2006/relationships/tags" Target="../tags/tag131.xml"/>
  <Relationship Id="rId41" Type="http://schemas.openxmlformats.org/officeDocument/2006/relationships/tags" Target="../tags/tag152.xml"/>
  <Relationship Id="rId54" Type="http://schemas.openxmlformats.org/officeDocument/2006/relationships/tags" Target="../tags/tag165.xml"/>
  <Relationship Id="rId62" Type="http://schemas.openxmlformats.org/officeDocument/2006/relationships/tags" Target="../tags/tag173.xml"/>
  <Relationship Id="rId70" Type="http://schemas.openxmlformats.org/officeDocument/2006/relationships/chart" Target="../charts/chart12.xml"/>
  <Relationship Id="rId75" Type="http://schemas.openxmlformats.org/officeDocument/2006/relationships/chart" Target="../charts/chart17.xml"/>
  <Relationship Id="rId1" Type="http://schemas.openxmlformats.org/officeDocument/2006/relationships/tags" Target="../tags/tag112.xml"/>
  <Relationship Id="rId6" Type="http://schemas.openxmlformats.org/officeDocument/2006/relationships/tags" Target="../tags/tag117.xml"/>
  <Relationship Id="rId15" Type="http://schemas.openxmlformats.org/officeDocument/2006/relationships/tags" Target="../tags/tag126.xml"/>
  <Relationship Id="rId23" Type="http://schemas.openxmlformats.org/officeDocument/2006/relationships/tags" Target="../tags/tag134.xml"/>
  <Relationship Id="rId28" Type="http://schemas.openxmlformats.org/officeDocument/2006/relationships/tags" Target="../tags/tag139.xml"/>
  <Relationship Id="rId36" Type="http://schemas.openxmlformats.org/officeDocument/2006/relationships/tags" Target="../tags/tag147.xml"/>
  <Relationship Id="rId49" Type="http://schemas.openxmlformats.org/officeDocument/2006/relationships/tags" Target="../tags/tag160.xml"/>
  <Relationship Id="rId57" Type="http://schemas.openxmlformats.org/officeDocument/2006/relationships/tags" Target="../tags/tag168.xml"/>
  <Relationship Id="rId10" Type="http://schemas.openxmlformats.org/officeDocument/2006/relationships/tags" Target="../tags/tag121.xml"/>
  <Relationship Id="rId31" Type="http://schemas.openxmlformats.org/officeDocument/2006/relationships/tags" Target="../tags/tag142.xml"/>
  <Relationship Id="rId44" Type="http://schemas.openxmlformats.org/officeDocument/2006/relationships/tags" Target="../tags/tag155.xml"/>
  <Relationship Id="rId52" Type="http://schemas.openxmlformats.org/officeDocument/2006/relationships/tags" Target="../tags/tag163.xml"/>
  <Relationship Id="rId60" Type="http://schemas.openxmlformats.org/officeDocument/2006/relationships/tags" Target="../tags/tag171.xml"/>
  <Relationship Id="rId65" Type="http://schemas.openxmlformats.org/officeDocument/2006/relationships/tags" Target="../tags/tag176.xml"/>
  <Relationship Id="rId73" Type="http://schemas.openxmlformats.org/officeDocument/2006/relationships/chart" Target="../charts/chart15.xml"/>
  <Relationship Id="rId4" Type="http://schemas.openxmlformats.org/officeDocument/2006/relationships/tags" Target="../tags/tag115.xml"/>
  <Relationship Id="rId9" Type="http://schemas.openxmlformats.org/officeDocument/2006/relationships/tags" Target="../tags/tag120.xml"/>
  <Relationship Id="rId13" Type="http://schemas.openxmlformats.org/officeDocument/2006/relationships/tags" Target="../tags/tag124.xml"/>
  <Relationship Id="rId18" Type="http://schemas.openxmlformats.org/officeDocument/2006/relationships/tags" Target="../tags/tag129.xml"/>
  <Relationship Id="rId39" Type="http://schemas.openxmlformats.org/officeDocument/2006/relationships/tags" Target="../tags/tag150.xml"/>
  <Relationship Id="rId34" Type="http://schemas.openxmlformats.org/officeDocument/2006/relationships/tags" Target="../tags/tag145.xml"/>
  <Relationship Id="rId50" Type="http://schemas.openxmlformats.org/officeDocument/2006/relationships/tags" Target="../tags/tag161.xml"/>
  <Relationship Id="rId55" Type="http://schemas.openxmlformats.org/officeDocument/2006/relationships/tags" Target="../tags/tag166.xml"/>
  <Relationship Id="rId7" Type="http://schemas.openxmlformats.org/officeDocument/2006/relationships/tags" Target="../tags/tag118.xml"/>
  <Relationship Id="rId71" Type="http://schemas.openxmlformats.org/officeDocument/2006/relationships/chart" Target="../charts/chart13.xml"/>
</Relationships>

</file>

<file path=ppt/slides/_rels/slide10.xml.rels><?xml version="1.0" encoding="utf-8"?>
<Relationships xmlns="http://schemas.openxmlformats.org/package/2006/relationships">
  <Relationship Id="rId3" Type="http://schemas.openxmlformats.org/officeDocument/2006/relationships/notesSlide" Target="../notesSlides/notesSlide8.xml"/>
  <Relationship Id="rId2" Type="http://schemas.openxmlformats.org/officeDocument/2006/relationships/slideLayout" Target="../slideLayouts/slideLayout13.xml"/>
  <Relationship Id="rId1" Type="http://schemas.openxmlformats.org/officeDocument/2006/relationships/tags" Target="../tags/tag177.xml"/>
  <Relationship Id="rId5" Type="http://schemas.openxmlformats.org/officeDocument/2006/relationships/image" Target="../media/image11.emf"/>
  <Relationship Id="rId4" Type="http://schemas.openxmlformats.org/officeDocument/2006/relationships/oleObject" Target="../embeddings/oleObject12.bin"/>
</Relationships>

</file>

<file path=ppt/slides/_rels/slide11.xml.rels><?xml version="1.0" encoding="utf-8"?>
<Relationships xmlns="http://schemas.openxmlformats.org/package/2006/relationships">
  <Relationship Id="rId8" Type="http://schemas.openxmlformats.org/officeDocument/2006/relationships/oleObject" Target="../embeddings/oleObject4.bin"/>
  <Relationship Id="rId3" Type="http://schemas.openxmlformats.org/officeDocument/2006/relationships/tags" Target="../tags/tag180.xml"/>
  <Relationship Id="rId7" Type="http://schemas.openxmlformats.org/officeDocument/2006/relationships/notesSlide" Target="../notesSlides/notesSlide9.xml"/>
  <Relationship Id="rId2" Type="http://schemas.openxmlformats.org/officeDocument/2006/relationships/tags" Target="../tags/tag179.xml"/>
  <Relationship Id="rId1" Type="http://schemas.openxmlformats.org/officeDocument/2006/relationships/tags" Target="../tags/tag178.xml"/>
  <Relationship Id="rId6" Type="http://schemas.openxmlformats.org/officeDocument/2006/relationships/slideLayout" Target="../slideLayouts/slideLayout13.xml"/>
  <Relationship Id="rId5" Type="http://schemas.openxmlformats.org/officeDocument/2006/relationships/tags" Target="../tags/tag182.xml"/>
  <Relationship Id="rId10" Type="http://schemas.openxmlformats.org/officeDocument/2006/relationships/slide" Target="slide3.xml"/>
  <Relationship Id="rId4" Type="http://schemas.openxmlformats.org/officeDocument/2006/relationships/tags" Target="../tags/tag181.xml"/>
  <Relationship Id="rId9" Type="http://schemas.openxmlformats.org/officeDocument/2006/relationships/image" Target="../media/image7.emf"/>
</Relationships>

</file>

<file path=ppt/slides/_rels/slide12.xml.rels><?xml version="1.0" encoding="utf-8"?>
<Relationships xmlns="http://schemas.openxmlformats.org/package/2006/relationships">
  <Relationship Id="rId3" Type="http://schemas.openxmlformats.org/officeDocument/2006/relationships/oleObject" Target="../embeddings/oleObject13.bin"/>
  <Relationship Id="rId2" Type="http://schemas.openxmlformats.org/officeDocument/2006/relationships/slideLayout" Target="../slideLayouts/slideLayout13.xml"/>
  <Relationship Id="rId1" Type="http://schemas.openxmlformats.org/officeDocument/2006/relationships/tags" Target="../tags/tag183.xml"/>
  <Relationship Id="rId4" Type="http://schemas.openxmlformats.org/officeDocument/2006/relationships/image" Target="../media/image12.emf"/>
</Relationships>

</file>

<file path=ppt/slides/_rels/slide13.xml.rels><?xml version="1.0" encoding="utf-8"?>
<Relationships xmlns="http://schemas.openxmlformats.org/package/2006/relationships">
  <Relationship Id="rId3" Type="http://schemas.openxmlformats.org/officeDocument/2006/relationships/notesSlide" Target="../notesSlides/notesSlide10.xml"/>
  <Relationship Id="rId2" Type="http://schemas.openxmlformats.org/officeDocument/2006/relationships/slideLayout" Target="../slideLayouts/slideLayout14.xml"/>
  <Relationship Id="rId1" Type="http://schemas.openxmlformats.org/officeDocument/2006/relationships/tags" Target="../tags/tag184.xml"/>
  <Relationship Id="rId5" Type="http://schemas.openxmlformats.org/officeDocument/2006/relationships/image" Target="../media/image7.emf"/>
  <Relationship Id="rId4" Type="http://schemas.openxmlformats.org/officeDocument/2006/relationships/oleObject" Target="../embeddings/oleObject4.bin"/>
</Relationships>

</file>

<file path=ppt/slides/slide1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/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val="279134142"/>
              </p:ext>
            </p:extLst>
          </p:nvPr>
        </p:nvGraphicFramePr>
        <p:xfrm>
          <a:off x="1525588" y="1588"/>
          <a:ext cx="1588" cy="1588"/>
        </p:xfrm>
        <a:graphic>
          <a:graphicData uri="http://schemas.openxmlformats.org/presentationml/2006/ole">
            <mc:AlternateContent>
              <mc:Choice Requires="v">
                <p:oleObj name="think-cell 幻灯片" r:id="rId4" imgW="12700" imgH="12700" progId="TCLayout.ActiveDocument.1">
                  <p:embed/>
                </p:oleObj>
              </mc:Choice>
              <mc:Fallback>
                <p:oleObj name="think-cell 幻灯片" r:id="rId4" imgW="12700" imgH="12700" progId="TCLayout.ActiveDocument.1">
                  <p:embed/>
                  <p:pic>
                    <p:nvPicPr>
                      <p:cNvPr id="3" name="对象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25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266231" y="1742275"/>
            <a:ext cx="5953844" cy="2364628"/>
          </a:xfrm>
        </p:spPr>
        <p:txBody>
          <a:bodyPr vert="horz" rIns="91440">
            <a:noAutofit/>
          </a:bodyPr>
          <a:lstStyle/>
          <a:p>
            <a:pPr marL="6985"/>
            <a:r>
              <a:rPr lang="en-US" altLang="zh-CN" sz="4000" dirty="0"/>
              <a:t>1,111</a:t>
            </a:r>
            <a:r>
              <a:rPr lang="zh-CN" altLang="en-US" sz="4000" dirty="0"/>
              <a:t>年一季度经营简报</a:t>
            </a:r>
            <a:endParaRPr lang="en-US" sz="4000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5887806" y="4932034"/>
            <a:ext cx="1818307" cy="386521"/>
          </a:xfrm>
        </p:spPr>
        <p:txBody>
          <a:bodyPr>
            <a:normAutofit/>
          </a:bodyPr>
          <a:lstStyle/>
          <a:p>
            <a:pPr lvl="0" algn="r">
              <a:lnSpc>
                <a:spcPct val="100000"/>
              </a:lnSpc>
            </a:pPr>
            <a:r>
              <a:rPr lang="en-US" altLang="zh-CN" dirty="0">
                <a:solidFill>
                  <a:srgbClr val="D80C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FZZhengHeiS-R-GB" charset="-122"/>
              </a:rPr>
              <a:t>2,222.3</a:t>
            </a:r>
          </a:p>
        </p:txBody>
      </p:sp>
    </p:spTree>
    <p:extLst>
      <p:ext uri="{BB962C8B-B14F-4D97-AF65-F5344CB8AC3E}">
        <p14:creationId val="2867055810"/>
      </p:ext>
    </p:extLst>
  </p:cSld>
  <p:clrMapOvr>
    <a:masterClrMapping/>
  </p:clrMapOvr>
</p:sld>
</file>

<file path=ppt/slides/slide2.xml><?xml version="1.0" encoding="utf-8"?>
<p:sld xmlns:a="http://schemas.openxmlformats.org/drawingml/2006/main" xmlns:a16="http://schemas.microsoft.com/office/drawing/2014/main" xmlns:mc="http://schemas.openxmlformats.org/markup-compatibility/2006" xmlns:ns5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>
            <a:extLst>
              <a:ext uri="{FF2B5EF4-FFF2-40B4-BE49-F238E27FC236}">
                <a16:creationId id="{9C642556-9BB3-4E73-8CF1-6B09E5F8C282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25588" y="1588"/>
          <a:ext cx="1588" cy="1588"/>
        </p:xfrm>
        <a:graphic>
          <a:graphicData uri="http://schemas.openxmlformats.org/presentationml/2006/ole">
            <mc:AlternateContent>
              <mc:Choice Requires="v">
                <p:oleObj name="think-cell 幻灯片" r:id="rId8" imgW="572" imgH="429" progId="TCLayout.ActiveDocument.1">
                  <p:embed/>
                </p:oleObj>
              </mc:Choice>
              <mc:Fallback>
                <p:oleObj name="think-cell 幻灯片" r:id="rId8" imgW="572" imgH="429" progId="TCLayout.ActiveDocument.1">
                  <p:embed/>
                  <p:pic>
                    <p:nvPicPr>
                      <p:cNvPr id="3" name="对象 2" hidden="1">
                        <a:extLst>
                          <a:ext uri="{FF2B5EF4-FFF2-40B4-BE49-F238E27FC236}">
                            <a16:creationId id="{9C642556-9BB3-4E73-8CF1-6B09E5F8C2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25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WordArt 293"/>
          <p:cNvSpPr>
            <a:spLocks noChangeArrowheads="1" noChangeShapeType="1" noTextEdit="1"/>
          </p:cNvSpPr>
          <p:nvPr/>
        </p:nvSpPr>
        <p:spPr bwMode="auto">
          <a:xfrm>
            <a:off x="2114637" y="2092798"/>
            <a:ext cx="2016224" cy="951042"/>
          </a:xfrm>
          <a:prstGeom prst="rect">
            <a:avLst/>
          </a:prstGeom>
          <a:extLst>
            <a:ext uri="{91240B29-F687-4F45-9708-019B960494DF}">
              <ns5:hiddenLine w="9525">
                <a:solidFill>
                  <a:srgbClr val="000000"/>
                </a:solidFill>
                <a:round/>
                <a:headEnd/>
                <a:tailEnd/>
              </ns5:hiddenLine>
            </a:ext>
          </a:extLst>
        </p:spPr>
        <p:txBody>
          <a:bodyPr wrap="none" fromWordArt="1" anchor="ctr"/>
          <a:lstStyle/>
          <a:p>
            <a:pPr algn="ctr"/>
            <a:r>
              <a:rPr lang="zh-CN" altLang="en-US" sz="4000" b="1" kern="10" spc="700" dirty="0">
                <a:latin typeface="微软雅黑" pitchFamily="34" charset="-122"/>
                <a:ea typeface="微软雅黑" pitchFamily="34" charset="-122"/>
              </a:rPr>
              <a:t>目录</a:t>
            </a:r>
          </a:p>
        </p:txBody>
      </p:sp>
      <p:sp>
        <p:nvSpPr>
          <p:cNvPr id="5" name="WordArt 294"/>
          <p:cNvSpPr>
            <a:spLocks noChangeArrowheads="1" noChangeShapeType="1" noTextEdit="1"/>
          </p:cNvSpPr>
          <p:nvPr/>
        </p:nvSpPr>
        <p:spPr bwMode="auto">
          <a:xfrm>
            <a:off x="2475781" y="3267030"/>
            <a:ext cx="2232368" cy="498982"/>
          </a:xfrm>
          <a:prstGeom prst="rect">
            <a:avLst/>
          </a:prstGeom>
          <a:extLst>
            <a:ext uri="{91240B29-F687-4F45-9708-019B960494DF}">
              <ns5:hiddenLine w="9525">
                <a:solidFill>
                  <a:srgbClr val="000000"/>
                </a:solidFill>
                <a:round/>
                <a:headEnd/>
                <a:tailEnd/>
              </ns5:hiddenLine>
            </a:ext>
          </a:extLst>
        </p:spPr>
        <p:txBody>
          <a:bodyPr wrap="none" fromWordArt="1" anchor="ctr"/>
          <a:lstStyle/>
          <a:p>
            <a:pPr algn="ctr"/>
            <a:r>
              <a:rPr lang="en-US" altLang="zh-CN" sz="2800" b="1" kern="10" dirty="0">
                <a:latin typeface="微软雅黑" pitchFamily="34" charset="-122"/>
                <a:ea typeface="微软雅黑" pitchFamily="34" charset="-122"/>
              </a:rPr>
              <a:t>CONTENTS</a:t>
            </a:r>
            <a:endParaRPr lang="zh-CN" altLang="en-US" sz="2800" b="1" kern="1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MH_Entry_2">
            <a:hlinkClick r:id="rId10" action="ppaction://hlinksldjump"/>
          </p:cNvPr>
          <p:cNvSpPr/>
          <p:nvPr>
            <p:custDataLst>
              <p:tags r:id="rId2"/>
            </p:custDataLst>
          </p:nvPr>
        </p:nvSpPr>
        <p:spPr>
          <a:xfrm>
            <a:off x="6210431" y="2297191"/>
            <a:ext cx="3097359" cy="436133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0 w 2520280"/>
              <a:gd name="connsiteY7" fmla="*/ 0 h 1872208"/>
              <a:gd name="connsiteX0" fmla="*/ 0 w 2520280"/>
              <a:gd name="connsiteY0" fmla="*/ 1872208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0 h 1872208"/>
              <a:gd name="connsiteX5" fmla="*/ 2520280 w 2520280"/>
              <a:gd name="connsiteY5" fmla="*/ 0 h 1872208"/>
              <a:gd name="connsiteX6" fmla="*/ 0 w 2520280"/>
              <a:gd name="connsiteY6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2520280 w 2520280"/>
              <a:gd name="connsiteY4" fmla="*/ 0 h 1872208"/>
              <a:gd name="connsiteX5" fmla="*/ 0 w 2520280"/>
              <a:gd name="connsiteY5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34255 w 2520280"/>
              <a:gd name="connsiteY4" fmla="*/ 0 h 1872208"/>
              <a:gd name="connsiteX5" fmla="*/ 0 w 2520280"/>
              <a:gd name="connsiteY5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917 w 2520280"/>
              <a:gd name="connsiteY4" fmla="*/ 6036 h 1872208"/>
              <a:gd name="connsiteX5" fmla="*/ 0 w 2520280"/>
              <a:gd name="connsiteY5" fmla="*/ 0 h 1872208"/>
              <a:gd name="connsiteX0" fmla="*/ 0 w 2520280"/>
              <a:gd name="connsiteY0" fmla="*/ 1890314 h 1890314"/>
              <a:gd name="connsiteX1" fmla="*/ 2520280 w 2520280"/>
              <a:gd name="connsiteY1" fmla="*/ 1890314 h 1890314"/>
              <a:gd name="connsiteX2" fmla="*/ 0 w 2520280"/>
              <a:gd name="connsiteY2" fmla="*/ 1890314 h 1890314"/>
              <a:gd name="connsiteX3" fmla="*/ 0 w 2520280"/>
              <a:gd name="connsiteY3" fmla="*/ 18106 h 1890314"/>
              <a:gd name="connsiteX4" fmla="*/ 53304 w 2520280"/>
              <a:gd name="connsiteY4" fmla="*/ 0 h 1890314"/>
              <a:gd name="connsiteX5" fmla="*/ 0 w 2520280"/>
              <a:gd name="connsiteY5" fmla="*/ 18106 h 1890314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916 w 2520280"/>
              <a:gd name="connsiteY4" fmla="*/ 0 h 1872208"/>
              <a:gd name="connsiteX5" fmla="*/ 0 w 2520280"/>
              <a:gd name="connsiteY5" fmla="*/ 0 h 187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/>
          <a:ln w="12700" cap="sq" cmpd="sng" algn="ctr">
            <a:solidFill>
              <a:srgbClr val="B2B2B2"/>
            </a:solidFill>
            <a:prstDash val="dash"/>
            <a:bevel/>
          </a:ln>
          <a:effectLst/>
        </p:spPr>
        <p:txBody>
          <a:bodyPr rot="0" spcFirstLastPara="0" vertOverflow="overflow" horzOverflow="overflow" vert="horz" wrap="square" lIns="108000" tIns="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 kern="0" dirty="0">
                <a:latin typeface="微软雅黑" pitchFamily="34" charset="-122"/>
                <a:ea typeface="微软雅黑" pitchFamily="34" charset="-122"/>
              </a:rPr>
              <a:t>经营简况（微众银行）</a:t>
            </a:r>
          </a:p>
        </p:txBody>
      </p:sp>
      <p:sp>
        <p:nvSpPr>
          <p:cNvPr id="9" name="MH_Number_1">
            <a:hlinkClick r:id="rId10" action="ppaction://hlinksldjump"/>
          </p:cNvPr>
          <p:cNvSpPr/>
          <p:nvPr>
            <p:custDataLst>
              <p:tags r:id="rId3"/>
            </p:custDataLst>
          </p:nvPr>
        </p:nvSpPr>
        <p:spPr>
          <a:xfrm>
            <a:off x="5420126" y="2310864"/>
            <a:ext cx="526870" cy="435640"/>
          </a:xfrm>
          <a:custGeom>
            <a:avLst/>
            <a:gdLst>
              <a:gd name="connsiteX0" fmla="*/ 93305 w 373220"/>
              <a:gd name="connsiteY0" fmla="*/ 0 h 323217"/>
              <a:gd name="connsiteX1" fmla="*/ 279915 w 373220"/>
              <a:gd name="connsiteY1" fmla="*/ 0 h 323217"/>
              <a:gd name="connsiteX2" fmla="*/ 373220 w 373220"/>
              <a:gd name="connsiteY2" fmla="*/ 161609 h 323217"/>
              <a:gd name="connsiteX3" fmla="*/ 279915 w 373220"/>
              <a:gd name="connsiteY3" fmla="*/ 323217 h 323217"/>
              <a:gd name="connsiteX4" fmla="*/ 93306 w 373220"/>
              <a:gd name="connsiteY4" fmla="*/ 323216 h 323217"/>
              <a:gd name="connsiteX5" fmla="*/ 0 w 373220"/>
              <a:gd name="connsiteY5" fmla="*/ 161608 h 323217"/>
              <a:gd name="connsiteX6" fmla="*/ 93305 w 373220"/>
              <a:gd name="connsiteY6" fmla="*/ 0 h 3232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73220" h="323217">
                <a:moveTo>
                  <a:pt x="93305" y="0"/>
                </a:moveTo>
                <a:lnTo>
                  <a:pt x="279915" y="0"/>
                </a:lnTo>
                <a:lnTo>
                  <a:pt x="373220" y="161609"/>
                </a:lnTo>
                <a:lnTo>
                  <a:pt x="279915" y="323217"/>
                </a:lnTo>
                <a:lnTo>
                  <a:pt x="93306" y="323216"/>
                </a:lnTo>
                <a:lnTo>
                  <a:pt x="0" y="161608"/>
                </a:lnTo>
                <a:lnTo>
                  <a:pt x="93305" y="0"/>
                </a:lnTo>
                <a:close/>
              </a:path>
            </a:pathLst>
          </a:custGeom>
          <a:noFill/>
          <a:ln w="25400" cap="flat" cmpd="sng" algn="ctr">
            <a:solidFill>
              <a:srgbClr val="4F81BD"/>
            </a:solidFill>
            <a:prstDash val="solid"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defRPr/>
            </a:pPr>
            <a:r>
              <a:rPr lang="en-US" altLang="zh-CN" sz="2400" b="1" kern="0" dirty="0">
                <a:solidFill>
                  <a:srgbClr val="4F81BD">
                    <a:lumMod val="75000"/>
                  </a:srgbClr>
                </a:solidFill>
                <a:latin typeface="Calibri"/>
                <a:ea typeface="Alt Matey" pitchFamily="2" charset="0"/>
                <a:cs typeface="Arial" panose="020B0604020202020204" pitchFamily="34" charset="0"/>
              </a:rPr>
              <a:t>8</a:t>
            </a:r>
            <a:endParaRPr lang="zh-CN" altLang="en-US" sz="2400" b="1" kern="0" dirty="0">
              <a:solidFill>
                <a:srgbClr val="4F81BD">
                  <a:lumMod val="75000"/>
                </a:srgbClr>
              </a:solidFill>
              <a:latin typeface="Calibri"/>
              <a:ea typeface="Alt Matey" pitchFamily="2" charset="0"/>
              <a:cs typeface="Arial" panose="020B0604020202020204" pitchFamily="34" charset="0"/>
            </a:endParaRPr>
          </a:p>
        </p:txBody>
      </p:sp>
      <p:sp>
        <p:nvSpPr>
          <p:cNvPr id="2" name="MH_Number_1">
            <a:hlinkClick r:id="rId10" action="ppaction://hlinksldjump"/>
            <a:extLst>
              <a:ext uri="{FF2B5EF4-FFF2-40B4-BE49-F238E27FC236}">
                <a16:creationId id="{C6CA3E15-B7F7-9FEE-A885-930AC12326D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946996" y="3183669"/>
            <a:ext cx="526870" cy="435640"/>
          </a:xfrm>
          <a:custGeom>
            <a:avLst/>
            <a:gdLst>
              <a:gd name="connsiteX0" fmla="*/ 93305 w 373220"/>
              <a:gd name="connsiteY0" fmla="*/ 0 h 323217"/>
              <a:gd name="connsiteX1" fmla="*/ 279915 w 373220"/>
              <a:gd name="connsiteY1" fmla="*/ 0 h 323217"/>
              <a:gd name="connsiteX2" fmla="*/ 373220 w 373220"/>
              <a:gd name="connsiteY2" fmla="*/ 161609 h 323217"/>
              <a:gd name="connsiteX3" fmla="*/ 279915 w 373220"/>
              <a:gd name="connsiteY3" fmla="*/ 323217 h 323217"/>
              <a:gd name="connsiteX4" fmla="*/ 93306 w 373220"/>
              <a:gd name="connsiteY4" fmla="*/ 323216 h 323217"/>
              <a:gd name="connsiteX5" fmla="*/ 0 w 373220"/>
              <a:gd name="connsiteY5" fmla="*/ 161608 h 323217"/>
              <a:gd name="connsiteX6" fmla="*/ 93305 w 373220"/>
              <a:gd name="connsiteY6" fmla="*/ 0 h 3232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73220" h="323217">
                <a:moveTo>
                  <a:pt x="93305" y="0"/>
                </a:moveTo>
                <a:lnTo>
                  <a:pt x="279915" y="0"/>
                </a:lnTo>
                <a:lnTo>
                  <a:pt x="373220" y="161609"/>
                </a:lnTo>
                <a:lnTo>
                  <a:pt x="279915" y="323217"/>
                </a:lnTo>
                <a:lnTo>
                  <a:pt x="93306" y="323216"/>
                </a:lnTo>
                <a:lnTo>
                  <a:pt x="0" y="161608"/>
                </a:lnTo>
                <a:lnTo>
                  <a:pt x="93305" y="0"/>
                </a:lnTo>
                <a:close/>
              </a:path>
            </a:pathLst>
          </a:custGeom>
          <a:noFill/>
          <a:ln w="25400" cap="flat" cmpd="sng" algn="ctr">
            <a:solidFill>
              <a:srgbClr val="4F81BD"/>
            </a:solidFill>
            <a:prstDash val="solid"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defRPr/>
            </a:pPr>
            <a:r>
              <a:rPr lang="en-US" altLang="zh-CN" sz="2400" b="1" kern="0" dirty="0">
                <a:solidFill>
                  <a:srgbClr val="4F81BD">
                    <a:lumMod val="75000"/>
                  </a:srgbClr>
                </a:solidFill>
                <a:latin typeface="Calibri"/>
                <a:ea typeface="Alt Matey" pitchFamily="2" charset="0"/>
                <a:cs typeface="Arial" panose="020B0604020202020204" pitchFamily="34" charset="0"/>
              </a:rPr>
              <a:t>9</a:t>
            </a:r>
            <a:endParaRPr lang="zh-CN" altLang="en-US" sz="2400" b="1" kern="0" dirty="0">
              <a:solidFill>
                <a:srgbClr val="4F81BD">
                  <a:lumMod val="75000"/>
                </a:srgbClr>
              </a:solidFill>
              <a:latin typeface="Calibri"/>
              <a:ea typeface="Alt Matey" pitchFamily="2" charset="0"/>
              <a:cs typeface="Arial" panose="020B0604020202020204" pitchFamily="34" charset="0"/>
            </a:endParaRPr>
          </a:p>
        </p:txBody>
      </p:sp>
      <p:sp>
        <p:nvSpPr>
          <p:cNvPr id="10" name="MH_Entry_2">
            <a:hlinkClick r:id="rId10" action="ppaction://hlinksldjump"/>
            <a:extLst>
              <a:ext uri="{FF2B5EF4-FFF2-40B4-BE49-F238E27FC236}">
                <a16:creationId id="{D1736BC0-5267-90B9-A2E2-B35EDE53AAB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662708" y="3167932"/>
            <a:ext cx="2812842" cy="436133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0 w 2520280"/>
              <a:gd name="connsiteY7" fmla="*/ 0 h 1872208"/>
              <a:gd name="connsiteX0" fmla="*/ 0 w 2520280"/>
              <a:gd name="connsiteY0" fmla="*/ 1872208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0 h 1872208"/>
              <a:gd name="connsiteX5" fmla="*/ 2520280 w 2520280"/>
              <a:gd name="connsiteY5" fmla="*/ 0 h 1872208"/>
              <a:gd name="connsiteX6" fmla="*/ 0 w 2520280"/>
              <a:gd name="connsiteY6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2520280 w 2520280"/>
              <a:gd name="connsiteY4" fmla="*/ 0 h 1872208"/>
              <a:gd name="connsiteX5" fmla="*/ 0 w 2520280"/>
              <a:gd name="connsiteY5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34255 w 2520280"/>
              <a:gd name="connsiteY4" fmla="*/ 0 h 1872208"/>
              <a:gd name="connsiteX5" fmla="*/ 0 w 2520280"/>
              <a:gd name="connsiteY5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917 w 2520280"/>
              <a:gd name="connsiteY4" fmla="*/ 6036 h 1872208"/>
              <a:gd name="connsiteX5" fmla="*/ 0 w 2520280"/>
              <a:gd name="connsiteY5" fmla="*/ 0 h 1872208"/>
              <a:gd name="connsiteX0" fmla="*/ 0 w 2520280"/>
              <a:gd name="connsiteY0" fmla="*/ 1890314 h 1890314"/>
              <a:gd name="connsiteX1" fmla="*/ 2520280 w 2520280"/>
              <a:gd name="connsiteY1" fmla="*/ 1890314 h 1890314"/>
              <a:gd name="connsiteX2" fmla="*/ 0 w 2520280"/>
              <a:gd name="connsiteY2" fmla="*/ 1890314 h 1890314"/>
              <a:gd name="connsiteX3" fmla="*/ 0 w 2520280"/>
              <a:gd name="connsiteY3" fmla="*/ 18106 h 1890314"/>
              <a:gd name="connsiteX4" fmla="*/ 53304 w 2520280"/>
              <a:gd name="connsiteY4" fmla="*/ 0 h 1890314"/>
              <a:gd name="connsiteX5" fmla="*/ 0 w 2520280"/>
              <a:gd name="connsiteY5" fmla="*/ 18106 h 1890314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916 w 2520280"/>
              <a:gd name="connsiteY4" fmla="*/ 0 h 1872208"/>
              <a:gd name="connsiteX5" fmla="*/ 0 w 2520280"/>
              <a:gd name="connsiteY5" fmla="*/ 0 h 187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/>
          <a:ln w="12700" cap="sq" cmpd="sng" algn="ctr">
            <a:solidFill>
              <a:srgbClr val="B2B2B2"/>
            </a:solidFill>
            <a:prstDash val="dash"/>
            <a:bevel/>
          </a:ln>
          <a:effectLst/>
        </p:spPr>
        <p:txBody>
          <a:bodyPr rot="0" spcFirstLastPara="0" vertOverflow="overflow" horzOverflow="overflow" vert="horz" wrap="square" lIns="108000" tIns="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 kern="0" dirty="0">
                <a:solidFill>
                  <a:schemeClr val="bg2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经营简况（集团口径）</a:t>
            </a:r>
          </a:p>
        </p:txBody>
      </p:sp>
    </p:spTree>
    <p:extLst>
      <p:ext uri="{BB962C8B-B14F-4D97-AF65-F5344CB8AC3E}">
        <p14:creationId val="2574952974"/>
      </p:ext>
    </p:extLst>
  </p:cSld>
  <p:clrMapOvr>
    <a:masterClrMapping/>
  </p:clrMapOvr>
</p:sld>
</file>

<file path=ppt/slides/slide3.xml><?xml version="1.0" encoding="utf-8"?>
<p:sld xmlns:a="http://schemas.openxmlformats.org/drawingml/2006/main" xmlns:a16="http://schemas.microsoft.com/office/drawing/2014/main" xmlns:mc="http://schemas.openxmlformats.org/markup-compatibility/2006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>
            <a:extLst>
              <a:ext uri="{FF2B5EF4-FFF2-40B4-BE49-F238E27FC236}">
                <a16:creationId id="{FA025282-47AD-4390-9BCC-7A693587457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val="2863000083"/>
              </p:ext>
            </p:extLst>
          </p:nvPr>
        </p:nvGraphicFramePr>
        <p:xfrm>
          <a:off x="1525588" y="1588"/>
          <a:ext cx="1588" cy="1588"/>
        </p:xfrm>
        <a:graphic>
          <a:graphicData uri="http://schemas.openxmlformats.org/presentationml/2006/ole">
            <mc:AlternateContent>
              <mc:Choice Requires="v">
                <p:oleObj name="think-cell 幻灯片" r:id="rId4" imgW="572" imgH="429" progId="TCLayout.ActiveDocument.1">
                  <p:embed/>
                </p:oleObj>
              </mc:Choice>
              <mc:Fallback>
                <p:oleObj name="think-cell 幻灯片" r:id="rId4" imgW="572" imgH="429" progId="TCLayout.ActiveDocument.1">
                  <p:embed/>
                  <p:pic>
                    <p:nvPicPr>
                      <p:cNvPr id="2" name="对象 1" hidden="1">
                        <a:extLst>
                          <a:ext uri="{FF2B5EF4-FFF2-40B4-BE49-F238E27FC236}">
                            <a16:creationId id="{FA025282-47AD-4390-9BCC-7A69358745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25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标题 3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zh-CN" dirty="0">
                <a:solidFill>
                  <a:srgbClr val="000000"/>
                </a:solidFill>
                <a:cs typeface="+mn-cs"/>
              </a:rPr>
              <a:t>经营概要</a:t>
            </a:r>
            <a:endParaRPr lang="zh-CN" altLang="en-US" dirty="0">
              <a:solidFill>
                <a:srgbClr val="FF0000"/>
              </a:solidFill>
              <a:highlight>
                <a:srgbClr val="FFFF00"/>
              </a:highlight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962F8-67CB-43C0-8F4B-53AB2EE0A60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val="2612260758"/>
              </p:ext>
            </p:extLst>
          </p:nvPr>
        </p:nvGraphicFramePr>
        <p:xfrm>
          <a:off x="152400" y="1721454"/>
          <a:ext cx="11700887" cy="36944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9363">
                  <a:extLst>
                    <a:ext uri="{9D8B030D-6E8A-4147-A177-3AD203B41FA5}">
                      <a16:colId val="20000"/>
                    </a:ext>
                  </a:extLst>
                </a:gridCol>
                <a:gridCol w="900000">
                  <a:extLst>
                    <a:ext uri="{9D8B030D-6E8A-4147-A177-3AD203B41FA5}">
                      <a16:colId val="20001"/>
                    </a:ext>
                  </a:extLst>
                </a:gridCol>
                <a:gridCol w="1044000">
                  <a:extLst>
                    <a:ext uri="{9D8B030D-6E8A-4147-A177-3AD203B41FA5}">
                      <a16:colId val="2192893061"/>
                    </a:ext>
                  </a:extLst>
                </a:gridCol>
                <a:gridCol w="1195800">
                  <a:extLst>
                    <a:ext uri="{9D8B030D-6E8A-4147-A177-3AD203B41FA5}">
                      <a16:colId val="4458292"/>
                    </a:ext>
                  </a:extLst>
                </a:gridCol>
                <a:gridCol w="199301">
                  <a:extLst>
                    <a:ext uri="{9D8B030D-6E8A-4147-A177-3AD203B41FA5}">
                      <a16:colId val="2684558367"/>
                    </a:ext>
                  </a:extLst>
                </a:gridCol>
                <a:gridCol w="1200737">
                  <a:extLst>
                    <a:ext uri="{9D8B030D-6E8A-4147-A177-3AD203B41FA5}">
                      <a16:colId val="20003"/>
                    </a:ext>
                  </a:extLst>
                </a:gridCol>
                <a:gridCol w="877706">
                  <a:extLst>
                    <a:ext uri="{9D8B030D-6E8A-4147-A177-3AD203B41FA5}">
                      <a16:colId val="20004"/>
                    </a:ext>
                  </a:extLst>
                </a:gridCol>
                <a:gridCol w="965643">
                  <a:extLst>
                    <a:ext uri="{9D8B030D-6E8A-4147-A177-3AD203B41FA5}">
                      <a16:colId val="20005"/>
                    </a:ext>
                  </a:extLst>
                </a:gridCol>
                <a:gridCol w="1559956">
                  <a:extLst>
                    <a:ext uri="{9D8B030D-6E8A-4147-A177-3AD203B41FA5}">
                      <a16:colId val="20006"/>
                    </a:ext>
                  </a:extLst>
                </a:gridCol>
                <a:gridCol w="764741">
                  <a:extLst>
                    <a:ext uri="{9D8B030D-6E8A-4147-A177-3AD203B41FA5}">
                      <a16:colId val="20007"/>
                    </a:ext>
                  </a:extLst>
                </a:gridCol>
                <a:gridCol w="786820">
                  <a:extLst>
                    <a:ext uri="{9D8B030D-6E8A-4147-A177-3AD203B41FA5}">
                      <a16:colId val="39776347"/>
                    </a:ext>
                  </a:extLst>
                </a:gridCol>
                <a:gridCol w="786820">
                  <a:extLst>
                    <a:ext uri="{9D8B030D-6E8A-4147-A177-3AD203B41FA5}">
                      <a16:colId val="1553400623"/>
                    </a:ext>
                  </a:extLst>
                </a:gridCol>
              </a:tblGrid>
              <a:tr h="729688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b="1" i="0" u="none" strike="noStrike" dirty="0">
                          <a:solidFill>
                            <a:srgbClr val="2E75B6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客户</a:t>
                      </a:r>
                      <a:r>
                        <a:rPr lang="en-US" altLang="zh-CN" sz="2000" b="1" i="0" u="none" strike="noStrike" dirty="0">
                          <a:solidFill>
                            <a:srgbClr val="2E75B6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/</a:t>
                      </a:r>
                      <a:r>
                        <a:rPr lang="zh-CN" altLang="en-US" sz="2000" b="1" i="0" u="none" strike="noStrike" dirty="0">
                          <a:solidFill>
                            <a:srgbClr val="2E75B6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业务</a:t>
                      </a:r>
                    </a:p>
                  </a:txBody>
                  <a:tcPr marL="180000" marR="0" marT="0" marB="0" anchor="ctr">
                    <a:lnB w="12700" cmpd="sng"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en-US" altLang="zh-CN" sz="1200" b="1" i="0" u="none" strike="noStrike" dirty="0">
                        <a:solidFill>
                          <a:srgbClr val="000000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marL="0" marR="0" marT="0" marB="0" anchor="ctr"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marL="0" marR="0" marT="0" marB="0" anchor="ctr"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marL="0" marR="0" marT="0" marB="0" anchor="ctr"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b="1" i="0" u="none" strike="noStrike" dirty="0">
                          <a:solidFill>
                            <a:srgbClr val="2E75B6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财务</a:t>
                      </a:r>
                    </a:p>
                  </a:txBody>
                  <a:tcPr marL="288000" marR="0" marT="0" marB="0" anchor="ctr"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　</a:t>
                      </a:r>
                    </a:p>
                  </a:txBody>
                  <a:tcPr marL="0" marR="0" marT="0" marB="0" anchor="ctr"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　</a:t>
                      </a:r>
                    </a:p>
                  </a:txBody>
                  <a:tcPr marL="0" marR="0" marT="0" marB="0" anchor="ctr"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b="1" i="0" u="none" strike="noStrike" kern="1200" dirty="0">
                          <a:solidFill>
                            <a:srgbClr val="2E75B6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+mn-cs"/>
                        </a:rPr>
                        <a:t>风险</a:t>
                      </a:r>
                    </a:p>
                  </a:txBody>
                  <a:tcPr marL="540000" marR="0" marT="0" marB="0" anchor="ctr"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zh-CN" sz="1200" b="1" i="0" u="none" strike="noStrike" dirty="0">
                        <a:solidFill>
                          <a:srgbClr val="000000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marL="0" marR="0" marT="0" marB="0" anchor="ctr"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marL="0" marR="0" marT="0" marB="0" anchor="ctr"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marL="0" marR="0" marT="0" marB="0" anchor="ctr"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val="10000"/>
                  </a:ext>
                </a:extLst>
              </a:tr>
              <a:tr h="264772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1" i="0" u="none" strike="noStrike" dirty="0">
                        <a:solidFill>
                          <a:srgbClr val="2E75B6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80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本期末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比上月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比年初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143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本年累计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同比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6800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本期末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比上月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比年初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•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累计有效客户</a:t>
                      </a:r>
                    </a:p>
                  </a:txBody>
                  <a:tcPr marL="180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22,222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333/0.5%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666/0.1%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en-US" altLang="zh-CN" sz="1400" b="0" i="0" u="none" strike="noStrike" dirty="0">
                        <a:solidFill>
                          <a:srgbClr val="C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•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营业收入</a:t>
                      </a:r>
                    </a:p>
                  </a:txBody>
                  <a:tcPr marL="324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22.3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-4.5%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•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管理不良率</a:t>
                      </a:r>
                    </a:p>
                  </a:txBody>
                  <a:tcPr marL="46800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6.77%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-0.99%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0.22%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val="10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•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管理贷款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marL="180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3,333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444/5.6%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77/0.9%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en-US" altLang="zh-CN" sz="1400" b="0" i="0" u="none" strike="noStrike" dirty="0">
                        <a:solidFill>
                          <a:srgbClr val="C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•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净利润</a:t>
                      </a:r>
                      <a:endParaRPr lang="zh-CN" altLang="en-US" sz="1200" b="0" i="0" u="none" strike="noStrike" baseline="30000" dirty="0">
                        <a:solidFill>
                          <a:srgbClr val="000000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marL="324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11.2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0.4%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•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自持不良率</a:t>
                      </a:r>
                    </a:p>
                  </a:txBody>
                  <a:tcPr marL="46800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5.66%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-0.88%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0.11%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val="1000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•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各项贷款</a:t>
                      </a:r>
                    </a:p>
                  </a:txBody>
                  <a:tcPr marL="180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2,222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333/4.5%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666/7.8%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en-US" altLang="zh-CN" sz="1400" b="0" i="0" u="none" strike="noStrike" dirty="0">
                        <a:solidFill>
                          <a:srgbClr val="C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•ROA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marL="324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9.11%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-0.33%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•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贷款拨备率</a:t>
                      </a:r>
                    </a:p>
                  </a:txBody>
                  <a:tcPr marL="46800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4.55%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-0.77%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0.99%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val="1000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•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管理资产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marL="180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11,111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-2,222/-3.4%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555/6.7%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en-US" altLang="zh-CN" sz="1400" b="0" i="0" u="none" strike="noStrike" dirty="0">
                        <a:solidFill>
                          <a:srgbClr val="C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•ROAE</a:t>
                      </a:r>
                      <a:r>
                        <a:rPr lang="zh-CN" altLang="en-US" sz="12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注</a:t>
                      </a:r>
                      <a:r>
                        <a:rPr lang="en-US" altLang="zh-CN" sz="12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8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marL="324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99.1%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-2.3%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•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拨备覆盖率</a:t>
                      </a:r>
                    </a:p>
                  </a:txBody>
                  <a:tcPr marL="46800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444%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-55%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-66%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val="1000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•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各项存款</a:t>
                      </a:r>
                    </a:p>
                  </a:txBody>
                  <a:tcPr marL="180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7,777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-888/-9.1%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222/3.4%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en-US" altLang="zh-CN" sz="1400" b="0" i="0" u="none" strike="noStrike" dirty="0">
                        <a:solidFill>
                          <a:srgbClr val="C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•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净息差</a:t>
                      </a:r>
                    </a:p>
                  </a:txBody>
                  <a:tcPr marL="324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5.66%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-7.88%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•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资本充足率</a:t>
                      </a:r>
                      <a:r>
                        <a:rPr lang="zh-CN" altLang="en-US" sz="12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注</a:t>
                      </a:r>
                      <a:r>
                        <a:rPr lang="en-US" altLang="zh-CN" sz="12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9</a:t>
                      </a:r>
                      <a:endParaRPr lang="zh-CN" altLang="en-US" sz="1200" b="0" i="0" u="none" strike="noStrike" baseline="30000" dirty="0">
                        <a:solidFill>
                          <a:srgbClr val="000000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marL="46800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11.22%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3.44%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-0.66%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257140" y="1283568"/>
            <a:ext cx="17067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latin typeface="KaiTi" panose="02010609060101010101" pitchFamily="49" charset="-122"/>
                <a:ea typeface="KaiTi" panose="02010609060101010101" pitchFamily="49" charset="-122"/>
              </a:rPr>
              <a:t>77.8</a:t>
            </a:r>
          </a:p>
          <a:p>
            <a:r>
              <a:rPr lang="zh-CN" altLang="en-US" sz="1000" b="1" dirty="0">
                <a:latin typeface="KaiTi" panose="02010609060101010101" pitchFamily="49" charset="-122"/>
                <a:ea typeface="KaiTi" panose="02010609060101010101" pitchFamily="49" charset="-122"/>
              </a:rPr>
              <a:t>单位：万户、亿元</a:t>
            </a:r>
          </a:p>
        </p:txBody>
      </p:sp>
      <p:sp>
        <p:nvSpPr>
          <p:cNvPr id="5" name="TextBox 4">
            <a:extLst>
              <a:ext uri="{FF2B5EF4-FFF2-40B4-BE49-F238E27FC236}">
                <a16:creationId id="{14037515-CAB8-EADC-4067-5D24A3118137}"/>
              </a:ext>
            </a:extLst>
          </p:cNvPr>
          <p:cNvSpPr txBox="1"/>
          <p:nvPr/>
        </p:nvSpPr>
        <p:spPr>
          <a:xfrm>
            <a:off x="346264" y="5677014"/>
            <a:ext cx="6935141" cy="475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900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[</a:t>
            </a:r>
            <a:r>
              <a:rPr lang="zh-CN" altLang="en-US" sz="900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注</a:t>
            </a:r>
            <a:r>
              <a:rPr lang="en-US" altLang="zh-CN" sz="900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9]ROAE</a:t>
            </a:r>
            <a:r>
              <a:rPr lang="zh-CN" altLang="en-US" sz="900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采用加权平均净资产计算。</a:t>
            </a:r>
            <a:endParaRPr lang="en-US" altLang="zh-CN" sz="900" dirty="0">
              <a:solidFill>
                <a:prstClr val="black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  <a:defRPr/>
            </a:pPr>
            <a:r>
              <a:rPr kumimoji="0" lang="en-US" altLang="zh-CN" sz="9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[</a:t>
            </a:r>
            <a:r>
              <a:rPr kumimoji="0" lang="zh-CN" altLang="en-US" sz="9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注</a:t>
            </a:r>
            <a:r>
              <a:rPr kumimoji="0" lang="en-US" altLang="zh-CN" sz="9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1]</a:t>
            </a:r>
            <a:r>
              <a:rPr kumimoji="0" lang="zh-CN" altLang="en-US" sz="9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资本充足率为预估数</a:t>
            </a:r>
            <a:endParaRPr kumimoji="0" lang="en-US" altLang="zh-CN" sz="9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val="616037885"/>
      </p:ext>
    </p:extLst>
  </p:cSld>
  <p:clrMapOvr>
    <a:masterClrMapping/>
  </p:clrMapOvr>
</p:sld>
</file>

<file path=ppt/slides/slide4.xml><?xml version="1.0" encoding="utf-8"?>
<p:sld xmlns:a="http://schemas.openxmlformats.org/drawingml/2006/main" xmlns:a16="http://schemas.microsoft.com/office/drawing/2014/main" xmlns:c="http://schemas.openxmlformats.org/drawingml/2006/chart" xmlns:mc="http://schemas.openxmlformats.org/markup-compatibility/2006" xmlns:ns7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对象 7" hidden="1">
            <a:extLst>
              <a:ext uri="{FF2B5EF4-FFF2-40B4-BE49-F238E27FC236}">
                <a16:creationId id="{7480F1E7-E6FA-463A-9F45-B8B059107C1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val="4211808009"/>
              </p:ext>
            </p:extLst>
          </p:nvPr>
        </p:nvGraphicFramePr>
        <p:xfrm>
          <a:off x="1525588" y="1588"/>
          <a:ext cx="1588" cy="1588"/>
        </p:xfrm>
        <a:graphic>
          <a:graphicData uri="http://schemas.openxmlformats.org/presentationml/2006/ole">
            <mc:AlternateContent>
              <mc:Choice Requires="v">
                <p:oleObj name="think-cell 幻灯片" r:id="rId48" imgW="270" imgH="270" progId="TCLayout.ActiveDocument.1">
                  <p:embed/>
                </p:oleObj>
              </mc:Choice>
              <mc:Fallback>
                <p:oleObj name="think-cell 幻灯片" r:id="rId48" imgW="270" imgH="270" progId="TCLayout.ActiveDocument.1">
                  <p:embed/>
                  <p:pic>
                    <p:nvPicPr>
                      <p:cNvPr id="8" name="对象 7" hidden="1">
                        <a:extLst>
                          <a:ext uri="{FF2B5EF4-FFF2-40B4-BE49-F238E27FC236}">
                            <a16:creationId id="{7480F1E7-E6FA-463A-9F45-B8B059107C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25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矩形 29">
            <a:extLst>
              <a:ext uri="{FF2B5EF4-FFF2-40B4-BE49-F238E27FC236}">
                <a16:creationId id="{C92D9D20-101D-4649-9171-7CB093996660}"/>
              </a:ext>
            </a:extLst>
          </p:cNvPr>
          <p:cNvSpPr/>
          <p:nvPr/>
        </p:nvSpPr>
        <p:spPr>
          <a:xfrm>
            <a:off x="97817" y="6208178"/>
            <a:ext cx="2632076" cy="5179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 hidden="1">
            <a:extLst>
              <a:ext uri="{FF2B5EF4-FFF2-40B4-BE49-F238E27FC236}">
                <a16:creationId id="{FFF85010-3D73-4985-9686-720E25FF959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52400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id="{444DDCE1-D1A2-48E6-8036-BE4029144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468000"/>
            <a:ext cx="10515600" cy="432000"/>
          </a:xfrm>
        </p:spPr>
        <p:txBody>
          <a:bodyPr vert="horz" rIns="91440">
            <a:normAutofit fontScale="90000"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微软雅黑"/>
                <a:ea typeface="微软雅黑"/>
              </a:rPr>
              <a:t>客户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962F8-67CB-43C0-8F4B-53AB2EE0A607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2</a:t>
            </a:fld>
            <a:endParaRPr lang="zh-CN" altLang="en-US" dirty="0">
              <a:solidFill>
                <a:prstClr val="black">
                  <a:tint val="75000"/>
                </a:prst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grpSp>
        <p:nvGrpSpPr>
          <p:cNvPr id="6" name="组合 5"/>
          <p:cNvGrpSpPr/>
          <p:nvPr>
            <p:custDataLst>
              <p:tags r:id="rId3"/>
            </p:custDataLst>
          </p:nvPr>
        </p:nvGrpSpPr>
        <p:grpSpPr>
          <a:xfrm>
            <a:off x="657224" y="1574800"/>
            <a:ext cx="2859088" cy="553722"/>
            <a:chOff x="768051" y="1156455"/>
            <a:chExt cx="2398460" cy="594939"/>
          </a:xfrm>
        </p:grpSpPr>
        <p:sp>
          <p:nvSpPr>
            <p:cNvPr id="26" name="TextBox 25"/>
            <p:cNvSpPr txBox="1"/>
            <p:nvPr/>
          </p:nvSpPr>
          <p:spPr>
            <a:xfrm>
              <a:off x="768051" y="1519750"/>
              <a:ext cx="1152128" cy="2316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dirty="0">
                  <a:solidFill>
                    <a:prstClr val="black"/>
                  </a:solidFill>
                  <a:latin typeface="KaiTi" panose="02010609060101010101" pitchFamily="49" charset="-122"/>
                  <a:ea typeface="KaiTi" panose="02010609060101010101" pitchFamily="49" charset="-122"/>
                </a:rPr>
                <a:t>单位：万户</a:t>
              </a: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830774" y="1156455"/>
              <a:ext cx="2335737" cy="29782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dirty="0">
                  <a:latin typeface="KaiTi" panose="02010609060101010101" pitchFamily="49" charset="-122"/>
                  <a:ea typeface="KaiTi" panose="02010609060101010101" pitchFamily="49" charset="-122"/>
                </a:rPr>
                <a:t>个人有效客户数</a:t>
              </a:r>
              <a:endParaRPr lang="zh-CN" altLang="en-US" sz="1200" b="1" baseline="30000" dirty="0">
                <a:latin typeface="KaiTi" panose="02010609060101010101" pitchFamily="49" charset="-122"/>
                <a:ea typeface="KaiTi" panose="02010609060101010101" pitchFamily="49" charset="-122"/>
              </a:endParaRPr>
            </a:p>
          </p:txBody>
        </p:sp>
      </p:grpSp>
      <p:graphicFrame>
        <p:nvGraphicFramePr>
          <p:cNvPr id="61" name="表格 60">
            <a:extLst>
              <a:ext uri="{FF2B5EF4-FFF2-40B4-BE49-F238E27FC236}">
                <a16:creationId id="{40A4F5C2-F525-4339-B29F-EF892E1DF55A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val="830166124"/>
              </p:ext>
            </p:extLst>
          </p:nvPr>
        </p:nvGraphicFramePr>
        <p:xfrm>
          <a:off x="524796" y="4196771"/>
          <a:ext cx="2991517" cy="1623695"/>
        </p:xfrm>
        <a:graphic>
          <a:graphicData uri="http://schemas.openxmlformats.org/drawingml/2006/table">
            <a:tbl>
              <a:tblPr/>
              <a:tblGrid>
                <a:gridCol w="1123030">
                  <a:extLst>
                    <a:ext uri="{9D8B030D-6E8A-4147-A177-3AD203B41FA5}">
                      <a16:colId val="20000"/>
                    </a:ext>
                  </a:extLst>
                </a:gridCol>
                <a:gridCol w="417126">
                  <a:extLst>
                    <a:ext uri="{9D8B030D-6E8A-4147-A177-3AD203B41FA5}">
                      <a16:colId val="2219911485"/>
                    </a:ext>
                  </a:extLst>
                </a:gridCol>
                <a:gridCol w="483787">
                  <a:extLst>
                    <a:ext uri="{9D8B030D-6E8A-4147-A177-3AD203B41FA5}">
                      <a16:colId val="3991280359"/>
                    </a:ext>
                  </a:extLst>
                </a:gridCol>
                <a:gridCol w="483787">
                  <a:extLst>
                    <a:ext uri="{9D8B030D-6E8A-4147-A177-3AD203B41FA5}">
                      <a16:colId val="1573488185"/>
                    </a:ext>
                  </a:extLst>
                </a:gridCol>
                <a:gridCol w="483787">
                  <a:extLst>
                    <a:ext uri="{9D8B030D-6E8A-4147-A177-3AD203B41FA5}">
                      <a16:colId val="1037384493"/>
                    </a:ext>
                  </a:extLst>
                </a:gridCol>
              </a:tblGrid>
              <a:tr h="269875">
                <a:tc>
                  <a:txBody>
                    <a:bodyPr/>
                    <a:lstStyle/>
                    <a:p>
                      <a:pPr marL="0" lvl="1" algn="ctr" fontAlgn="b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项目</a:t>
                      </a:r>
                    </a:p>
                  </a:txBody>
                  <a:tcPr marL="9525" marR="0" marT="9525" marB="0" anchor="ctr">
                    <a:lnL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33.4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较年初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Q5</a:t>
                      </a:r>
                    </a:p>
                    <a:p>
                      <a:pPr algn="ctr" rtl="0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增量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Q6</a:t>
                      </a:r>
                    </a:p>
                    <a:p>
                      <a:pPr algn="ctr" rtl="0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增量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val="10000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lvl="1" algn="l" fontAlgn="b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有效客户数</a:t>
                      </a:r>
                    </a:p>
                  </a:txBody>
                  <a:tcPr marL="9525" marR="0" marT="9525" marB="0" anchor="ctr">
                    <a:lnL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77,777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888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999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111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val="10001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lvl="0" indent="-457200" algn="l" fontAlgn="b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其中：泛微粒贷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22,222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333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444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555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val="10002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lvl="0" indent="-457200" algn="l" fontAlgn="b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微账户</a:t>
                      </a:r>
                    </a:p>
                  </a:txBody>
                  <a:tcPr marL="72000" marR="0" marT="0" marB="0" anchor="ctr">
                    <a:lnL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66,666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777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888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999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val="10003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lvl="0" indent="-457200" algn="l" fontAlgn="b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财富业务</a:t>
                      </a:r>
                      <a:endParaRPr lang="zh-CN" altLang="en-US" sz="900" b="0" i="0" u="none" strike="noStrike" baseline="30000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72000" marR="0" marT="0" marB="0" anchor="ctr">
                    <a:lnL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111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-44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val="10004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457200" lvl="1" indent="-457200" algn="l" fontAlgn="b"/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微车贷</a:t>
                      </a:r>
                    </a:p>
                  </a:txBody>
                  <a:tcPr marL="72000" marR="0" marT="0" marB="0" anchor="ctr">
                    <a:lnL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555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88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99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val="1750392003"/>
                  </a:ext>
                </a:extLst>
              </a:tr>
            </a:tbl>
          </a:graphicData>
        </a:graphic>
      </p:graphicFrame>
      <p:cxnSp>
        <p:nvCxnSpPr>
          <p:cNvPr id="10" name="直接连接符 9">
            <a:extLst>
              <a:ext uri="{FF2B5EF4-FFF2-40B4-BE49-F238E27FC236}">
                <a16:creationId id="{30F780F7-6B58-3661-169C-319BC4CC1A4B}"/>
              </a:ext>
            </a:extLst>
          </p:cNvPr>
          <p:cNvCxnSpPr/>
          <p:nvPr>
            <p:custDataLst>
              <p:tags r:id="rId5"/>
            </p:custDataLst>
          </p:nvPr>
        </p:nvCxnSpPr>
        <p:spPr bwMode="gray">
          <a:xfrm flipV="1">
            <a:off x="920750" y="2597150"/>
            <a:ext cx="466725" cy="2540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id="{A207ADA0-AF55-122F-230A-74A1BC65B0D3}"/>
              </a:ext>
            </a:extLst>
          </p:cNvPr>
          <p:cNvCxnSpPr/>
          <p:nvPr>
            <p:custDataLst>
              <p:tags r:id="rId6"/>
            </p:custDataLst>
          </p:nvPr>
        </p:nvCxnSpPr>
        <p:spPr bwMode="gray">
          <a:xfrm flipV="1">
            <a:off x="1543050" y="2568575"/>
            <a:ext cx="466725" cy="28575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id="{6E4F5E03-D668-DE60-AF6D-CD723E57DEAF}"/>
              </a:ext>
            </a:extLst>
          </p:cNvPr>
          <p:cNvCxnSpPr/>
          <p:nvPr>
            <p:custDataLst>
              <p:tags r:id="rId7"/>
            </p:custDataLst>
          </p:nvPr>
        </p:nvCxnSpPr>
        <p:spPr bwMode="gray">
          <a:xfrm flipV="1">
            <a:off x="2165350" y="2514600"/>
            <a:ext cx="466725" cy="53975"/>
          </a:xfrm>
          <a:prstGeom prst="line">
            <a:avLst/>
          </a:prstGeom>
          <a:ln w="6350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id="{7A56C368-6EE8-865A-FD00-666F8B528685}"/>
              </a:ext>
            </a:extLst>
          </p:cNvPr>
          <p:cNvCxnSpPr>
            <a:cxnSpLocks/>
          </p:cNvCxnSpPr>
          <p:nvPr>
            <p:custDataLst>
              <p:tags r:id="rId8"/>
            </p:custDataLst>
          </p:nvPr>
        </p:nvCxnSpPr>
        <p:spPr bwMode="gray">
          <a:xfrm flipV="1">
            <a:off x="2787650" y="2492375"/>
            <a:ext cx="466725" cy="22225"/>
          </a:xfrm>
          <a:prstGeom prst="line">
            <a:avLst/>
          </a:prstGeom>
          <a:ln w="6350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4" name="Chart 3">
            <a:extLst>
              <a:ext uri="{FF2B5EF4-FFF2-40B4-BE49-F238E27FC236}">
                <a16:creationId id="{7D393D17-0D62-EA36-9755-0A220D684E89}"/>
              </a:ext>
            </a:extLst>
          </p:cNvPr>
          <p:cNvGraphicFramePr/>
          <p:nvPr>
            <p:custDataLst>
              <p:tags r:id="rId9"/>
            </p:custDataLst>
            <p:extLst>
              <p:ext uri="{D42A27DB-BD31-4B8C-83A1-F6EECF244321}">
                <p14:modId val="1150631371"/>
              </p:ext>
            </p:extLst>
          </p:nvPr>
        </p:nvGraphicFramePr>
        <p:xfrm>
          <a:off x="449263" y="2168525"/>
          <a:ext cx="3276600" cy="1824038"/>
        </p:xfrm>
        <a:graphic>
          <a:graphicData uri="http://schemas.openxmlformats.org/drawingml/2006/chart">
            <c:chart r:id="rId50"/>
          </a:graphicData>
        </a:graphic>
      </p:graphicFrame>
      <p:sp>
        <p:nvSpPr>
          <p:cNvPr id="159" name="文本占位符 2">
            <a:extLst>
              <a:ext uri="{FF2B5EF4-FFF2-40B4-BE49-F238E27FC236}">
                <a16:creationId id="{2CEB61C2-FBCB-4194-AFEB-5DC6883DD5DE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709613" y="3810000"/>
            <a:ext cx="266700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7:hiddenFill>
                <a:solidFill>
                  <a:scrgbClr r="0" g="0" b="0"/>
                </a:solidFill>
              </ns7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AA6D859E-4EF4-4A6A-8AFC-EF34A0C8ACE1}" type="datetime'''''''2''5''''''''.''''''''''3'''''''''">
              <a:rPr lang="zh-CN" altLang="en-US" smtClean="0">
                <a:latin typeface="KaiTi" panose="02010609060101010101" pitchFamily="49" charset="-122"/>
                <a:ea typeface="KaiTi" panose="02010609060101010101" pitchFamily="49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11.2</a:t>
            </a:fld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sym typeface="KaiTi" panose="02010609060101010101" pitchFamily="49" charset="-122"/>
            </a:endParaRPr>
          </a:p>
        </p:txBody>
      </p:sp>
      <p:sp>
        <p:nvSpPr>
          <p:cNvPr id="156" name="文本占位符 2">
            <a:extLst>
              <a:ext uri="{FF2B5EF4-FFF2-40B4-BE49-F238E27FC236}">
                <a16:creationId id="{299C2D55-E2FB-4762-8D9D-55477C7857D1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1331913" y="3810000"/>
            <a:ext cx="266700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7:hiddenFill>
                <a:solidFill>
                  <a:scrgbClr r="0" g="0" b="0"/>
                </a:solidFill>
              </ns7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0469EB92-D5AC-4135-B130-28F6AC83B32D}" type="datetime'''''''2''''''''''''''''''''5''''''''''''''''''''''''.6'">
              <a:rPr lang="zh-CN" altLang="en-US" smtClean="0">
                <a:latin typeface="KaiTi" panose="02010609060101010101" pitchFamily="49" charset="-122"/>
                <a:ea typeface="KaiTi" panose="02010609060101010101" pitchFamily="49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33.4</a:t>
            </a:fld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sym typeface="KaiTi" panose="02010609060101010101" pitchFamily="49" charset="-122"/>
            </a:endParaRPr>
          </a:p>
        </p:txBody>
      </p:sp>
      <p:sp>
        <p:nvSpPr>
          <p:cNvPr id="160" name="文本占位符 2">
            <a:extLst>
              <a:ext uri="{FF2B5EF4-FFF2-40B4-BE49-F238E27FC236}">
                <a16:creationId id="{B068D32E-AAF4-4922-9D7F-88A924081815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1954213" y="3810000"/>
            <a:ext cx="266700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7:hiddenFill>
                <a:solidFill>
                  <a:scrgbClr r="0" g="0" b="0"/>
                </a:solidFill>
              </ns7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AEE659DA-1AC6-4B51-A518-83F47CD7AE04}" type="datetime'2''''5''''''''''''''''''''.''9'">
              <a:rPr lang="zh-CN" altLang="en-US" smtClean="0">
                <a:latin typeface="KaiTi" panose="02010609060101010101" pitchFamily="49" charset="-122"/>
                <a:ea typeface="KaiTi" panose="02010609060101010101" pitchFamily="49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55.6</a:t>
            </a:fld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sym typeface="KaiTi" panose="02010609060101010101" pitchFamily="49" charset="-122"/>
            </a:endParaRPr>
          </a:p>
        </p:txBody>
      </p:sp>
      <p:sp>
        <p:nvSpPr>
          <p:cNvPr id="51" name="文本占位符 2">
            <a:extLst>
              <a:ext uri="{FF2B5EF4-FFF2-40B4-BE49-F238E27FC236}">
                <a16:creationId id="{7532EF8D-09B9-4F74-B8ED-7C260ABFE910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2544763" y="3810000"/>
            <a:ext cx="330200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7:hiddenFill>
                <a:solidFill>
                  <a:scrgbClr r="0" g="0" b="0"/>
                </a:solidFill>
              </ns7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04D2CB5C-3672-48BB-B1FB-59C7DDB25754}" type="datetime'''''2''''''''''5''''''.1''2'''''''''''''''''''''''">
              <a:rPr lang="zh-CN" altLang="en-US" smtClean="0">
                <a:latin typeface="KaiTi" panose="02010609060101010101" pitchFamily="49" charset="-122"/>
                <a:ea typeface="KaiTi" panose="02010609060101010101" pitchFamily="49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77.88</a:t>
            </a:fld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sym typeface="KaiTi" panose="02010609060101010101" pitchFamily="49" charset="-122"/>
            </a:endParaRPr>
          </a:p>
        </p:txBody>
      </p:sp>
      <p:sp>
        <p:nvSpPr>
          <p:cNvPr id="52" name="文本占位符 2">
            <a:extLst>
              <a:ext uri="{FF2B5EF4-FFF2-40B4-BE49-F238E27FC236}">
                <a16:creationId id="{30D1AA68-118C-40E6-9EB6-E543AF1B6799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 bwMode="auto">
          <a:xfrm>
            <a:off x="3198813" y="3810000"/>
            <a:ext cx="266700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7:hiddenFill>
                <a:solidFill>
                  <a:scrgbClr r="0" g="0" b="0"/>
                </a:solidFill>
              </ns7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8FBD007F-FEBC-4F87-BB8F-DB7A3220EE68}" type="datetime'''''''''''''''''''''''''''''''''''''''26''''''.3'''''''''''''">
              <a:rPr lang="zh-CN" altLang="en-US" smtClean="0">
                <a:latin typeface="KaiTi" panose="02010609060101010101" pitchFamily="49" charset="-122"/>
                <a:ea typeface="KaiTi" panose="02010609060101010101" pitchFamily="49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99.1</a:t>
            </a:fld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sym typeface="KaiTi" panose="02010609060101010101" pitchFamily="49" charset="-122"/>
            </a:endParaRPr>
          </a:p>
        </p:txBody>
      </p:sp>
      <p:graphicFrame>
        <p:nvGraphicFramePr>
          <p:cNvPr id="58" name="Chart 3">
            <a:extLst>
              <a:ext uri="{FF2B5EF4-FFF2-40B4-BE49-F238E27FC236}">
                <a16:creationId id="{45ED5283-624D-57FF-3BB1-5634CBF22BDE}"/>
              </a:ext>
            </a:extLst>
          </p:cNvPr>
          <p:cNvGraphicFramePr/>
          <p:nvPr>
            <p:custDataLst>
              <p:tags r:id="rId15"/>
            </p:custDataLst>
            <p:extLst>
              <p:ext uri="{D42A27DB-BD31-4B8C-83A1-F6EECF244321}">
                <p14:modId val="47695610"/>
              </p:ext>
            </p:extLst>
          </p:nvPr>
        </p:nvGraphicFramePr>
        <p:xfrm>
          <a:off x="8567738" y="2160588"/>
          <a:ext cx="3051175" cy="1824037"/>
        </p:xfrm>
        <a:graphic>
          <a:graphicData uri="http://schemas.openxmlformats.org/drawingml/2006/chart">
            <c:chart r:id="rId51"/>
          </a:graphicData>
        </a:graphic>
      </p:graphicFrame>
      <p:sp>
        <p:nvSpPr>
          <p:cNvPr id="86" name="文本占位符 2">
            <a:extLst>
              <a:ext uri="{FF2B5EF4-FFF2-40B4-BE49-F238E27FC236}">
                <a16:creationId id="{1A72D2AF-E704-40AC-BAE5-138FB68D42A2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8805863" y="3802063"/>
            <a:ext cx="266700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7:hiddenFill>
                <a:solidFill>
                  <a:scrgbClr r="0" g="0" b="0"/>
                </a:solidFill>
              </ns7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FFA0B3FF-4917-44E7-9A01-6D6D0C140B78}" type="datetime'''''''''''2''''''''''''''5''''''''''''.''''''''''''3'">
              <a:rPr lang="zh-CN" altLang="en-US" smtClean="0">
                <a:latin typeface="KaiTi" panose="02010609060101010101" pitchFamily="49" charset="-122"/>
                <a:ea typeface="KaiTi" panose="02010609060101010101" pitchFamily="49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22.3</a:t>
            </a:fld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sym typeface="KaiTi" panose="02010609060101010101" pitchFamily="49" charset="-122"/>
            </a:endParaRPr>
          </a:p>
        </p:txBody>
      </p:sp>
      <p:sp>
        <p:nvSpPr>
          <p:cNvPr id="84" name="文本占位符 2">
            <a:extLst>
              <a:ext uri="{FF2B5EF4-FFF2-40B4-BE49-F238E27FC236}">
                <a16:creationId id="{9699ACD3-3B8E-4878-9BE6-589EF97A1E17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9382125" y="3802063"/>
            <a:ext cx="266700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7:hiddenFill>
                <a:solidFill>
                  <a:scrgbClr r="0" g="0" b="0"/>
                </a:solidFill>
              </ns7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DAF52965-EBB6-4C7D-ACBB-CEBFCCB59A12}" type="datetime'''''25''''''''''''''''''''''.''''''6'''">
              <a:rPr lang="zh-CN" altLang="en-US" smtClean="0">
                <a:latin typeface="KaiTi" panose="02010609060101010101" pitchFamily="49" charset="-122"/>
                <a:ea typeface="KaiTi" panose="02010609060101010101" pitchFamily="49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44.5</a:t>
            </a:fld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sym typeface="KaiTi" panose="02010609060101010101" pitchFamily="49" charset="-122"/>
            </a:endParaRPr>
          </a:p>
        </p:txBody>
      </p:sp>
      <p:sp>
        <p:nvSpPr>
          <p:cNvPr id="55" name="文本占位符 2">
            <a:extLst>
              <a:ext uri="{FF2B5EF4-FFF2-40B4-BE49-F238E27FC236}">
                <a16:creationId id="{B807A22F-CC24-46A4-A35F-1AB3411B4E04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auto">
          <a:xfrm>
            <a:off x="9959975" y="3802063"/>
            <a:ext cx="266700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7:hiddenFill>
                <a:solidFill>
                  <a:scrgbClr r="0" g="0" b="0"/>
                </a:solidFill>
              </ns7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6347F824-F767-4C17-A397-6E019482EDAF}" type="datetime'''2''''''''''''''5''''.''''9'''''''''''''''''''''''''">
              <a:rPr lang="zh-CN" altLang="en-US" smtClean="0">
                <a:latin typeface="KaiTi" panose="02010609060101010101" pitchFamily="49" charset="-122"/>
                <a:ea typeface="KaiTi" panose="02010609060101010101" pitchFamily="49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66.7</a:t>
            </a:fld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sym typeface="KaiTi" panose="02010609060101010101" pitchFamily="49" charset="-122"/>
            </a:endParaRPr>
          </a:p>
        </p:txBody>
      </p:sp>
      <p:sp>
        <p:nvSpPr>
          <p:cNvPr id="69" name="文本占位符 2">
            <a:extLst>
              <a:ext uri="{FF2B5EF4-FFF2-40B4-BE49-F238E27FC236}">
                <a16:creationId id="{B859F031-9815-4D11-8120-C109EB06D32D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auto">
          <a:xfrm>
            <a:off x="10504488" y="3802063"/>
            <a:ext cx="330200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7:hiddenFill>
                <a:solidFill>
                  <a:scrgbClr r="0" g="0" b="0"/>
                </a:solidFill>
              </ns7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D8FF6F6D-2F53-4507-8BDF-BF67EA7A4877}" type="datetime'''''''''''''''''''''''''''''''2''''''5''''''''''''''.1''''2'">
              <a:rPr lang="zh-CN" altLang="en-US" smtClean="0">
                <a:latin typeface="KaiTi" panose="02010609060101010101" pitchFamily="49" charset="-122"/>
                <a:ea typeface="KaiTi" panose="02010609060101010101" pitchFamily="49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88.99</a:t>
            </a:fld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sym typeface="KaiTi" panose="02010609060101010101" pitchFamily="49" charset="-122"/>
            </a:endParaRPr>
          </a:p>
        </p:txBody>
      </p:sp>
      <p:sp>
        <p:nvSpPr>
          <p:cNvPr id="43" name="文本占位符 2">
            <a:extLst>
              <a:ext uri="{FF2B5EF4-FFF2-40B4-BE49-F238E27FC236}">
                <a16:creationId id="{9A6AAF16-6DFA-34EF-D814-DB9463EA9F68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11114088" y="3802063"/>
            <a:ext cx="266700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7:hiddenFill>
                <a:solidFill>
                  <a:scrgbClr r="0" g="0" b="0"/>
                </a:solidFill>
              </ns7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6C9C4BBC-E5E5-4797-87E1-2F73E68F91BE}" type="datetime'''''''2''''6''''''''''''''''''''''''''''''''.''''3'''">
              <a:rPr lang="zh-CN" altLang="en-US" smtClean="0">
                <a:latin typeface="KaiTi" panose="02010609060101010101" pitchFamily="49" charset="-122"/>
                <a:ea typeface="KaiTi" panose="02010609060101010101" pitchFamily="49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11.2</a:t>
            </a:fld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sym typeface="KaiTi" panose="02010609060101010101" pitchFamily="49" charset="-122"/>
            </a:endParaRPr>
          </a:p>
        </p:txBody>
      </p:sp>
      <p:cxnSp>
        <p:nvCxnSpPr>
          <p:cNvPr id="54" name="直接连接符 53">
            <a:extLst>
              <a:ext uri="{FF2B5EF4-FFF2-40B4-BE49-F238E27FC236}">
                <a16:creationId id="{C83ABE31-434F-C66C-35D5-649950B20C84}"/>
              </a:ext>
            </a:extLst>
          </p:cNvPr>
          <p:cNvCxnSpPr/>
          <p:nvPr>
            <p:custDataLst>
              <p:tags r:id="rId21"/>
            </p:custDataLst>
          </p:nvPr>
        </p:nvCxnSpPr>
        <p:spPr bwMode="gray">
          <a:xfrm flipV="1">
            <a:off x="8939213" y="2573338"/>
            <a:ext cx="431800" cy="31750"/>
          </a:xfrm>
          <a:prstGeom prst="line">
            <a:avLst/>
          </a:prstGeom>
          <a:ln w="6350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id="{D4AE511F-4D06-CA78-D067-86763336EF73}"/>
              </a:ext>
            </a:extLst>
          </p:cNvPr>
          <p:cNvCxnSpPr>
            <a:cxnSpLocks/>
          </p:cNvCxnSpPr>
          <p:nvPr>
            <p:custDataLst>
              <p:tags r:id="rId22"/>
            </p:custDataLst>
          </p:nvPr>
        </p:nvCxnSpPr>
        <p:spPr bwMode="gray">
          <a:xfrm flipV="1">
            <a:off x="10669588" y="2484438"/>
            <a:ext cx="433388" cy="25400"/>
          </a:xfrm>
          <a:prstGeom prst="line">
            <a:avLst/>
          </a:prstGeom>
          <a:ln w="3175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id="{F56AA025-95BE-0509-8F06-90E51029F05D}"/>
              </a:ext>
            </a:extLst>
          </p:cNvPr>
          <p:cNvCxnSpPr/>
          <p:nvPr>
            <p:custDataLst>
              <p:tags r:id="rId23"/>
            </p:custDataLst>
          </p:nvPr>
        </p:nvCxnSpPr>
        <p:spPr bwMode="gray">
          <a:xfrm flipV="1">
            <a:off x="9515475" y="2540000"/>
            <a:ext cx="433388" cy="33338"/>
          </a:xfrm>
          <a:prstGeom prst="line">
            <a:avLst/>
          </a:prstGeom>
          <a:ln w="6350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id="{FDB90C9C-7B84-3269-2503-24018FBBE705}"/>
              </a:ext>
            </a:extLst>
          </p:cNvPr>
          <p:cNvCxnSpPr/>
          <p:nvPr>
            <p:custDataLst>
              <p:tags r:id="rId24"/>
            </p:custDataLst>
          </p:nvPr>
        </p:nvCxnSpPr>
        <p:spPr bwMode="gray">
          <a:xfrm flipV="1">
            <a:off x="10093325" y="2509838"/>
            <a:ext cx="431800" cy="30163"/>
          </a:xfrm>
          <a:prstGeom prst="line">
            <a:avLst/>
          </a:prstGeom>
          <a:ln w="6350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93" name="表格 92">
            <a:extLst>
              <a:ext uri="{FF2B5EF4-FFF2-40B4-BE49-F238E27FC236}">
                <a16:creationId id="{0DD0FAE2-A1A0-44F5-B8F6-26DD632DB560}"/>
              </a:ext>
            </a:extLst>
          </p:cNvPr>
          <p:cNvGraphicFramePr>
            <a:graphicFrameLocks noGrp="1"/>
          </p:cNvGraphicFramePr>
          <p:nvPr>
            <p:custDataLst>
              <p:tags r:id="rId25"/>
            </p:custDataLst>
            <p:extLst>
              <p:ext uri="{D42A27DB-BD31-4B8C-83A1-F6EECF244321}">
                <p14:modId val="3233569430"/>
              </p:ext>
            </p:extLst>
          </p:nvPr>
        </p:nvGraphicFramePr>
        <p:xfrm>
          <a:off x="839788" y="2341562"/>
          <a:ext cx="2493964" cy="144621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3491">
                  <a:extLst>
                    <a:ext uri="{9D8B030D-6E8A-4147-A177-3AD203B41FA5}">
                      <a16:colId val="2776810320"/>
                    </a:ext>
                  </a:extLst>
                </a:gridCol>
                <a:gridCol w="623491">
                  <a:extLst>
                    <a:ext uri="{9D8B030D-6E8A-4147-A177-3AD203B41FA5}">
                      <a16:colId val="1779476904"/>
                    </a:ext>
                  </a:extLst>
                </a:gridCol>
                <a:gridCol w="623491">
                  <a:extLst>
                    <a:ext uri="{9D8B030D-6E8A-4147-A177-3AD203B41FA5}">
                      <a16:colId val="755682903"/>
                    </a:ext>
                  </a:extLst>
                </a:gridCol>
                <a:gridCol w="623491">
                  <a:extLst>
                    <a:ext uri="{9D8B030D-6E8A-4147-A177-3AD203B41FA5}">
                      <a16:colId val="2088217263"/>
                    </a:ext>
                  </a:extLst>
                </a:gridCol>
              </a:tblGrid>
              <a:tr h="1446213">
                <a:tc>
                  <a:txBody>
                    <a:bodyPr/>
                    <a:lstStyle/>
                    <a:p>
                      <a:pPr algn="ctr" fontAlgn="t"/>
                      <a:endParaRPr lang="en-US" altLang="zh-CN" sz="800" b="1" i="0" u="none" strike="noStrike" dirty="0">
                        <a:solidFill>
                          <a:srgbClr val="44546A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t"/>
                      <a:r>
                        <a:rPr lang="en-US" altLang="zh-CN" sz="800" b="1" i="0" u="none" strike="noStrike" dirty="0">
                          <a:solidFill>
                            <a:srgbClr val="44546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+333</a:t>
                      </a:r>
                    </a:p>
                  </a:txBody>
                  <a:tcPr marL="0" marR="0" marT="46800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US" altLang="zh-CN" sz="800" b="1" i="0" u="none" strike="noStrike" dirty="0">
                        <a:solidFill>
                          <a:srgbClr val="44546A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t"/>
                      <a:r>
                        <a:rPr lang="en-US" altLang="zh-CN" sz="800" b="1" i="0" u="none" strike="noStrike" dirty="0">
                          <a:solidFill>
                            <a:srgbClr val="44546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+444</a:t>
                      </a:r>
                    </a:p>
                  </a:txBody>
                  <a:tcPr marL="0" marR="0" marT="43200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800" b="1" i="0" u="none" strike="noStrike" dirty="0">
                          <a:solidFill>
                            <a:srgbClr val="44546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+555</a:t>
                      </a:r>
                    </a:p>
                  </a:txBody>
                  <a:tcPr marL="0" marR="0" marT="50400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800" b="1" i="0" u="none" strike="noStrike" dirty="0">
                          <a:solidFill>
                            <a:srgbClr val="44546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+666</a:t>
                      </a:r>
                    </a:p>
                  </a:txBody>
                  <a:tcPr marL="0" marR="0" marT="468000" marB="0"/>
                </a:tc>
                <a:extLst>
                  <a:ext uri="{0D108BD9-81ED-4DB2-BD59-A6C34878D82A}">
                    <a16:rowId val="4057531824"/>
                  </a:ext>
                </a:extLst>
              </a:tr>
            </a:tbl>
          </a:graphicData>
        </a:graphic>
      </p:graphicFrame>
      <p:grpSp>
        <p:nvGrpSpPr>
          <p:cNvPr id="36" name="组合 35">
            <a:extLst>
              <a:ext uri="{FF2B5EF4-FFF2-40B4-BE49-F238E27FC236}">
                <a16:creationId id="{B03F7C00-BC2C-41E1-A4BB-15DC940F3B6D}"/>
              </a:ext>
            </a:extLst>
          </p:cNvPr>
          <p:cNvGrpSpPr/>
          <p:nvPr>
            <p:custDataLst>
              <p:tags r:id="rId26"/>
            </p:custDataLst>
          </p:nvPr>
        </p:nvGrpSpPr>
        <p:grpSpPr>
          <a:xfrm>
            <a:off x="4795838" y="1574800"/>
            <a:ext cx="2727325" cy="553721"/>
            <a:chOff x="799139" y="1156455"/>
            <a:chExt cx="2288450" cy="594938"/>
          </a:xfrm>
        </p:grpSpPr>
        <p:sp>
          <p:nvSpPr>
            <p:cNvPr id="37" name="TextBox 25">
              <a:extLst>
                <a:ext uri="{FF2B5EF4-FFF2-40B4-BE49-F238E27FC236}">
                  <a16:creationId id="{C60BDF7D-430C-4022-9959-286DB95CA848}"/>
                </a:ext>
              </a:extLst>
            </p:cNvPr>
            <p:cNvSpPr txBox="1"/>
            <p:nvPr/>
          </p:nvSpPr>
          <p:spPr>
            <a:xfrm>
              <a:off x="799139" y="1519749"/>
              <a:ext cx="1152128" cy="2316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dirty="0">
                  <a:solidFill>
                    <a:prstClr val="black"/>
                  </a:solidFill>
                  <a:latin typeface="KaiTi" panose="02010609060101010101" pitchFamily="49" charset="-122"/>
                  <a:ea typeface="KaiTi" panose="02010609060101010101" pitchFamily="49" charset="-122"/>
                </a:rPr>
                <a:t>单位：万户</a:t>
              </a:r>
            </a:p>
          </p:txBody>
        </p:sp>
        <p:sp>
          <p:nvSpPr>
            <p:cNvPr id="38" name="文本框 37">
              <a:extLst>
                <a:ext uri="{FF2B5EF4-FFF2-40B4-BE49-F238E27FC236}">
                  <a16:creationId id="{D1E25867-9473-4E69-99F4-D7EBC508DABC}"/>
                </a:ext>
              </a:extLst>
            </p:cNvPr>
            <p:cNvSpPr txBox="1"/>
            <p:nvPr/>
          </p:nvSpPr>
          <p:spPr>
            <a:xfrm>
              <a:off x="879061" y="1156455"/>
              <a:ext cx="2208528" cy="29782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dirty="0">
                  <a:latin typeface="KaiTi" panose="02010609060101010101" pitchFamily="49" charset="-122"/>
                  <a:ea typeface="KaiTi" panose="02010609060101010101" pitchFamily="49" charset="-122"/>
                </a:rPr>
                <a:t>个人</a:t>
              </a:r>
              <a:r>
                <a:rPr lang="en-US" altLang="zh-CN" sz="1200" b="1" dirty="0">
                  <a:latin typeface="KaiTi" panose="02010609060101010101" pitchFamily="49" charset="-122"/>
                  <a:ea typeface="KaiTi" panose="02010609060101010101" pitchFamily="49" charset="-122"/>
                </a:rPr>
                <a:t>MFAU</a:t>
              </a:r>
              <a:endParaRPr lang="zh-CN" altLang="en-US" sz="1200" b="1" baseline="30000" dirty="0">
                <a:latin typeface="KaiTi" panose="02010609060101010101" pitchFamily="49" charset="-122"/>
                <a:ea typeface="KaiTi" panose="02010609060101010101" pitchFamily="49" charset="-122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id="{9A916F86-F7EF-4484-8B7F-4D4EBAECDB6F}"/>
              </a:ext>
            </a:extLst>
          </p:cNvPr>
          <p:cNvGrpSpPr/>
          <p:nvPr>
            <p:custDataLst>
              <p:tags r:id="rId27"/>
            </p:custDataLst>
          </p:nvPr>
        </p:nvGrpSpPr>
        <p:grpSpPr>
          <a:xfrm>
            <a:off x="8587025" y="1574798"/>
            <a:ext cx="2846151" cy="561203"/>
            <a:chOff x="699207" y="1156455"/>
            <a:chExt cx="2388381" cy="602978"/>
          </a:xfrm>
        </p:grpSpPr>
        <p:sp>
          <p:nvSpPr>
            <p:cNvPr id="40" name="TextBox 25">
              <a:extLst>
                <a:ext uri="{FF2B5EF4-FFF2-40B4-BE49-F238E27FC236}">
                  <a16:creationId id="{AE906BCC-7883-4221-9D57-03588E5CDEE4}"/>
                </a:ext>
              </a:extLst>
            </p:cNvPr>
            <p:cNvSpPr txBox="1"/>
            <p:nvPr/>
          </p:nvSpPr>
          <p:spPr>
            <a:xfrm>
              <a:off x="699207" y="1527790"/>
              <a:ext cx="1152128" cy="2316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dirty="0">
                  <a:solidFill>
                    <a:prstClr val="black"/>
                  </a:solidFill>
                  <a:latin typeface="KaiTi" panose="02010609060101010101" pitchFamily="49" charset="-122"/>
                  <a:ea typeface="KaiTi" panose="02010609060101010101" pitchFamily="49" charset="-122"/>
                </a:rPr>
                <a:t>单位：万户</a:t>
              </a:r>
            </a:p>
          </p:txBody>
        </p:sp>
        <p:sp>
          <p:nvSpPr>
            <p:cNvPr id="41" name="文本框 40">
              <a:extLst>
                <a:ext uri="{FF2B5EF4-FFF2-40B4-BE49-F238E27FC236}">
                  <a16:creationId id="{4F1E2EB4-7893-43B7-8A28-1FE32E662E4D}"/>
                </a:ext>
              </a:extLst>
            </p:cNvPr>
            <p:cNvSpPr txBox="1"/>
            <p:nvPr/>
          </p:nvSpPr>
          <p:spPr>
            <a:xfrm>
              <a:off x="904369" y="1156455"/>
              <a:ext cx="2183219" cy="29782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dirty="0">
                  <a:latin typeface="KaiTi" panose="02010609060101010101" pitchFamily="49" charset="-122"/>
                  <a:ea typeface="KaiTi" panose="02010609060101010101" pitchFamily="49" charset="-122"/>
                </a:rPr>
                <a:t>企业客户数</a:t>
              </a:r>
              <a:endParaRPr lang="zh-CN" altLang="en-US" sz="1200" b="1" baseline="30000" dirty="0">
                <a:latin typeface="KaiTi" panose="02010609060101010101" pitchFamily="49" charset="-122"/>
                <a:ea typeface="KaiTi" panose="02010609060101010101" pitchFamily="49" charset="-122"/>
              </a:endParaRPr>
            </a:p>
          </p:txBody>
        </p:sp>
      </p:grpSp>
      <p:graphicFrame>
        <p:nvGraphicFramePr>
          <p:cNvPr id="49" name="表格 48">
            <a:extLst>
              <a:ext uri="{FF2B5EF4-FFF2-40B4-BE49-F238E27FC236}">
                <a16:creationId id="{B34CE096-9B34-443C-AAA3-A7A294F7F80C}"/>
              </a:ext>
            </a:extLst>
          </p:cNvPr>
          <p:cNvGraphicFramePr>
            <a:graphicFrameLocks noGrp="1"/>
          </p:cNvGraphicFramePr>
          <p:nvPr>
            <p:custDataLst>
              <p:tags r:id="rId28"/>
            </p:custDataLst>
            <p:extLst>
              <p:ext uri="{D42A27DB-BD31-4B8C-83A1-F6EECF244321}">
                <p14:modId val="3842858279"/>
              </p:ext>
            </p:extLst>
          </p:nvPr>
        </p:nvGraphicFramePr>
        <p:xfrm>
          <a:off x="4587207" y="4196771"/>
          <a:ext cx="2935955" cy="1623695"/>
        </p:xfrm>
        <a:graphic>
          <a:graphicData uri="http://schemas.openxmlformats.org/drawingml/2006/table">
            <a:tbl>
              <a:tblPr/>
              <a:tblGrid>
                <a:gridCol w="1129404">
                  <a:extLst>
                    <a:ext uri="{9D8B030D-6E8A-4147-A177-3AD203B41FA5}">
                      <a16:colId val="20000"/>
                    </a:ext>
                  </a:extLst>
                </a:gridCol>
                <a:gridCol w="384290">
                  <a:extLst>
                    <a:ext uri="{9D8B030D-6E8A-4147-A177-3AD203B41FA5}">
                      <a16:colId val="2219911485"/>
                    </a:ext>
                  </a:extLst>
                </a:gridCol>
                <a:gridCol w="474087">
                  <a:extLst>
                    <a:ext uri="{9D8B030D-6E8A-4147-A177-3AD203B41FA5}">
                      <a16:colId val="4082165032"/>
                    </a:ext>
                  </a:extLst>
                </a:gridCol>
                <a:gridCol w="474087">
                  <a:extLst>
                    <a:ext uri="{9D8B030D-6E8A-4147-A177-3AD203B41FA5}">
                      <a16:colId val="1037384493"/>
                    </a:ext>
                  </a:extLst>
                </a:gridCol>
                <a:gridCol w="474087">
                  <a:extLst>
                    <a:ext uri="{9D8B030D-6E8A-4147-A177-3AD203B41FA5}">
                      <a16:colId val="2557783097"/>
                    </a:ext>
                  </a:extLst>
                </a:gridCol>
              </a:tblGrid>
              <a:tr h="269875">
                <a:tc>
                  <a:txBody>
                    <a:bodyPr/>
                    <a:lstStyle/>
                    <a:p>
                      <a:pPr marL="0" lvl="1" algn="ctr" fontAlgn="b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项目</a:t>
                      </a:r>
                    </a:p>
                  </a:txBody>
                  <a:tcPr marL="9525" marR="0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77.8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较年初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Q9</a:t>
                      </a:r>
                    </a:p>
                    <a:p>
                      <a:pPr algn="ctr" rtl="0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增量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Q1</a:t>
                      </a:r>
                    </a:p>
                    <a:p>
                      <a:pPr algn="ctr" rtl="0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增量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val="10000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lvl="1" algn="l" fontAlgn="b"/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MFAU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0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22,222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333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444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555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val="10001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lvl="0" indent="-457200" algn="l" fontAlgn="b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其中：泛微粒贷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6,666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-77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-88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-99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val="10002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lvl="0" indent="-457200" algn="l" fontAlgn="b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微账户</a:t>
                      </a:r>
                    </a:p>
                  </a:txBody>
                  <a:tcPr marL="72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11,111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222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333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444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val="10003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lvl="0" indent="-457200" algn="l" fontAlgn="b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财富业务</a:t>
                      </a:r>
                      <a:endParaRPr lang="zh-CN" altLang="en-US" sz="900" b="0" i="0" u="none" strike="noStrike" baseline="30000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72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555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val="10004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457200" lvl="1" indent="-457200" algn="l" fontAlgn="b"/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微车贷</a:t>
                      </a:r>
                    </a:p>
                  </a:txBody>
                  <a:tcPr marL="72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99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val="1899268388"/>
                  </a:ext>
                </a:extLst>
              </a:tr>
            </a:tbl>
          </a:graphicData>
        </a:graphic>
      </p:graphicFrame>
      <p:graphicFrame>
        <p:nvGraphicFramePr>
          <p:cNvPr id="50" name="表格 49">
            <a:extLst>
              <a:ext uri="{FF2B5EF4-FFF2-40B4-BE49-F238E27FC236}">
                <a16:creationId id="{17085DD2-1CC2-43F2-A024-E217FBAEC24D}"/>
              </a:ext>
            </a:extLst>
          </p:cNvPr>
          <p:cNvGraphicFramePr>
            <a:graphicFrameLocks noGrp="1"/>
          </p:cNvGraphicFramePr>
          <p:nvPr>
            <p:custDataLst>
              <p:tags r:id="rId29"/>
            </p:custDataLst>
            <p:extLst>
              <p:ext uri="{D42A27DB-BD31-4B8C-83A1-F6EECF244321}">
                <p14:modId val="3125958448"/>
              </p:ext>
            </p:extLst>
          </p:nvPr>
        </p:nvGraphicFramePr>
        <p:xfrm>
          <a:off x="8689976" y="4196771"/>
          <a:ext cx="2743199" cy="814070"/>
        </p:xfrm>
        <a:graphic>
          <a:graphicData uri="http://schemas.openxmlformats.org/drawingml/2006/table">
            <a:tbl>
              <a:tblPr/>
              <a:tblGrid>
                <a:gridCol w="931426">
                  <a:extLst>
                    <a:ext uri="{9D8B030D-6E8A-4147-A177-3AD203B41FA5}">
                      <a16:colId val="20000"/>
                    </a:ext>
                  </a:extLst>
                </a:gridCol>
                <a:gridCol w="393489">
                  <a:extLst>
                    <a:ext uri="{9D8B030D-6E8A-4147-A177-3AD203B41FA5}">
                      <a16:colId val="2219911485"/>
                    </a:ext>
                  </a:extLst>
                </a:gridCol>
                <a:gridCol w="472434">
                  <a:extLst>
                    <a:ext uri="{9D8B030D-6E8A-4147-A177-3AD203B41FA5}">
                      <a16:colId val="2117233099"/>
                    </a:ext>
                  </a:extLst>
                </a:gridCol>
                <a:gridCol w="472434">
                  <a:extLst>
                    <a:ext uri="{9D8B030D-6E8A-4147-A177-3AD203B41FA5}">
                      <a16:colId val="1556271134"/>
                    </a:ext>
                  </a:extLst>
                </a:gridCol>
                <a:gridCol w="473416">
                  <a:extLst>
                    <a:ext uri="{9D8B030D-6E8A-4147-A177-3AD203B41FA5}">
                      <a16:colId val="1573488185"/>
                    </a:ext>
                  </a:extLst>
                </a:gridCol>
              </a:tblGrid>
              <a:tr h="269875">
                <a:tc>
                  <a:txBody>
                    <a:bodyPr/>
                    <a:lstStyle/>
                    <a:p>
                      <a:pPr marL="0" lvl="1" algn="ctr" fontAlgn="b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项目</a:t>
                      </a:r>
                    </a:p>
                  </a:txBody>
                  <a:tcPr marL="9525" marR="0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55.6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较年初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Q7</a:t>
                      </a:r>
                    </a:p>
                    <a:p>
                      <a:pPr algn="ctr" rtl="0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增量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Q8</a:t>
                      </a:r>
                    </a:p>
                    <a:p>
                      <a:pPr algn="ctr" rtl="0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增量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val="10000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lvl="1" algn="l" fontAlgn="b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累计有效客户数</a:t>
                      </a:r>
                      <a:endParaRPr lang="zh-CN" altLang="en-US" sz="900" b="1" i="0" u="none" strike="noStrike" baseline="30000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0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999.1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2.3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6.7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8.9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val="165742795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lvl="1" algn="l" fontAlgn="b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企业</a:t>
                      </a:r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MFAU</a:t>
                      </a:r>
                      <a:endParaRPr lang="zh-CN" altLang="en-US" sz="900" b="1" i="0" u="none" strike="noStrike" baseline="30000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0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11.2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-0.4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0.66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-0.88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val="10001"/>
                  </a:ext>
                </a:extLst>
              </a:tr>
            </a:tbl>
          </a:graphicData>
        </a:graphic>
      </p:graphicFrame>
      <p:graphicFrame>
        <p:nvGraphicFramePr>
          <p:cNvPr id="60" name="表格 59">
            <a:extLst>
              <a:ext uri="{FF2B5EF4-FFF2-40B4-BE49-F238E27FC236}">
                <a16:creationId id="{7B7387A6-65DD-41C7-B049-2608A260CBF3}"/>
              </a:ext>
            </a:extLst>
          </p:cNvPr>
          <p:cNvGraphicFramePr>
            <a:graphicFrameLocks noGrp="1"/>
          </p:cNvGraphicFramePr>
          <p:nvPr>
            <p:custDataLst>
              <p:tags r:id="rId30"/>
            </p:custDataLst>
            <p:extLst>
              <p:ext uri="{D42A27DB-BD31-4B8C-83A1-F6EECF244321}">
                <p14:modId val="4077716787"/>
              </p:ext>
            </p:extLst>
          </p:nvPr>
        </p:nvGraphicFramePr>
        <p:xfrm>
          <a:off x="8865394" y="2355850"/>
          <a:ext cx="2322512" cy="144621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0628">
                  <a:extLst>
                    <a:ext uri="{9D8B030D-6E8A-4147-A177-3AD203B41FA5}">
                      <a16:colId val="2776810320"/>
                    </a:ext>
                  </a:extLst>
                </a:gridCol>
                <a:gridCol w="580628">
                  <a:extLst>
                    <a:ext uri="{9D8B030D-6E8A-4147-A177-3AD203B41FA5}">
                      <a16:colId val="1779476904"/>
                    </a:ext>
                  </a:extLst>
                </a:gridCol>
                <a:gridCol w="580628">
                  <a:extLst>
                    <a:ext uri="{9D8B030D-6E8A-4147-A177-3AD203B41FA5}">
                      <a16:colId val="755682903"/>
                    </a:ext>
                  </a:extLst>
                </a:gridCol>
                <a:gridCol w="580628">
                  <a:extLst>
                    <a:ext uri="{9D8B030D-6E8A-4147-A177-3AD203B41FA5}">
                      <a16:colId val="2088217263"/>
                    </a:ext>
                  </a:extLst>
                </a:gridCol>
              </a:tblGrid>
              <a:tr h="1446213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800" b="1" i="0" u="none" strike="noStrike" dirty="0">
                          <a:solidFill>
                            <a:srgbClr val="44546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+9.1</a:t>
                      </a:r>
                    </a:p>
                  </a:txBody>
                  <a:tcPr marL="0" marR="0" marT="50400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800" b="1" i="0" u="none" strike="noStrike" dirty="0">
                          <a:solidFill>
                            <a:srgbClr val="44546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+2.3</a:t>
                      </a:r>
                    </a:p>
                  </a:txBody>
                  <a:tcPr marL="0" marR="0" marT="46800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800" b="1" i="0" u="none" strike="noStrike" dirty="0">
                          <a:solidFill>
                            <a:srgbClr val="44546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+4.5</a:t>
                      </a:r>
                    </a:p>
                  </a:txBody>
                  <a:tcPr marL="0" marR="0" marT="43200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800" b="1" i="0" u="none" strike="noStrike" dirty="0">
                          <a:solidFill>
                            <a:srgbClr val="44546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+6.7</a:t>
                      </a:r>
                    </a:p>
                    <a:p>
                      <a:pPr algn="ctr" fontAlgn="t"/>
                      <a:endParaRPr lang="en-US" altLang="zh-CN" sz="800" b="1" i="0" u="none" strike="noStrike" dirty="0">
                        <a:solidFill>
                          <a:srgbClr val="44546A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360000" marB="0"/>
                </a:tc>
                <a:extLst>
                  <a:ext uri="{0D108BD9-81ED-4DB2-BD59-A6C34878D82A}">
                    <a16:rowId val="4057531824"/>
                  </a:ext>
                </a:extLst>
              </a:tr>
            </a:tbl>
          </a:graphicData>
        </a:graphic>
      </p:graphicFrame>
      <p:cxnSp>
        <p:nvCxnSpPr>
          <p:cNvPr id="42" name="直接连接符 41">
            <a:extLst>
              <a:ext uri="{FF2B5EF4-FFF2-40B4-BE49-F238E27FC236}">
                <a16:creationId id="{1600AC1B-96D7-D2C4-D868-38C2D67D763F}"/>
              </a:ext>
            </a:extLst>
          </p:cNvPr>
          <p:cNvCxnSpPr/>
          <p:nvPr>
            <p:custDataLst>
              <p:tags r:id="rId31"/>
            </p:custDataLst>
          </p:nvPr>
        </p:nvCxnSpPr>
        <p:spPr bwMode="gray">
          <a:xfrm flipV="1">
            <a:off x="4999038" y="2611438"/>
            <a:ext cx="463550" cy="23813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id="{0ECE5464-3991-E4A3-D0E9-45BF7CEE9F09}"/>
              </a:ext>
            </a:extLst>
          </p:cNvPr>
          <p:cNvCxnSpPr>
            <a:cxnSpLocks/>
          </p:cNvCxnSpPr>
          <p:nvPr>
            <p:custDataLst>
              <p:tags r:id="rId32"/>
            </p:custDataLst>
          </p:nvPr>
        </p:nvCxnSpPr>
        <p:spPr bwMode="gray">
          <a:xfrm flipV="1">
            <a:off x="5618163" y="2552700"/>
            <a:ext cx="461963" cy="58738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id="{57042EA4-A38F-7CB3-AE42-196AFB1D615F}"/>
              </a:ext>
            </a:extLst>
          </p:cNvPr>
          <p:cNvCxnSpPr>
            <a:cxnSpLocks/>
          </p:cNvCxnSpPr>
          <p:nvPr>
            <p:custDataLst>
              <p:tags r:id="rId33"/>
            </p:custDataLst>
          </p:nvPr>
        </p:nvCxnSpPr>
        <p:spPr bwMode="gray">
          <a:xfrm flipV="1">
            <a:off x="6235699" y="2498725"/>
            <a:ext cx="463550" cy="53975"/>
          </a:xfrm>
          <a:prstGeom prst="line">
            <a:avLst/>
          </a:prstGeom>
          <a:ln w="6350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id="{36325235-2DF9-7F07-F0DE-F60F12CA73AD}"/>
              </a:ext>
            </a:extLst>
          </p:cNvPr>
          <p:cNvCxnSpPr>
            <a:cxnSpLocks/>
          </p:cNvCxnSpPr>
          <p:nvPr>
            <p:custDataLst>
              <p:tags r:id="rId34"/>
            </p:custDataLst>
          </p:nvPr>
        </p:nvCxnSpPr>
        <p:spPr bwMode="gray">
          <a:xfrm flipV="1">
            <a:off x="6854824" y="2484438"/>
            <a:ext cx="463550" cy="14288"/>
          </a:xfrm>
          <a:prstGeom prst="line">
            <a:avLst/>
          </a:prstGeom>
          <a:ln w="3175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4" name="Chart 3">
            <a:extLst>
              <a:ext uri="{FF2B5EF4-FFF2-40B4-BE49-F238E27FC236}">
                <a16:creationId id="{ED29A89C-1F31-EAF1-D554-7115C81326F0}"/>
              </a:ext>
            </a:extLst>
          </p:cNvPr>
          <p:cNvGraphicFramePr/>
          <p:nvPr>
            <p:custDataLst>
              <p:tags r:id="rId35"/>
            </p:custDataLst>
            <p:extLst>
              <p:ext uri="{D42A27DB-BD31-4B8C-83A1-F6EECF244321}">
                <p14:modId val="440404317"/>
              </p:ext>
            </p:extLst>
          </p:nvPr>
        </p:nvGraphicFramePr>
        <p:xfrm>
          <a:off x="4529138" y="2160588"/>
          <a:ext cx="3259137" cy="1824037"/>
        </p:xfrm>
        <a:graphic>
          <a:graphicData uri="http://schemas.openxmlformats.org/drawingml/2006/chart">
            <c:chart r:id="rId52"/>
          </a:graphicData>
        </a:graphic>
      </p:graphicFrame>
      <p:sp>
        <p:nvSpPr>
          <p:cNvPr id="67" name="文本占位符 2">
            <a:extLst>
              <a:ext uri="{FF2B5EF4-FFF2-40B4-BE49-F238E27FC236}">
                <a16:creationId id="{3C7215E8-BED5-4568-9ADB-27396A1F85EB}"/>
              </a:ext>
            </a:extLst>
          </p:cNvPr>
          <p:cNvSpPr>
            <a:spLocks/>
          </p:cNvSpPr>
          <p:nvPr>
            <p:custDataLst>
              <p:tags r:id="rId36"/>
            </p:custDataLst>
          </p:nvPr>
        </p:nvSpPr>
        <p:spPr bwMode="auto">
          <a:xfrm>
            <a:off x="4787900" y="3802063"/>
            <a:ext cx="266700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7:hiddenFill>
                <a:solidFill>
                  <a:scrgbClr r="0" g="0" b="0"/>
                </a:solidFill>
              </ns7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3C6731A9-1EB0-472A-BDCA-656A76360CA7}" type="datetime'''''''''''''2''5''''''''''''''''.''''''3'''''''''''''">
              <a:rPr lang="zh-CN" altLang="en-US" smtClean="0">
                <a:latin typeface="KaiTi" panose="02010609060101010101" pitchFamily="49" charset="-122"/>
                <a:ea typeface="KaiTi" panose="02010609060101010101" pitchFamily="49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88.9</a:t>
            </a:fld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sym typeface="KaiTi" panose="02010609060101010101" pitchFamily="49" charset="-122"/>
            </a:endParaRPr>
          </a:p>
        </p:txBody>
      </p:sp>
      <p:sp>
        <p:nvSpPr>
          <p:cNvPr id="73" name="文本占位符 2">
            <a:extLst>
              <a:ext uri="{FF2B5EF4-FFF2-40B4-BE49-F238E27FC236}">
                <a16:creationId id="{61D5A240-49EF-47CA-95C9-92FEC14536DE}"/>
              </a:ext>
            </a:extLst>
          </p:cNvPr>
          <p:cNvSpPr>
            <a:spLocks/>
          </p:cNvSpPr>
          <p:nvPr>
            <p:custDataLst>
              <p:tags r:id="rId37"/>
            </p:custDataLst>
          </p:nvPr>
        </p:nvSpPr>
        <p:spPr bwMode="auto">
          <a:xfrm>
            <a:off x="5407025" y="3802063"/>
            <a:ext cx="266700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7:hiddenFill>
                <a:solidFill>
                  <a:scrgbClr r="0" g="0" b="0"/>
                </a:solidFill>
              </ns7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D8083267-5587-47B0-B8CB-E60D85563AA9}" type="datetime'''''''''''''''''''2''''5''''''''.''6'''''''''''''''''''">
              <a:rPr lang="zh-CN" altLang="en-US" smtClean="0">
                <a:latin typeface="KaiTi" panose="02010609060101010101" pitchFamily="49" charset="-122"/>
                <a:ea typeface="KaiTi" panose="02010609060101010101" pitchFamily="49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11.2</a:t>
            </a:fld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sym typeface="KaiTi" panose="02010609060101010101" pitchFamily="49" charset="-122"/>
            </a:endParaRPr>
          </a:p>
        </p:txBody>
      </p:sp>
      <p:sp>
        <p:nvSpPr>
          <p:cNvPr id="59" name="文本占位符 2">
            <a:extLst>
              <a:ext uri="{FF2B5EF4-FFF2-40B4-BE49-F238E27FC236}">
                <a16:creationId id="{2AA0C6CE-5084-4C5F-BC50-2AFF989EB226}"/>
              </a:ext>
            </a:extLst>
          </p:cNvPr>
          <p:cNvSpPr>
            <a:spLocks/>
          </p:cNvSpPr>
          <p:nvPr>
            <p:custDataLst>
              <p:tags r:id="rId38"/>
            </p:custDataLst>
          </p:nvPr>
        </p:nvSpPr>
        <p:spPr bwMode="auto">
          <a:xfrm>
            <a:off x="6024563" y="3802063"/>
            <a:ext cx="266700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7:hiddenFill>
                <a:solidFill>
                  <a:scrgbClr r="0" g="0" b="0"/>
                </a:solidFill>
              </ns7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05AB5821-B74B-419E-B145-7EBA9726059D}" type="datetime'''''''''''''''2''''5.''''''''''9'''''''''''''''''''''">
              <a:rPr lang="zh-CN" altLang="en-US" smtClean="0">
                <a:latin typeface="KaiTi" panose="02010609060101010101" pitchFamily="49" charset="-122"/>
                <a:ea typeface="KaiTi" panose="02010609060101010101" pitchFamily="49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33.4</a:t>
            </a:fld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sym typeface="KaiTi" panose="02010609060101010101" pitchFamily="49" charset="-122"/>
            </a:endParaRPr>
          </a:p>
        </p:txBody>
      </p:sp>
      <p:sp>
        <p:nvSpPr>
          <p:cNvPr id="62" name="文本占位符 2">
            <a:extLst>
              <a:ext uri="{FF2B5EF4-FFF2-40B4-BE49-F238E27FC236}">
                <a16:creationId id="{3DD84B2F-30F1-44F6-9F63-D84F8041534B}"/>
              </a:ext>
            </a:extLst>
          </p:cNvPr>
          <p:cNvSpPr>
            <a:spLocks/>
          </p:cNvSpPr>
          <p:nvPr>
            <p:custDataLst>
              <p:tags r:id="rId39"/>
            </p:custDataLst>
          </p:nvPr>
        </p:nvSpPr>
        <p:spPr bwMode="auto">
          <a:xfrm>
            <a:off x="6611938" y="3802063"/>
            <a:ext cx="330200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7:hiddenFill>
                <a:solidFill>
                  <a:scrgbClr r="0" g="0" b="0"/>
                </a:solidFill>
              </ns7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B8DA249A-4262-440D-983E-C787C234DD34}" type="datetime'''''''''''''''2''''''''''''''''''''''5.''''''''''''12'">
              <a:rPr lang="zh-CN" altLang="en-US" smtClean="0">
                <a:latin typeface="KaiTi" panose="02010609060101010101" pitchFamily="49" charset="-122"/>
                <a:ea typeface="KaiTi" panose="02010609060101010101" pitchFamily="49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55.66</a:t>
            </a:fld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sym typeface="KaiTi" panose="02010609060101010101" pitchFamily="49" charset="-122"/>
            </a:endParaRPr>
          </a:p>
        </p:txBody>
      </p:sp>
      <p:sp>
        <p:nvSpPr>
          <p:cNvPr id="71" name="文本占位符 2">
            <a:extLst>
              <a:ext uri="{FF2B5EF4-FFF2-40B4-BE49-F238E27FC236}">
                <a16:creationId id="{0E9106F0-4A0D-4FD2-ACDA-A7D47D41A6E6}"/>
              </a:ext>
            </a:extLst>
          </p:cNvPr>
          <p:cNvSpPr>
            <a:spLocks/>
          </p:cNvSpPr>
          <p:nvPr>
            <p:custDataLst>
              <p:tags r:id="rId40"/>
            </p:custDataLst>
          </p:nvPr>
        </p:nvSpPr>
        <p:spPr bwMode="auto">
          <a:xfrm>
            <a:off x="7262813" y="3802063"/>
            <a:ext cx="266700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7:hiddenFill>
                <a:solidFill>
                  <a:scrgbClr r="0" g="0" b="0"/>
                </a:solidFill>
              </ns7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8B62F3F0-934B-4839-AEA1-B0591B549E59}" type="datetime'''2''''''''''6''''''''''''''.''''''''''''''''''''''''3'">
              <a:rPr lang="zh-CN" altLang="en-US" smtClean="0">
                <a:latin typeface="KaiTi" panose="02010609060101010101" pitchFamily="49" charset="-122"/>
                <a:ea typeface="KaiTi" panose="02010609060101010101" pitchFamily="49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77.8</a:t>
            </a:fld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sym typeface="KaiTi" panose="02010609060101010101" pitchFamily="49" charset="-122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id="{8C430A7C-BE41-4EC6-9477-54230A12BBB1}"/>
              </a:ext>
            </a:extLst>
          </p:cNvPr>
          <p:cNvSpPr/>
          <p:nvPr>
            <p:custDataLst>
              <p:tags r:id="rId41"/>
            </p:custDataLst>
          </p:nvPr>
        </p:nvSpPr>
        <p:spPr bwMode="auto">
          <a:xfrm>
            <a:off x="9323388" y="1966913"/>
            <a:ext cx="160338" cy="12065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ns7:hiddenLine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ns7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id="{C2305C93-8DF9-4A15-A3BD-1AC15A900BCE}"/>
              </a:ext>
            </a:extLst>
          </p:cNvPr>
          <p:cNvSpPr/>
          <p:nvPr>
            <p:custDataLst>
              <p:tags r:id="rId42"/>
            </p:custDataLst>
          </p:nvPr>
        </p:nvSpPr>
        <p:spPr bwMode="auto">
          <a:xfrm>
            <a:off x="10321925" y="1966913"/>
            <a:ext cx="160338" cy="120650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ns7:hiddenLine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ns7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文本占位符 2">
            <a:extLst>
              <a:ext uri="{FF2B5EF4-FFF2-40B4-BE49-F238E27FC236}">
                <a16:creationId id="{CA9FB482-C532-44AA-9370-D5D88147E2E2}"/>
              </a:ext>
            </a:extLst>
          </p:cNvPr>
          <p:cNvSpPr>
            <a:spLocks/>
          </p:cNvSpPr>
          <p:nvPr>
            <p:custDataLst>
              <p:tags r:id="rId43"/>
            </p:custDataLst>
          </p:nvPr>
        </p:nvSpPr>
        <p:spPr bwMode="auto">
          <a:xfrm>
            <a:off x="9534525" y="1973263"/>
            <a:ext cx="685800" cy="123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7:hiddenFill>
                <a:solidFill>
                  <a:scrgbClr r="0" g="0" b="0"/>
                </a:solidFill>
              </ns7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5B53A437-5367-4D3B-A1DD-636E65F84915}" type="datetime'''''''''累计有''''''''''''''''''''效''''''客户'''''''''''">
              <a:rPr lang="zh-CN" altLang="en-US" sz="900" smtClean="0">
                <a:latin typeface="KaiTi" panose="02010609060101010101" pitchFamily="49" charset="-122"/>
                <a:ea typeface="KaiTi" panose="02010609060101010101" pitchFamily="49" charset="-122"/>
              </a:rPr>
              <a:pPr/>
              <a:t>累计有效客户</a:t>
            </a:fld>
            <a:endParaRPr lang="zh-CN" altLang="en-US" sz="900" dirty="0">
              <a:latin typeface="KaiTi" panose="02010609060101010101" pitchFamily="49" charset="-122"/>
              <a:ea typeface="KaiTi" panose="02010609060101010101" pitchFamily="49" charset="-122"/>
              <a:sym typeface="KaiTi" panose="02010609060101010101" pitchFamily="49" charset="-122"/>
            </a:endParaRPr>
          </a:p>
        </p:txBody>
      </p:sp>
      <p:sp>
        <p:nvSpPr>
          <p:cNvPr id="99" name="文本占位符 2">
            <a:extLst>
              <a:ext uri="{FF2B5EF4-FFF2-40B4-BE49-F238E27FC236}">
                <a16:creationId id="{CA9FB482-C532-44AA-9370-D5D88147E2E2}"/>
              </a:ext>
            </a:extLst>
          </p:cNvPr>
          <p:cNvSpPr>
            <a:spLocks/>
          </p:cNvSpPr>
          <p:nvPr>
            <p:custDataLst>
              <p:tags r:id="rId44"/>
            </p:custDataLst>
          </p:nvPr>
        </p:nvSpPr>
        <p:spPr bwMode="auto">
          <a:xfrm>
            <a:off x="10533063" y="1973263"/>
            <a:ext cx="457200" cy="123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7:hiddenFill>
                <a:solidFill>
                  <a:scrgbClr r="0" g="0" b="0"/>
                </a:solidFill>
              </ns7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268A219F-7154-4342-9255-359F59C27733}" type="datetime'''企''''''''''''''''''''业M''''''''''''F''''A''''''U'''">
              <a:rPr lang="zh-CN" altLang="en-US" sz="900" smtClean="0">
                <a:latin typeface="KaiTi" panose="02010609060101010101" pitchFamily="49" charset="-122"/>
                <a:ea typeface="KaiTi" panose="02010609060101010101" pitchFamily="49" charset="-122"/>
              </a:rPr>
              <a:pPr/>
              <a:t>企业MFAU</a:t>
            </a:fld>
            <a:endParaRPr lang="zh-CN" altLang="en-US" sz="900" dirty="0">
              <a:latin typeface="KaiTi" panose="02010609060101010101" pitchFamily="49" charset="-122"/>
              <a:ea typeface="KaiTi" panose="02010609060101010101" pitchFamily="49" charset="-122"/>
              <a:sym typeface="KaiTi" panose="02010609060101010101" pitchFamily="49" charset="-122"/>
            </a:endParaRPr>
          </a:p>
        </p:txBody>
      </p:sp>
      <p:graphicFrame>
        <p:nvGraphicFramePr>
          <p:cNvPr id="78" name="表格 77">
            <a:extLst>
              <a:ext uri="{FF2B5EF4-FFF2-40B4-BE49-F238E27FC236}">
                <a16:creationId id="{25E9D0A0-69B7-44F7-AE22-F79A22726EEC}"/>
              </a:ext>
            </a:extLst>
          </p:cNvPr>
          <p:cNvGraphicFramePr>
            <a:graphicFrameLocks noGrp="1"/>
          </p:cNvGraphicFramePr>
          <p:nvPr>
            <p:custDataLst>
              <p:tags r:id="rId45"/>
            </p:custDataLst>
            <p:extLst>
              <p:ext uri="{D42A27DB-BD31-4B8C-83A1-F6EECF244321}">
                <p14:modId val="2474133542"/>
              </p:ext>
            </p:extLst>
          </p:nvPr>
        </p:nvGraphicFramePr>
        <p:xfrm>
          <a:off x="4911725" y="2364095"/>
          <a:ext cx="2493964" cy="144621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3491">
                  <a:extLst>
                    <a:ext uri="{9D8B030D-6E8A-4147-A177-3AD203B41FA5}">
                      <a16:colId val="2776810320"/>
                    </a:ext>
                  </a:extLst>
                </a:gridCol>
                <a:gridCol w="623491">
                  <a:extLst>
                    <a:ext uri="{9D8B030D-6E8A-4147-A177-3AD203B41FA5}">
                      <a16:colId val="1779476904"/>
                    </a:ext>
                  </a:extLst>
                </a:gridCol>
                <a:gridCol w="623491">
                  <a:extLst>
                    <a:ext uri="{9D8B030D-6E8A-4147-A177-3AD203B41FA5}">
                      <a16:colId val="755682903"/>
                    </a:ext>
                  </a:extLst>
                </a:gridCol>
                <a:gridCol w="623491">
                  <a:extLst>
                    <a:ext uri="{9D8B030D-6E8A-4147-A177-3AD203B41FA5}">
                      <a16:colId val="2088217263"/>
                    </a:ext>
                  </a:extLst>
                </a:gridCol>
              </a:tblGrid>
              <a:tr h="1446213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800" b="1" i="0" u="none" strike="noStrike" dirty="0">
                          <a:solidFill>
                            <a:srgbClr val="44546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+999</a:t>
                      </a:r>
                    </a:p>
                  </a:txBody>
                  <a:tcPr marL="0" marR="0" marT="57600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800" b="1" i="0" u="none" strike="noStrike" dirty="0">
                          <a:solidFill>
                            <a:srgbClr val="44546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+111</a:t>
                      </a:r>
                    </a:p>
                  </a:txBody>
                  <a:tcPr marL="0" marR="0" marT="54000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800" b="1" i="0" u="none" strike="noStrike" dirty="0">
                          <a:solidFill>
                            <a:srgbClr val="44546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+222</a:t>
                      </a:r>
                    </a:p>
                  </a:txBody>
                  <a:tcPr marL="0" marR="0" marT="50400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800" b="1" i="0" u="none" strike="noStrike" dirty="0">
                          <a:solidFill>
                            <a:srgbClr val="44546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+333</a:t>
                      </a:r>
                    </a:p>
                  </a:txBody>
                  <a:tcPr marL="0" marR="0" marT="468000" marB="0"/>
                </a:tc>
                <a:extLst>
                  <a:ext uri="{0D108BD9-81ED-4DB2-BD59-A6C34878D82A}">
                    <a16:rowId val="40575318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val="329864438"/>
      </p:ext>
    </p:extLst>
  </p:cSld>
  <p:clrMapOvr>
    <a:masterClrMapping/>
  </p:clrMapOvr>
</p:sld>
</file>

<file path=ppt/slides/slide5.xml><?xml version="1.0" encoding="utf-8"?>
<p:sld xmlns:a="http://schemas.openxmlformats.org/drawingml/2006/main" xmlns:a16="http://schemas.microsoft.com/office/drawing/2014/main" xmlns:c="http://schemas.openxmlformats.org/drawingml/2006/chart" xmlns:mc="http://schemas.openxmlformats.org/markup-compatibility/2006" xmlns:ns7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id="{61E3F4DB-9021-28F8-A183-9E328538F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对象 7" hidden="1">
            <a:extLst>
              <a:ext uri="{FF2B5EF4-FFF2-40B4-BE49-F238E27FC236}">
                <a16:creationId id="{63D61EEE-DDA4-B0C5-0F88-EA841759656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val="4073776079"/>
              </p:ext>
            </p:extLst>
          </p:nvPr>
        </p:nvGraphicFramePr>
        <p:xfrm>
          <a:off x="1525588" y="1588"/>
          <a:ext cx="1588" cy="1588"/>
        </p:xfrm>
        <a:graphic>
          <a:graphicData uri="http://schemas.openxmlformats.org/presentationml/2006/ole">
            <mc:AlternateContent>
              <mc:Choice Requires="v">
                <p:oleObj name="think-cell 幻灯片" r:id="rId53" imgW="270" imgH="270" progId="TCLayout.ActiveDocument.1">
                  <p:embed/>
                </p:oleObj>
              </mc:Choice>
              <mc:Fallback>
                <p:oleObj name="think-cell 幻灯片" r:id="rId53" imgW="270" imgH="270" progId="TCLayout.ActiveDocument.1">
                  <p:embed/>
                  <p:pic>
                    <p:nvPicPr>
                      <p:cNvPr id="8" name="对象 7" hidden="1">
                        <a:extLst>
                          <a:ext uri="{FF2B5EF4-FFF2-40B4-BE49-F238E27FC236}">
                            <a16:creationId id="{63D61EEE-DDA4-B0C5-0F88-EA84175965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1525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>
            <a:extLst>
              <a:ext uri="{FF2B5EF4-FFF2-40B4-BE49-F238E27FC236}">
                <a16:creationId id="{BBAD4C0C-6A2E-9660-E07D-26FF6B779317}"/>
              </a:ext>
            </a:extLst>
          </p:cNvPr>
          <p:cNvSpPr/>
          <p:nvPr/>
        </p:nvSpPr>
        <p:spPr>
          <a:xfrm>
            <a:off x="172517" y="6359360"/>
            <a:ext cx="3075508" cy="42994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 hidden="1">
            <a:extLst>
              <a:ext uri="{FF2B5EF4-FFF2-40B4-BE49-F238E27FC236}">
                <a16:creationId id="{2FFF126A-A2A2-FC02-C8B6-DC3BD3FD806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52400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800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标题 10">
            <a:extLst>
              <a:ext uri="{FF2B5EF4-FFF2-40B4-BE49-F238E27FC236}">
                <a16:creationId id="{1E393967-E2A3-F4C2-91C7-4B5136C62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90" y="323224"/>
            <a:ext cx="10515600" cy="432000"/>
          </a:xfrm>
        </p:spPr>
        <p:txBody>
          <a:bodyPr vert="horz" rIns="91440">
            <a:normAutofit fontScale="90000"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微软雅黑"/>
                <a:ea typeface="微软雅黑"/>
              </a:rPr>
              <a:t>业务</a:t>
            </a:r>
            <a:endParaRPr lang="zh-CN" altLang="en-US" dirty="0">
              <a:highlight>
                <a:srgbClr val="FFFF00"/>
              </a:highlight>
            </a:endParaRPr>
          </a:p>
        </p:txBody>
      </p:sp>
      <p:grpSp>
        <p:nvGrpSpPr>
          <p:cNvPr id="54" name="组合 53">
            <a:extLst>
              <a:ext uri="{FF2B5EF4-FFF2-40B4-BE49-F238E27FC236}">
                <a16:creationId id="{A18A5C2B-6E07-ABDC-7854-95E0A36FB39D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1196321" y="2100118"/>
            <a:ext cx="2896254" cy="499202"/>
            <a:chOff x="267196" y="1516625"/>
            <a:chExt cx="3485648" cy="536599"/>
          </a:xfrm>
        </p:grpSpPr>
        <p:sp>
          <p:nvSpPr>
            <p:cNvPr id="58" name="TextBox 25">
              <a:extLst>
                <a:ext uri="{FF2B5EF4-FFF2-40B4-BE49-F238E27FC236}">
                  <a16:creationId id="{E949AAAD-BEA1-FA3A-C1E0-65FA065CEBF8}"/>
                </a:ext>
              </a:extLst>
            </p:cNvPr>
            <p:cNvSpPr txBox="1"/>
            <p:nvPr/>
          </p:nvSpPr>
          <p:spPr>
            <a:xfrm>
              <a:off x="267196" y="1821579"/>
              <a:ext cx="1152128" cy="2316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单位：亿元</a:t>
              </a:r>
            </a:p>
          </p:txBody>
        </p:sp>
        <p:sp>
          <p:nvSpPr>
            <p:cNvPr id="56" name="文本框 55">
              <a:extLst>
                <a:ext uri="{FF2B5EF4-FFF2-40B4-BE49-F238E27FC236}">
                  <a16:creationId id="{280B42E4-2D30-E7E6-8666-40C13C3F12D3}"/>
                </a:ext>
              </a:extLst>
            </p:cNvPr>
            <p:cNvSpPr txBox="1"/>
            <p:nvPr/>
          </p:nvSpPr>
          <p:spPr>
            <a:xfrm>
              <a:off x="505124" y="1516625"/>
              <a:ext cx="3247720" cy="29782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贷款情况</a:t>
              </a:r>
            </a:p>
          </p:txBody>
        </p:sp>
      </p:grpSp>
      <p:sp>
        <p:nvSpPr>
          <p:cNvPr id="143" name="内容占位符 2">
            <a:extLst>
              <a:ext uri="{FF2B5EF4-FFF2-40B4-BE49-F238E27FC236}">
                <a16:creationId id="{69BB3090-6383-DBA3-EA8B-7018EF9E02F2}"/>
              </a:ext>
            </a:extLst>
          </p:cNvPr>
          <p:cNvSpPr txBox="1"/>
          <p:nvPr/>
        </p:nvSpPr>
        <p:spPr>
          <a:xfrm>
            <a:off x="-311267" y="6523037"/>
            <a:ext cx="2876550" cy="27781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1200" b="1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zh-CN" altLang="en-US" dirty="0">
              <a:solidFill>
                <a:sysClr val="windowText" lastClr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160" name="组合 159">
            <a:extLst>
              <a:ext uri="{FF2B5EF4-FFF2-40B4-BE49-F238E27FC236}">
                <a16:creationId id="{AE5EAD9F-643E-5C7B-5244-6213809A87CB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1211455" y="4629149"/>
            <a:ext cx="2881121" cy="534343"/>
            <a:chOff x="280516" y="1136686"/>
            <a:chExt cx="3327300" cy="573776"/>
          </a:xfrm>
        </p:grpSpPr>
        <p:sp>
          <p:nvSpPr>
            <p:cNvPr id="164" name="TextBox 25">
              <a:extLst>
                <a:ext uri="{FF2B5EF4-FFF2-40B4-BE49-F238E27FC236}">
                  <a16:creationId id="{85EB197E-7411-2F26-A4FF-26EDA9D3C4E9}"/>
                </a:ext>
              </a:extLst>
            </p:cNvPr>
            <p:cNvSpPr txBox="1"/>
            <p:nvPr/>
          </p:nvSpPr>
          <p:spPr>
            <a:xfrm>
              <a:off x="280516" y="1478818"/>
              <a:ext cx="1152127" cy="2316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单位：亿元</a:t>
              </a:r>
            </a:p>
          </p:txBody>
        </p:sp>
        <p:sp>
          <p:nvSpPr>
            <p:cNvPr id="165" name="文本框 164">
              <a:extLst>
                <a:ext uri="{FF2B5EF4-FFF2-40B4-BE49-F238E27FC236}">
                  <a16:creationId id="{886E67A7-2B24-4E73-C9A0-4391BD8F3F8D}"/>
                </a:ext>
              </a:extLst>
            </p:cNvPr>
            <p:cNvSpPr txBox="1"/>
            <p:nvPr/>
          </p:nvSpPr>
          <p:spPr>
            <a:xfrm>
              <a:off x="429032" y="1136686"/>
              <a:ext cx="3178784" cy="2974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管理资产</a:t>
              </a:r>
            </a:p>
          </p:txBody>
        </p:sp>
      </p:grpSp>
      <p:sp>
        <p:nvSpPr>
          <p:cNvPr id="119" name="矩形 118">
            <a:extLst>
              <a:ext uri="{FF2B5EF4-FFF2-40B4-BE49-F238E27FC236}">
                <a16:creationId id="{3DD2FFD7-9846-C68E-3B93-4E2B31F5FDDA}"/>
              </a:ext>
            </a:extLst>
          </p:cNvPr>
          <p:cNvSpPr/>
          <p:nvPr/>
        </p:nvSpPr>
        <p:spPr>
          <a:xfrm>
            <a:off x="172517" y="853707"/>
            <a:ext cx="11945342" cy="9190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0000" indent="-180000">
              <a:lnSpc>
                <a:spcPct val="150000"/>
              </a:lnSpc>
              <a:buClr>
                <a:srgbClr val="C00000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44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年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月管理贷款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不含票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规模环比增加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666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亿元，较年初下降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77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亿元。分项来看：泛微粒贷较年初减少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88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亿元；微业贷减少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99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亿元。</a:t>
            </a:r>
            <a:endParaRPr lang="en-US" altLang="zh-CN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180000" indent="-180000">
              <a:lnSpc>
                <a:spcPct val="150000"/>
              </a:lnSpc>
              <a:buClr>
                <a:srgbClr val="C00000"/>
              </a:buClr>
              <a:buSzPct val="80000"/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管理资产环比下降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1,111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亿元，主要是春节后微账户资金逐步回落，较上月下降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2,222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亿元；财富业务受市场波动影响，活期类产品赎回增多，较上月下降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33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亿元。</a:t>
            </a:r>
            <a:endParaRPr lang="en-US" altLang="zh-CN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9" name="TextBox 25">
            <a:extLst>
              <a:ext uri="{FF2B5EF4-FFF2-40B4-BE49-F238E27FC236}">
                <a16:creationId id="{151BACBD-EC26-2129-0A40-42C30D56B94A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330325" y="2540000"/>
            <a:ext cx="13067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管理贷款</a:t>
            </a:r>
            <a:r>
              <a:rPr lang="en-US" altLang="zh-CN" sz="9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9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不含票</a:t>
            </a:r>
            <a:r>
              <a:rPr lang="zh-CN" altLang="en-US" sz="900" baseline="300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注</a:t>
            </a:r>
            <a:r>
              <a:rPr lang="en-US" altLang="zh-CN" sz="9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zh-CN" altLang="en-US" sz="900" b="1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80" name="直接连接符 79">
            <a:extLst>
              <a:ext uri="{FF2B5EF4-FFF2-40B4-BE49-F238E27FC236}">
                <a16:creationId id="{04A281D1-43A6-8B55-8417-9D9C4037FDC5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 bwMode="gray">
          <a:xfrm flipV="1">
            <a:off x="3233738" y="3295650"/>
            <a:ext cx="400050" cy="11113"/>
          </a:xfrm>
          <a:prstGeom prst="line">
            <a:avLst/>
          </a:prstGeom>
          <a:ln w="6350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6" name="Chart 3">
            <a:extLst>
              <a:ext uri="{FF2B5EF4-FFF2-40B4-BE49-F238E27FC236}">
                <a16:creationId id="{F9BF6EA0-FEF0-A2F8-E1CB-1F47B4583E92}"/>
              </a:ext>
            </a:extLst>
          </p:cNvPr>
          <p:cNvGraphicFramePr/>
          <p:nvPr>
            <p:custDataLst>
              <p:tags r:id="rId7"/>
            </p:custDataLst>
            <p:extLst>
              <p:ext uri="{D42A27DB-BD31-4B8C-83A1-F6EECF244321}">
                <p14:modId val="3642724713"/>
              </p:ext>
            </p:extLst>
          </p:nvPr>
        </p:nvGraphicFramePr>
        <p:xfrm>
          <a:off x="2428875" y="2835275"/>
          <a:ext cx="2008188" cy="1287463"/>
        </p:xfrm>
        <a:graphic>
          <a:graphicData uri="http://schemas.openxmlformats.org/drawingml/2006/chart">
            <c:chart r:id="rId55"/>
          </a:graphicData>
        </a:graphic>
      </p:graphicFrame>
      <p:sp>
        <p:nvSpPr>
          <p:cNvPr id="82" name="文本占位符 2">
            <a:extLst>
              <a:ext uri="{FF2B5EF4-FFF2-40B4-BE49-F238E27FC236}">
                <a16:creationId id="{639E8F10-E1A9-1D95-A639-B7B3FA63667B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2998788" y="3970338"/>
            <a:ext cx="266700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7:hiddenFill>
                <a:solidFill>
                  <a:scrgbClr r="0" g="0" b="0"/>
                </a:solidFill>
              </ns7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C14E4BFE-DCCE-43BD-834E-692DA6C220C7}" type="datetime'''''''''''''''''''''''''''''''2''''5.''''''''''''''''''''1''2'">
              <a:rPr lang="zh-CN" altLang="en-US" sz="800" smtClean="0">
                <a:latin typeface="KaiTi" panose="02010609060101010101" pitchFamily="49" charset="-122"/>
                <a:ea typeface="KaiTi" panose="02010609060101010101" pitchFamily="49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44.55</a:t>
            </a:fld>
            <a:endParaRPr lang="zh-CN" altLang="en-US" sz="800" dirty="0">
              <a:latin typeface="KaiTi" panose="02010609060101010101" pitchFamily="49" charset="-122"/>
              <a:ea typeface="KaiTi" panose="02010609060101010101" pitchFamily="49" charset="-122"/>
              <a:sym typeface="KaiTi" panose="02010609060101010101" pitchFamily="49" charset="-122"/>
            </a:endParaRPr>
          </a:p>
        </p:txBody>
      </p:sp>
      <p:sp>
        <p:nvSpPr>
          <p:cNvPr id="83" name="文本占位符 2">
            <a:extLst>
              <a:ext uri="{FF2B5EF4-FFF2-40B4-BE49-F238E27FC236}">
                <a16:creationId id="{41E36B0C-7A3C-E3DB-4909-D4C4A57C5BE6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3625850" y="3970338"/>
            <a:ext cx="215900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7:hiddenFill>
                <a:solidFill>
                  <a:scrgbClr r="0" g="0" b="0"/>
                </a:solidFill>
              </ns7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17CCAC95-740C-47E4-80FE-9B9028D8E92F}" type="datetime'''''''''2''''''''''''''6''''''.''''''''3'">
              <a:rPr lang="zh-CN" altLang="en-US" sz="800" smtClean="0">
                <a:latin typeface="KaiTi" panose="02010609060101010101" pitchFamily="49" charset="-122"/>
                <a:ea typeface="KaiTi" panose="02010609060101010101" pitchFamily="49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66.7</a:t>
            </a:fld>
            <a:endParaRPr lang="zh-CN" altLang="en-US" sz="800" dirty="0">
              <a:latin typeface="KaiTi" panose="02010609060101010101" pitchFamily="49" charset="-122"/>
              <a:ea typeface="KaiTi" panose="02010609060101010101" pitchFamily="49" charset="-122"/>
              <a:sym typeface="KaiTi" panose="02010609060101010101" pitchFamily="49" charset="-122"/>
            </a:endParaRPr>
          </a:p>
        </p:txBody>
      </p:sp>
      <p:sp>
        <p:nvSpPr>
          <p:cNvPr id="84" name="TextBox 25">
            <a:extLst>
              <a:ext uri="{FF2B5EF4-FFF2-40B4-BE49-F238E27FC236}">
                <a16:creationId id="{ADE4F435-790A-173A-D697-8F8308BA71F6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2873375" y="2536825"/>
            <a:ext cx="1219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各项贷款</a:t>
            </a:r>
            <a:r>
              <a:rPr lang="en-US" altLang="zh-CN" sz="9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9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不含票</a:t>
            </a:r>
            <a:r>
              <a:rPr lang="zh-CN" altLang="en-US" sz="900" baseline="300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注</a:t>
            </a:r>
            <a:r>
              <a:rPr lang="en-US" altLang="zh-CN" sz="9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zh-CN" altLang="en-US" sz="900" b="1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94" name="直接连接符 93">
            <a:extLst>
              <a:ext uri="{FF2B5EF4-FFF2-40B4-BE49-F238E27FC236}">
                <a16:creationId id="{3410821E-EEF4-84AA-C0B6-BCB5231467C2}"/>
              </a:ext>
            </a:extLst>
          </p:cNvPr>
          <p:cNvCxnSpPr/>
          <p:nvPr>
            <p:custDataLst>
              <p:tags r:id="rId11"/>
            </p:custDataLst>
          </p:nvPr>
        </p:nvCxnSpPr>
        <p:spPr bwMode="gray">
          <a:xfrm>
            <a:off x="1666875" y="3005138"/>
            <a:ext cx="400050" cy="9525"/>
          </a:xfrm>
          <a:prstGeom prst="line">
            <a:avLst/>
          </a:prstGeom>
          <a:ln w="6350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9" name="Chart 3">
            <a:extLst>
              <a:ext uri="{FF2B5EF4-FFF2-40B4-BE49-F238E27FC236}">
                <a16:creationId id="{3DCB2FBF-7CBC-9FE9-8266-D68CD993FECA}"/>
              </a:ext>
            </a:extLst>
          </p:cNvPr>
          <p:cNvGraphicFramePr/>
          <p:nvPr>
            <p:custDataLst>
              <p:tags r:id="rId12"/>
            </p:custDataLst>
            <p:extLst>
              <p:ext uri="{D42A27DB-BD31-4B8C-83A1-F6EECF244321}">
                <p14:modId val="3956486250"/>
              </p:ext>
            </p:extLst>
          </p:nvPr>
        </p:nvGraphicFramePr>
        <p:xfrm>
          <a:off x="862013" y="2736850"/>
          <a:ext cx="2008187" cy="1370013"/>
        </p:xfrm>
        <a:graphic>
          <a:graphicData uri="http://schemas.openxmlformats.org/drawingml/2006/chart">
            <c:chart r:id="rId56"/>
          </a:graphicData>
        </a:graphic>
      </p:graphicFrame>
      <p:sp>
        <p:nvSpPr>
          <p:cNvPr id="87" name="文本占位符 2">
            <a:extLst>
              <a:ext uri="{FF2B5EF4-FFF2-40B4-BE49-F238E27FC236}">
                <a16:creationId id="{0C77BEB2-CD82-0F54-155D-43AB56305487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1431925" y="3954463"/>
            <a:ext cx="266700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7:hiddenFill>
                <a:solidFill>
                  <a:scrgbClr r="0" g="0" b="0"/>
                </a:solidFill>
              </ns7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D3595CE1-0C40-41CF-B937-9E90C44154EC}" type="datetime'2''''5''''''''''''''''.''''''''''''''''12'''''">
              <a:rPr lang="zh-CN" altLang="en-US" sz="800" smtClean="0">
                <a:latin typeface="KaiTi" panose="02010609060101010101" pitchFamily="49" charset="-122"/>
                <a:ea typeface="KaiTi" panose="02010609060101010101" pitchFamily="49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88.99</a:t>
            </a:fld>
            <a:endParaRPr lang="zh-CN" altLang="en-US" sz="800" dirty="0">
              <a:latin typeface="KaiTi" panose="02010609060101010101" pitchFamily="49" charset="-122"/>
              <a:ea typeface="KaiTi" panose="02010609060101010101" pitchFamily="49" charset="-122"/>
              <a:sym typeface="KaiTi" panose="02010609060101010101" pitchFamily="49" charset="-122"/>
            </a:endParaRPr>
          </a:p>
        </p:txBody>
      </p:sp>
      <p:sp>
        <p:nvSpPr>
          <p:cNvPr id="88" name="文本占位符 2">
            <a:extLst>
              <a:ext uri="{FF2B5EF4-FFF2-40B4-BE49-F238E27FC236}">
                <a16:creationId id="{422FFA6A-0C11-FFE6-88DB-A78405A05443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 bwMode="auto">
          <a:xfrm>
            <a:off x="2058988" y="3954463"/>
            <a:ext cx="215900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7:hiddenFill>
                <a:solidFill>
                  <a:scrgbClr r="0" g="0" b="0"/>
                </a:solidFill>
              </ns7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C85835EB-1CD3-4AA4-BD6A-6EE7B5F6556F}" type="datetime'''''''''''''''2''6''''''''''''''''''''''''.''3'''''''''''''">
              <a:rPr lang="zh-CN" altLang="en-US" sz="800" smtClean="0">
                <a:latin typeface="KaiTi" panose="02010609060101010101" pitchFamily="49" charset="-122"/>
                <a:ea typeface="KaiTi" panose="02010609060101010101" pitchFamily="49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11.2</a:t>
            </a:fld>
            <a:endParaRPr lang="zh-CN" altLang="en-US" sz="800" dirty="0">
              <a:latin typeface="KaiTi" panose="02010609060101010101" pitchFamily="49" charset="-122"/>
              <a:ea typeface="KaiTi" panose="02010609060101010101" pitchFamily="49" charset="-122"/>
              <a:sym typeface="KaiTi" panose="02010609060101010101" pitchFamily="49" charset="-122"/>
            </a:endParaRPr>
          </a:p>
        </p:txBody>
      </p:sp>
      <p:graphicFrame>
        <p:nvGraphicFramePr>
          <p:cNvPr id="92" name="表格 91">
            <a:extLst>
              <a:ext uri="{FF2B5EF4-FFF2-40B4-BE49-F238E27FC236}">
                <a16:creationId id="{CA4DCD95-EAEC-7AC5-4E70-0A3EAC51A9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187258375"/>
              </p:ext>
            </p:extLst>
          </p:nvPr>
        </p:nvGraphicFramePr>
        <p:xfrm>
          <a:off x="3136900" y="3100388"/>
          <a:ext cx="595313" cy="10512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5313">
                  <a:extLst>
                    <a:ext uri="{9D8B030D-6E8A-4147-A177-3AD203B41FA5}">
                      <a16:colId val="755682903"/>
                    </a:ext>
                  </a:extLst>
                </a:gridCol>
              </a:tblGrid>
              <a:tr h="1051260">
                <a:tc>
                  <a:txBody>
                    <a:bodyPr/>
                    <a:lstStyle/>
                    <a:p>
                      <a:pPr algn="ctr" fontAlgn="t"/>
                      <a:endParaRPr lang="en-US" altLang="zh-CN" sz="700" b="1" i="0" u="none" strike="noStrike" dirty="0">
                        <a:solidFill>
                          <a:srgbClr val="44546A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t"/>
                      <a:r>
                        <a:rPr lang="en-US" altLang="zh-CN" sz="700" b="1" i="0" u="none" strike="noStrike" dirty="0">
                          <a:solidFill>
                            <a:srgbClr val="44546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+33</a:t>
                      </a:r>
                    </a:p>
                    <a:p>
                      <a:pPr algn="ctr" fontAlgn="t"/>
                      <a:r>
                        <a:rPr lang="en-US" altLang="zh-CN" sz="700" b="1" i="0" u="none" strike="noStrike" dirty="0">
                          <a:solidFill>
                            <a:srgbClr val="44546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+44%</a:t>
                      </a:r>
                    </a:p>
                  </a:txBody>
                  <a:tcPr marL="0" marR="0" marT="216000" marB="0"/>
                </a:tc>
                <a:extLst>
                  <a:ext uri="{0D108BD9-81ED-4DB2-BD59-A6C34878D82A}">
                    <a16:rowId val="4057531824"/>
                  </a:ext>
                </a:extLst>
              </a:tr>
            </a:tbl>
          </a:graphicData>
        </a:graphic>
      </p:graphicFrame>
      <p:graphicFrame>
        <p:nvGraphicFramePr>
          <p:cNvPr id="98" name="表格 97">
            <a:extLst>
              <a:ext uri="{FF2B5EF4-FFF2-40B4-BE49-F238E27FC236}">
                <a16:creationId id="{16F6A7DF-A19A-851A-62B4-E158F0BD9D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3097376678"/>
              </p:ext>
            </p:extLst>
          </p:nvPr>
        </p:nvGraphicFramePr>
        <p:xfrm>
          <a:off x="1565275" y="3019425"/>
          <a:ext cx="595313" cy="10512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5313">
                  <a:extLst>
                    <a:ext uri="{9D8B030D-6E8A-4147-A177-3AD203B41FA5}">
                      <a16:colId val="755682903"/>
                    </a:ext>
                  </a:extLst>
                </a:gridCol>
              </a:tblGrid>
              <a:tr h="1051260">
                <a:tc>
                  <a:txBody>
                    <a:bodyPr/>
                    <a:lstStyle/>
                    <a:p>
                      <a:pPr algn="ctr" fontAlgn="t"/>
                      <a:endParaRPr lang="en-US" altLang="zh-CN" sz="700" b="1" i="0" u="none" strike="noStrike" dirty="0">
                        <a:solidFill>
                          <a:srgbClr val="44546A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t"/>
                      <a:r>
                        <a:rPr lang="en-US" altLang="zh-CN" sz="700" b="1" i="0" u="none" strike="noStrike" dirty="0">
                          <a:solidFill>
                            <a:srgbClr val="44546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-55</a:t>
                      </a:r>
                    </a:p>
                    <a:p>
                      <a:pPr algn="ctr" fontAlgn="t"/>
                      <a:r>
                        <a:rPr lang="en-US" altLang="zh-CN" sz="700" b="1" i="0" u="none" strike="noStrike" dirty="0">
                          <a:solidFill>
                            <a:srgbClr val="44546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-66%</a:t>
                      </a:r>
                    </a:p>
                  </a:txBody>
                  <a:tcPr marL="0" marR="0" marT="216000" marB="0"/>
                </a:tc>
                <a:extLst>
                  <a:ext uri="{0D108BD9-81ED-4DB2-BD59-A6C34878D82A}">
                    <a16:rowId val="4057531824"/>
                  </a:ext>
                </a:extLst>
              </a:tr>
            </a:tbl>
          </a:graphicData>
        </a:graphic>
      </p:graphicFrame>
      <p:graphicFrame>
        <p:nvGraphicFramePr>
          <p:cNvPr id="29" name="Chart 3">
            <a:extLst>
              <a:ext uri="{FF2B5EF4-FFF2-40B4-BE49-F238E27FC236}">
                <a16:creationId id="{F2A01225-F379-F085-8D33-EB2D8E837B67}"/>
              </a:ext>
            </a:extLst>
          </p:cNvPr>
          <p:cNvGraphicFramePr/>
          <p:nvPr>
            <p:custDataLst>
              <p:tags r:id="rId15"/>
            </p:custDataLst>
            <p:extLst>
              <p:ext uri="{D42A27DB-BD31-4B8C-83A1-F6EECF244321}">
                <p14:modId val="4171036943"/>
              </p:ext>
            </p:extLst>
          </p:nvPr>
        </p:nvGraphicFramePr>
        <p:xfrm>
          <a:off x="1576388" y="5180013"/>
          <a:ext cx="2262187" cy="1458912"/>
        </p:xfrm>
        <a:graphic>
          <a:graphicData uri="http://schemas.openxmlformats.org/drawingml/2006/chart">
            <c:chart r:id="rId57"/>
          </a:graphicData>
        </a:graphic>
      </p:graphicFrame>
      <p:sp>
        <p:nvSpPr>
          <p:cNvPr id="114" name="文本占位符 2">
            <a:extLst>
              <a:ext uri="{FF2B5EF4-FFF2-40B4-BE49-F238E27FC236}">
                <a16:creationId id="{B87B8126-9299-8FB6-9222-7ECAD923CABB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2055813" y="6486525"/>
            <a:ext cx="266700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7:hiddenFill>
                <a:solidFill>
                  <a:scrgbClr r="0" g="0" b="0"/>
                </a:solidFill>
              </ns7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317E57C1-D8E1-4D80-98CE-22194ED86B19}" type="datetime'''''''''2''5''''.''1''''''''2'''''''">
              <a:rPr lang="zh-CN" altLang="en-US" sz="800" smtClean="0">
                <a:latin typeface="楷体" panose="02010609060101010101" pitchFamily="49" charset="-122"/>
                <a:ea typeface="楷体" panose="02010609060101010101" pitchFamily="49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77.88</a:t>
            </a:fld>
            <a:endParaRPr lang="zh-CN" altLang="en-US" sz="800" dirty="0">
              <a:latin typeface="楷体" panose="02010609060101010101" pitchFamily="49" charset="-122"/>
              <a:ea typeface="楷体" panose="02010609060101010101" pitchFamily="49" charset="-122"/>
              <a:sym typeface="楷体" panose="02010609060101010101" pitchFamily="49" charset="-122"/>
            </a:endParaRPr>
          </a:p>
        </p:txBody>
      </p:sp>
      <p:sp>
        <p:nvSpPr>
          <p:cNvPr id="115" name="文本占位符 2">
            <a:extLst>
              <a:ext uri="{FF2B5EF4-FFF2-40B4-BE49-F238E27FC236}">
                <a16:creationId id="{7D88AAA6-D77F-39B0-2A38-52A3598D338B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3117850" y="6486525"/>
            <a:ext cx="215900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7:hiddenFill>
                <a:solidFill>
                  <a:scrgbClr r="0" g="0" b="0"/>
                </a:solidFill>
              </ns7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E17B95A2-F4E7-4DF3-BFC8-121D072E5252}" type="datetime'2''''''6''''''''''''''''''''''''''''.3'''''''''">
              <a:rPr lang="zh-CN" altLang="en-US" sz="800" smtClean="0">
                <a:latin typeface="楷体" panose="02010609060101010101" pitchFamily="49" charset="-122"/>
                <a:ea typeface="楷体" panose="02010609060101010101" pitchFamily="49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99.1</a:t>
            </a:fld>
            <a:endParaRPr lang="zh-CN" altLang="en-US" sz="800" dirty="0">
              <a:latin typeface="楷体" panose="02010609060101010101" pitchFamily="49" charset="-122"/>
              <a:ea typeface="楷体" panose="02010609060101010101" pitchFamily="49" charset="-122"/>
              <a:sym typeface="楷体" panose="02010609060101010101" pitchFamily="49" charset="-122"/>
            </a:endParaRPr>
          </a:p>
        </p:txBody>
      </p:sp>
      <p:sp>
        <p:nvSpPr>
          <p:cNvPr id="116" name="文本占位符 2">
            <a:extLst>
              <a:ext uri="{FF2B5EF4-FFF2-40B4-BE49-F238E27FC236}">
                <a16:creationId id="{DF1141C7-B16D-487D-A526-063F756E2951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gray">
          <a:xfrm>
            <a:off x="2022475" y="5297488"/>
            <a:ext cx="333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7:hiddenFill>
                <a:solidFill>
                  <a:schemeClr val="accent1"/>
                </a:solidFill>
              </ns7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33915522-8E70-41B5-8D01-41070FC321BB}" type="datetime'''''''''3''''''''7'''''''',''''''''''''5''46'''''''">
              <a:rPr lang="zh-CN" altLang="en-US" sz="800" smtClean="0">
                <a:latin typeface="楷体" panose="02010609060101010101" pitchFamily="49" charset="-122"/>
                <a:ea typeface="楷体" panose="02010609060101010101" pitchFamily="49" charset="-122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22,222</a:t>
            </a:fld>
            <a:endParaRPr lang="zh-CN" altLang="en-US" sz="800" dirty="0">
              <a:latin typeface="楷体" panose="02010609060101010101" pitchFamily="49" charset="-122"/>
              <a:ea typeface="楷体" panose="02010609060101010101" pitchFamily="49" charset="-122"/>
              <a:sym typeface="楷体" panose="02010609060101010101" pitchFamily="49" charset="-122"/>
            </a:endParaRPr>
          </a:p>
        </p:txBody>
      </p:sp>
      <p:sp>
        <p:nvSpPr>
          <p:cNvPr id="117" name="文本占位符 2">
            <a:extLst>
              <a:ext uri="{FF2B5EF4-FFF2-40B4-BE49-F238E27FC236}">
                <a16:creationId id="{186ECF08-BD9C-AB70-383A-2AAC45C1110F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gray">
          <a:xfrm>
            <a:off x="3059113" y="5272088"/>
            <a:ext cx="333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7:hiddenFill>
                <a:solidFill>
                  <a:schemeClr val="accent1"/>
                </a:solidFill>
              </ns7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FE7F5DC4-D39C-4A12-9ED6-8AED2F27431C}" type="datetime'38'''''''''',''4''''''''''9''''''''''''''''''''''3'''''">
              <a:rPr lang="zh-CN" altLang="en-US" sz="800" smtClean="0">
                <a:latin typeface="楷体" panose="02010609060101010101" pitchFamily="49" charset="-122"/>
                <a:ea typeface="楷体" panose="02010609060101010101" pitchFamily="49" charset="-122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33,333</a:t>
            </a:fld>
            <a:endParaRPr lang="zh-CN" altLang="en-US" sz="800" dirty="0">
              <a:latin typeface="楷体" panose="02010609060101010101" pitchFamily="49" charset="-122"/>
              <a:ea typeface="楷体" panose="02010609060101010101" pitchFamily="49" charset="-122"/>
              <a:sym typeface="楷体" panose="02010609060101010101" pitchFamily="49" charset="-122"/>
            </a:endParaRPr>
          </a:p>
        </p:txBody>
      </p:sp>
      <p:cxnSp>
        <p:nvCxnSpPr>
          <p:cNvPr id="120" name="直接连接符 119">
            <a:extLst>
              <a:ext uri="{FF2B5EF4-FFF2-40B4-BE49-F238E27FC236}">
                <a16:creationId id="{5045F522-6749-AA8C-7BBE-428157F6ACFD}"/>
              </a:ext>
            </a:extLst>
          </p:cNvPr>
          <p:cNvCxnSpPr>
            <a:cxnSpLocks/>
          </p:cNvCxnSpPr>
          <p:nvPr>
            <p:custDataLst>
              <p:tags r:id="rId20"/>
            </p:custDataLst>
          </p:nvPr>
        </p:nvCxnSpPr>
        <p:spPr bwMode="gray">
          <a:xfrm flipV="1">
            <a:off x="2362200" y="5407025"/>
            <a:ext cx="690563" cy="25400"/>
          </a:xfrm>
          <a:prstGeom prst="line">
            <a:avLst/>
          </a:prstGeom>
          <a:ln w="3175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2" name="矩形 121">
            <a:extLst>
              <a:ext uri="{FF2B5EF4-FFF2-40B4-BE49-F238E27FC236}">
                <a16:creationId id="{0505893F-48D0-6DA5-5A64-39A57E12C5C3}"/>
              </a:ext>
            </a:extLst>
          </p:cNvPr>
          <p:cNvSpPr/>
          <p:nvPr>
            <p:custDataLst>
              <p:tags r:id="rId21"/>
            </p:custDataLst>
          </p:nvPr>
        </p:nvSpPr>
        <p:spPr bwMode="auto">
          <a:xfrm>
            <a:off x="1965325" y="4997450"/>
            <a:ext cx="142875" cy="106363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矩形 122">
            <a:extLst>
              <a:ext uri="{FF2B5EF4-FFF2-40B4-BE49-F238E27FC236}">
                <a16:creationId id="{BC0A9989-5A5C-0F0E-D4FB-E34FCAA5B1D8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2667000" y="4997450"/>
            <a:ext cx="142875" cy="106363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5" name="文本占位符 2">
            <a:extLst>
              <a:ext uri="{FF2B5EF4-FFF2-40B4-BE49-F238E27FC236}">
                <a16:creationId id="{E78759E1-42A9-AC26-D2E7-D7B335452E2A}"/>
              </a:ext>
            </a:extLst>
          </p:cNvPr>
          <p:cNvSpPr>
            <a:spLocks/>
          </p:cNvSpPr>
          <p:nvPr>
            <p:custDataLst>
              <p:tags r:id="rId23"/>
            </p:custDataLst>
          </p:nvPr>
        </p:nvSpPr>
        <p:spPr bwMode="auto">
          <a:xfrm>
            <a:off x="2159000" y="5002213"/>
            <a:ext cx="406400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7:hiddenFill>
                <a:solidFill>
                  <a:scrgbClr r="0" g="0" b="0"/>
                </a:solidFill>
              </ns7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8A03E02A-C853-4024-BBD6-5170D9596D2C}" type="datetime'财富''业''''''''''''''''''''''''''''''''''''''''''''''务'''''''">
              <a:rPr lang="zh-CN" altLang="en-US" sz="800" smtClean="0">
                <a:latin typeface="楷体" panose="02010609060101010101" pitchFamily="49" charset="-122"/>
                <a:ea typeface="楷体" panose="02010609060101010101" pitchFamily="49" charset="-122"/>
              </a:rPr>
              <a:pPr/>
              <a:t>财富业务</a:t>
            </a:fld>
            <a:endParaRPr lang="zh-CN" altLang="en-US" sz="800" dirty="0">
              <a:latin typeface="楷体" panose="02010609060101010101" pitchFamily="49" charset="-122"/>
              <a:ea typeface="楷体" panose="02010609060101010101" pitchFamily="49" charset="-122"/>
              <a:sym typeface="楷体" panose="02010609060101010101" pitchFamily="49" charset="-122"/>
            </a:endParaRPr>
          </a:p>
        </p:txBody>
      </p:sp>
      <p:sp>
        <p:nvSpPr>
          <p:cNvPr id="126" name="文本占位符 2">
            <a:extLst>
              <a:ext uri="{FF2B5EF4-FFF2-40B4-BE49-F238E27FC236}">
                <a16:creationId id="{09A4E599-E1B0-C8D0-A9C0-551FB0BF70FA}"/>
              </a:ext>
            </a:extLst>
          </p:cNvPr>
          <p:cNvSpPr>
            <a:spLocks/>
          </p:cNvSpPr>
          <p:nvPr>
            <p:custDataLst>
              <p:tags r:id="rId24"/>
            </p:custDataLst>
          </p:nvPr>
        </p:nvSpPr>
        <p:spPr bwMode="auto">
          <a:xfrm>
            <a:off x="2860675" y="5002213"/>
            <a:ext cx="304800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7:hiddenFill>
                <a:solidFill>
                  <a:scrgbClr r="0" g="0" b="0"/>
                </a:solidFill>
              </ns7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ABA5F9FB-7B8C-4CBE-808A-6207971F55B1}" type="datetime'''''''''''''''''微''''''''''''''''''''''''''''账''''''户'''''''">
              <a:rPr lang="zh-CN" altLang="en-US" sz="800" smtClean="0">
                <a:latin typeface="楷体" panose="02010609060101010101" pitchFamily="49" charset="-122"/>
                <a:ea typeface="楷体" panose="02010609060101010101" pitchFamily="49" charset="-122"/>
              </a:rPr>
              <a:pPr/>
              <a:t>微账户</a:t>
            </a:fld>
            <a:endParaRPr lang="zh-CN" altLang="en-US" sz="800" dirty="0">
              <a:latin typeface="楷体" panose="02010609060101010101" pitchFamily="49" charset="-122"/>
              <a:ea typeface="楷体" panose="02010609060101010101" pitchFamily="49" charset="-122"/>
              <a:sym typeface="楷体" panose="02010609060101010101" pitchFamily="49" charset="-122"/>
            </a:endParaRPr>
          </a:p>
        </p:txBody>
      </p:sp>
      <p:graphicFrame>
        <p:nvGraphicFramePr>
          <p:cNvPr id="174" name="表格 173">
            <a:extLst>
              <a:ext uri="{FF2B5EF4-FFF2-40B4-BE49-F238E27FC236}">
                <a16:creationId id="{DD2B7AFA-E6C2-CAD8-9DAD-92B763E7E47C}"/>
              </a:ext>
            </a:extLst>
          </p:cNvPr>
          <p:cNvGraphicFramePr>
            <a:graphicFrameLocks noGrp="1"/>
          </p:cNvGraphicFramePr>
          <p:nvPr>
            <p:custDataLst>
              <p:tags r:id="rId25"/>
            </p:custDataLst>
            <p:extLst>
              <p:ext uri="{D42A27DB-BD31-4B8C-83A1-F6EECF244321}">
                <p14:modId val="1286124516"/>
              </p:ext>
            </p:extLst>
          </p:nvPr>
        </p:nvGraphicFramePr>
        <p:xfrm>
          <a:off x="2400300" y="5489575"/>
          <a:ext cx="614363" cy="10512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4363">
                  <a:extLst>
                    <a:ext uri="{9D8B030D-6E8A-4147-A177-3AD203B41FA5}">
                      <a16:colId val="755682903"/>
                    </a:ext>
                  </a:extLst>
                </a:gridCol>
              </a:tblGrid>
              <a:tr h="1051260">
                <a:tc>
                  <a:txBody>
                    <a:bodyPr/>
                    <a:lstStyle/>
                    <a:p>
                      <a:pPr algn="ctr" fontAlgn="t"/>
                      <a:endParaRPr lang="en-US" altLang="zh-CN" sz="700" b="1" i="0" u="none" strike="noStrike" dirty="0">
                        <a:solidFill>
                          <a:srgbClr val="44546A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t"/>
                      <a:r>
                        <a:rPr lang="en-US" altLang="zh-CN" sz="700" b="1" i="0" u="none" strike="noStrike" dirty="0">
                          <a:solidFill>
                            <a:srgbClr val="44546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+444</a:t>
                      </a:r>
                    </a:p>
                    <a:p>
                      <a:pPr algn="ctr" fontAlgn="t"/>
                      <a:r>
                        <a:rPr lang="en-US" altLang="zh-CN" sz="700" b="1" i="0" u="none" strike="noStrike" dirty="0">
                          <a:solidFill>
                            <a:srgbClr val="44546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+55%</a:t>
                      </a:r>
                    </a:p>
                  </a:txBody>
                  <a:tcPr marL="0" marR="0" marT="216000" marB="0"/>
                </a:tc>
                <a:extLst>
                  <a:ext uri="{0D108BD9-81ED-4DB2-BD59-A6C34878D82A}">
                    <a16:rowId val="4057531824"/>
                  </a:ext>
                </a:extLst>
              </a:tr>
            </a:tbl>
          </a:graphicData>
        </a:graphic>
      </p:graphicFrame>
      <p:sp>
        <p:nvSpPr>
          <p:cNvPr id="4" name="TextBox 4">
            <a:extLst>
              <a:ext uri="{FF2B5EF4-FFF2-40B4-BE49-F238E27FC236}">
                <a16:creationId id="{0F4473B3-5A1A-59F6-C566-394FD92E13C8}"/>
              </a:ext>
            </a:extLst>
          </p:cNvPr>
          <p:cNvSpPr txBox="1"/>
          <p:nvPr/>
        </p:nvSpPr>
        <p:spPr>
          <a:xfrm>
            <a:off x="1201555" y="4055764"/>
            <a:ext cx="2969392" cy="248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800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[</a:t>
            </a:r>
            <a:r>
              <a:rPr lang="zh-CN" altLang="en-US" sz="800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注</a:t>
            </a:r>
            <a:r>
              <a:rPr lang="en-US" altLang="zh-CN" sz="800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]</a:t>
            </a:r>
            <a:r>
              <a:rPr lang="zh-CN" altLang="en-US" sz="800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800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不含票据、承兑、保函、贸易融资、余额导流等业务。</a:t>
            </a:r>
            <a:endParaRPr kumimoji="0" lang="en-US" altLang="zh-CN" sz="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cxnSp>
        <p:nvCxnSpPr>
          <p:cNvPr id="456" name="直接连接符 455">
            <a:extLst>
              <a:ext uri="{FF2B5EF4-FFF2-40B4-BE49-F238E27FC236}">
                <a16:creationId id="{395E01C1-F633-5709-CF9D-9BB0A148C86D}"/>
              </a:ext>
            </a:extLst>
          </p:cNvPr>
          <p:cNvCxnSpPr>
            <a:cxnSpLocks/>
          </p:cNvCxnSpPr>
          <p:nvPr>
            <p:custDataLst>
              <p:tags r:id="rId26"/>
            </p:custDataLst>
          </p:nvPr>
        </p:nvCxnSpPr>
        <p:spPr bwMode="gray">
          <a:xfrm>
            <a:off x="5905500" y="3106738"/>
            <a:ext cx="400050" cy="9525"/>
          </a:xfrm>
          <a:prstGeom prst="line">
            <a:avLst/>
          </a:prstGeom>
          <a:ln w="6350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2" name="Chart 3">
            <a:extLst>
              <a:ext uri="{FF2B5EF4-FFF2-40B4-BE49-F238E27FC236}">
                <a16:creationId id="{E1F79320-39C3-AAF8-3AA5-7A78C77EEB05}"/>
              </a:ext>
            </a:extLst>
          </p:cNvPr>
          <p:cNvGraphicFramePr/>
          <p:nvPr>
            <p:custDataLst>
              <p:tags r:id="rId27"/>
            </p:custDataLst>
            <p:extLst>
              <p:ext uri="{D42A27DB-BD31-4B8C-83A1-F6EECF244321}">
                <p14:modId val="3658506351"/>
              </p:ext>
            </p:extLst>
          </p:nvPr>
        </p:nvGraphicFramePr>
        <p:xfrm>
          <a:off x="5100638" y="2760663"/>
          <a:ext cx="2008187" cy="1289050"/>
        </p:xfrm>
        <a:graphic>
          <a:graphicData uri="http://schemas.openxmlformats.org/drawingml/2006/chart">
            <c:chart r:id="rId58"/>
          </a:graphicData>
        </a:graphic>
      </p:graphicFrame>
      <p:sp>
        <p:nvSpPr>
          <p:cNvPr id="458" name="文本占位符 2">
            <a:extLst>
              <a:ext uri="{FF2B5EF4-FFF2-40B4-BE49-F238E27FC236}">
                <a16:creationId id="{176C8BA6-F22A-8911-D6EA-118EE79D34AA}"/>
              </a:ext>
            </a:extLst>
          </p:cNvPr>
          <p:cNvSpPr>
            <a:spLocks/>
          </p:cNvSpPr>
          <p:nvPr>
            <p:custDataLst>
              <p:tags r:id="rId28"/>
            </p:custDataLst>
          </p:nvPr>
        </p:nvSpPr>
        <p:spPr bwMode="auto">
          <a:xfrm>
            <a:off x="5670550" y="3897313"/>
            <a:ext cx="266700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7:hiddenFill>
                <a:solidFill>
                  <a:scrgbClr r="0" g="0" b="0"/>
                </a:solidFill>
              </ns7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5E4CEB52-70C8-45D8-BC3D-9C8E56A7FB84}" type="datetime'''25''.''''''1''''''''''''''''''2'''''''''''''''''''''''">
              <a:rPr lang="zh-CN" altLang="en-US" sz="800" smtClean="0">
                <a:latin typeface="KaiTi" panose="02010609060101010101" pitchFamily="49" charset="-122"/>
                <a:ea typeface="KaiTi" panose="02010609060101010101" pitchFamily="49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66.77</a:t>
            </a:fld>
            <a:endParaRPr lang="zh-CN" altLang="en-US" sz="800" dirty="0">
              <a:latin typeface="KaiTi" panose="02010609060101010101" pitchFamily="49" charset="-122"/>
              <a:ea typeface="KaiTi" panose="02010609060101010101" pitchFamily="49" charset="-122"/>
              <a:sym typeface="KaiTi" panose="02010609060101010101" pitchFamily="49" charset="-122"/>
            </a:endParaRPr>
          </a:p>
        </p:txBody>
      </p:sp>
      <p:sp>
        <p:nvSpPr>
          <p:cNvPr id="459" name="文本占位符 2">
            <a:extLst>
              <a:ext uri="{FF2B5EF4-FFF2-40B4-BE49-F238E27FC236}">
                <a16:creationId id="{67E239D9-BA6E-7C81-31EF-FAAFE529A10E}"/>
              </a:ext>
            </a:extLst>
          </p:cNvPr>
          <p:cNvSpPr>
            <a:spLocks/>
          </p:cNvSpPr>
          <p:nvPr>
            <p:custDataLst>
              <p:tags r:id="rId29"/>
            </p:custDataLst>
          </p:nvPr>
        </p:nvSpPr>
        <p:spPr bwMode="auto">
          <a:xfrm>
            <a:off x="6297613" y="3897313"/>
            <a:ext cx="215900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7:hiddenFill>
                <a:solidFill>
                  <a:scrgbClr r="0" g="0" b="0"/>
                </a:solidFill>
              </ns7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916A6AFD-DE3D-4B05-A9E6-D16A7430E759}" type="datetime'''''2''6''''''''''''''''''''.''''''3'">
              <a:rPr lang="zh-CN" altLang="en-US" sz="800" smtClean="0">
                <a:latin typeface="KaiTi" panose="02010609060101010101" pitchFamily="49" charset="-122"/>
                <a:ea typeface="KaiTi" panose="02010609060101010101" pitchFamily="49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88.9</a:t>
            </a:fld>
            <a:endParaRPr lang="zh-CN" altLang="en-US" sz="800" dirty="0">
              <a:latin typeface="KaiTi" panose="02010609060101010101" pitchFamily="49" charset="-122"/>
              <a:ea typeface="KaiTi" panose="02010609060101010101" pitchFamily="49" charset="-122"/>
              <a:sym typeface="KaiTi" panose="02010609060101010101" pitchFamily="49" charset="-122"/>
            </a:endParaRPr>
          </a:p>
        </p:txBody>
      </p:sp>
      <p:grpSp>
        <p:nvGrpSpPr>
          <p:cNvPr id="465" name="组合 464">
            <a:extLst>
              <a:ext uri="{FF2B5EF4-FFF2-40B4-BE49-F238E27FC236}">
                <a16:creationId id="{EAAC3888-080D-A090-9FD2-1D1F08D6D90E}"/>
              </a:ext>
            </a:extLst>
          </p:cNvPr>
          <p:cNvGrpSpPr/>
          <p:nvPr/>
        </p:nvGrpSpPr>
        <p:grpSpPr>
          <a:xfrm>
            <a:off x="5525243" y="2086864"/>
            <a:ext cx="4821023" cy="512456"/>
            <a:chOff x="4974395" y="2100263"/>
            <a:chExt cx="4821023" cy="512456"/>
          </a:xfrm>
        </p:grpSpPr>
        <p:sp>
          <p:nvSpPr>
            <p:cNvPr id="454" name="文本框 453">
              <a:extLst>
                <a:ext uri="{FF2B5EF4-FFF2-40B4-BE49-F238E27FC236}">
                  <a16:creationId id="{8179EFB3-FC53-6062-646B-FA96A5B951D0}"/>
                </a:ext>
              </a:extLst>
            </p:cNvPr>
            <p:cNvSpPr txBox="1"/>
            <p:nvPr/>
          </p:nvSpPr>
          <p:spPr>
            <a:xfrm>
              <a:off x="4994819" y="2100263"/>
              <a:ext cx="4800599" cy="27707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管理贷款分产品情况</a:t>
              </a:r>
            </a:p>
          </p:txBody>
        </p:sp>
        <p:sp>
          <p:nvSpPr>
            <p:cNvPr id="463" name="TextBox 25">
              <a:extLst>
                <a:ext uri="{FF2B5EF4-FFF2-40B4-BE49-F238E27FC236}">
                  <a16:creationId id="{25218B00-9E74-0174-F338-1FE77BD64B3E}"/>
                </a:ext>
              </a:extLst>
            </p:cNvPr>
            <p:cNvSpPr txBox="1"/>
            <p:nvPr/>
          </p:nvSpPr>
          <p:spPr>
            <a:xfrm>
              <a:off x="4974395" y="2397218"/>
              <a:ext cx="957313" cy="2155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单位：亿元</a:t>
              </a:r>
            </a:p>
          </p:txBody>
        </p:sp>
      </p:grpSp>
      <p:sp>
        <p:nvSpPr>
          <p:cNvPr id="466" name="TextBox 25">
            <a:extLst>
              <a:ext uri="{FF2B5EF4-FFF2-40B4-BE49-F238E27FC236}">
                <a16:creationId id="{28A519AF-AA39-E2C1-1616-E41C3149B853}"/>
              </a:ext>
            </a:extLst>
          </p:cNvPr>
          <p:cNvSpPr txBox="1"/>
          <p:nvPr>
            <p:custDataLst>
              <p:tags r:id="rId30"/>
            </p:custDataLst>
          </p:nvPr>
        </p:nvSpPr>
        <p:spPr>
          <a:xfrm>
            <a:off x="5829344" y="2583704"/>
            <a:ext cx="7665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泛微粒贷</a:t>
            </a:r>
            <a:r>
              <a:rPr lang="zh-CN" altLang="en-US" sz="900" b="1" baseline="300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注</a:t>
            </a:r>
            <a:endParaRPr lang="zh-CN" altLang="en-US" sz="900" b="1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468" name="直接连接符 467">
            <a:extLst>
              <a:ext uri="{FF2B5EF4-FFF2-40B4-BE49-F238E27FC236}">
                <a16:creationId id="{7148BC74-DC59-A1F5-FA22-CB091A3F445E}"/>
              </a:ext>
            </a:extLst>
          </p:cNvPr>
          <p:cNvCxnSpPr>
            <a:cxnSpLocks/>
          </p:cNvCxnSpPr>
          <p:nvPr>
            <p:custDataLst>
              <p:tags r:id="rId31"/>
            </p:custDataLst>
          </p:nvPr>
        </p:nvCxnSpPr>
        <p:spPr bwMode="gray">
          <a:xfrm flipV="1">
            <a:off x="7764463" y="3368675"/>
            <a:ext cx="400050" cy="4763"/>
          </a:xfrm>
          <a:prstGeom prst="line">
            <a:avLst/>
          </a:prstGeom>
          <a:ln w="6350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1" name="Chart 3">
            <a:extLst>
              <a:ext uri="{FF2B5EF4-FFF2-40B4-BE49-F238E27FC236}">
                <a16:creationId id="{9AB11A6F-237D-06CF-FC9A-B48BBAA81D7D}"/>
              </a:ext>
            </a:extLst>
          </p:cNvPr>
          <p:cNvGraphicFramePr/>
          <p:nvPr>
            <p:custDataLst>
              <p:tags r:id="rId32"/>
            </p:custDataLst>
            <p:extLst>
              <p:ext uri="{D42A27DB-BD31-4B8C-83A1-F6EECF244321}">
                <p14:modId val="3192697918"/>
              </p:ext>
            </p:extLst>
          </p:nvPr>
        </p:nvGraphicFramePr>
        <p:xfrm>
          <a:off x="7213600" y="2933700"/>
          <a:ext cx="1500188" cy="1116013"/>
        </p:xfrm>
        <a:graphic>
          <a:graphicData uri="http://schemas.openxmlformats.org/drawingml/2006/chart">
            <c:chart r:id="rId59"/>
          </a:graphicData>
        </a:graphic>
      </p:graphicFrame>
      <p:sp>
        <p:nvSpPr>
          <p:cNvPr id="472" name="文本占位符 2">
            <a:extLst>
              <a:ext uri="{FF2B5EF4-FFF2-40B4-BE49-F238E27FC236}">
                <a16:creationId id="{84D49771-A44E-069D-BEC4-E8AD0E6E28F9}"/>
              </a:ext>
            </a:extLst>
          </p:cNvPr>
          <p:cNvSpPr>
            <a:spLocks/>
          </p:cNvSpPr>
          <p:nvPr>
            <p:custDataLst>
              <p:tags r:id="rId33"/>
            </p:custDataLst>
          </p:nvPr>
        </p:nvSpPr>
        <p:spPr bwMode="auto">
          <a:xfrm>
            <a:off x="7529513" y="3897313"/>
            <a:ext cx="266700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7:hiddenFill>
                <a:solidFill>
                  <a:scrgbClr r="0" g="0" b="0"/>
                </a:solidFill>
              </ns7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56976324-B4DF-41FD-B260-145E4CB7A4B5}" type="datetime'''''''''''2''''''''''''5''''''''''''''''''''''''''.1''2'''''''">
              <a:rPr lang="zh-CN" altLang="en-US" sz="800" smtClean="0">
                <a:latin typeface="KaiTi" panose="02010609060101010101" pitchFamily="49" charset="-122"/>
                <a:ea typeface="KaiTi" panose="02010609060101010101" pitchFamily="49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11.22</a:t>
            </a:fld>
            <a:endParaRPr lang="zh-CN" altLang="en-US" sz="800" dirty="0">
              <a:latin typeface="KaiTi" panose="02010609060101010101" pitchFamily="49" charset="-122"/>
              <a:ea typeface="KaiTi" panose="02010609060101010101" pitchFamily="49" charset="-122"/>
              <a:sym typeface="KaiTi" panose="02010609060101010101" pitchFamily="49" charset="-122"/>
            </a:endParaRPr>
          </a:p>
        </p:txBody>
      </p:sp>
      <p:sp>
        <p:nvSpPr>
          <p:cNvPr id="473" name="文本占位符 2">
            <a:extLst>
              <a:ext uri="{FF2B5EF4-FFF2-40B4-BE49-F238E27FC236}">
                <a16:creationId id="{8734FBFC-ADDA-569E-E7DE-00F8E082C83C}"/>
              </a:ext>
            </a:extLst>
          </p:cNvPr>
          <p:cNvSpPr>
            <a:spLocks/>
          </p:cNvSpPr>
          <p:nvPr>
            <p:custDataLst>
              <p:tags r:id="rId34"/>
            </p:custDataLst>
          </p:nvPr>
        </p:nvSpPr>
        <p:spPr bwMode="auto">
          <a:xfrm>
            <a:off x="8156575" y="3897313"/>
            <a:ext cx="215900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7:hiddenFill>
                <a:solidFill>
                  <a:scrgbClr r="0" g="0" b="0"/>
                </a:solidFill>
              </ns7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DEAD4677-432E-4D6B-9FD7-9DDD50D09387}" type="datetime'''''''''''''''''''2''''''6''''''''''''''''''''''''.''''''3'">
              <a:rPr lang="zh-CN" altLang="en-US" sz="800" smtClean="0">
                <a:latin typeface="KaiTi" panose="02010609060101010101" pitchFamily="49" charset="-122"/>
                <a:ea typeface="KaiTi" panose="02010609060101010101" pitchFamily="49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33.4</a:t>
            </a:fld>
            <a:endParaRPr lang="zh-CN" altLang="en-US" sz="800" dirty="0">
              <a:latin typeface="KaiTi" panose="02010609060101010101" pitchFamily="49" charset="-122"/>
              <a:ea typeface="KaiTi" panose="02010609060101010101" pitchFamily="49" charset="-122"/>
              <a:sym typeface="KaiTi" panose="02010609060101010101" pitchFamily="49" charset="-122"/>
            </a:endParaRPr>
          </a:p>
        </p:txBody>
      </p:sp>
      <p:cxnSp>
        <p:nvCxnSpPr>
          <p:cNvPr id="107" name="直接连接符 106">
            <a:extLst>
              <a:ext uri="{FF2B5EF4-FFF2-40B4-BE49-F238E27FC236}">
                <a16:creationId id="{C2548A6E-2E95-E4B8-63A4-B7345D0F24E6}"/>
              </a:ext>
            </a:extLst>
          </p:cNvPr>
          <p:cNvCxnSpPr>
            <a:cxnSpLocks/>
          </p:cNvCxnSpPr>
          <p:nvPr>
            <p:custDataLst>
              <p:tags r:id="rId35"/>
            </p:custDataLst>
          </p:nvPr>
        </p:nvCxnSpPr>
        <p:spPr bwMode="gray">
          <a:xfrm>
            <a:off x="9572625" y="3240088"/>
            <a:ext cx="400050" cy="9525"/>
          </a:xfrm>
          <a:prstGeom prst="line">
            <a:avLst/>
          </a:prstGeom>
          <a:ln w="6350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5" name="Chart 3">
            <a:extLst>
              <a:ext uri="{FF2B5EF4-FFF2-40B4-BE49-F238E27FC236}">
                <a16:creationId id="{A266C7A6-E9BB-3D8A-45F6-6083EF8F6EB4}"/>
              </a:ext>
            </a:extLst>
          </p:cNvPr>
          <p:cNvGraphicFramePr/>
          <p:nvPr>
            <p:custDataLst>
              <p:tags r:id="rId36"/>
            </p:custDataLst>
            <p:extLst>
              <p:ext uri="{D42A27DB-BD31-4B8C-83A1-F6EECF244321}">
                <p14:modId val="4012905914"/>
              </p:ext>
            </p:extLst>
          </p:nvPr>
        </p:nvGraphicFramePr>
        <p:xfrm>
          <a:off x="8767763" y="2762250"/>
          <a:ext cx="2008187" cy="1287463"/>
        </p:xfrm>
        <a:graphic>
          <a:graphicData uri="http://schemas.openxmlformats.org/drawingml/2006/chart">
            <c:chart r:id="rId60"/>
          </a:graphicData>
        </a:graphic>
      </p:graphicFrame>
      <p:sp>
        <p:nvSpPr>
          <p:cNvPr id="477" name="文本占位符 2">
            <a:extLst>
              <a:ext uri="{FF2B5EF4-FFF2-40B4-BE49-F238E27FC236}">
                <a16:creationId id="{005B596F-2B91-DD4F-F524-4BF724E8CBFE}"/>
              </a:ext>
            </a:extLst>
          </p:cNvPr>
          <p:cNvSpPr>
            <a:spLocks/>
          </p:cNvSpPr>
          <p:nvPr>
            <p:custDataLst>
              <p:tags r:id="rId37"/>
            </p:custDataLst>
          </p:nvPr>
        </p:nvSpPr>
        <p:spPr bwMode="auto">
          <a:xfrm>
            <a:off x="9337675" y="3897313"/>
            <a:ext cx="266700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7:hiddenFill>
                <a:solidFill>
                  <a:scrgbClr r="0" g="0" b="0"/>
                </a:solidFill>
              </ns7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A6855A82-5FF8-4020-AA79-CCA6AA9B64B0}" type="datetime'''''2''''5''''''''''''''''.1''''''''''2'''''''''''''">
              <a:rPr lang="zh-CN" altLang="en-US" sz="800" smtClean="0">
                <a:latin typeface="KaiTi" panose="02010609060101010101" pitchFamily="49" charset="-122"/>
                <a:ea typeface="KaiTi" panose="02010609060101010101" pitchFamily="49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55.66</a:t>
            </a:fld>
            <a:endParaRPr lang="zh-CN" altLang="en-US" sz="800" dirty="0">
              <a:latin typeface="KaiTi" panose="02010609060101010101" pitchFamily="49" charset="-122"/>
              <a:ea typeface="KaiTi" panose="02010609060101010101" pitchFamily="49" charset="-122"/>
              <a:sym typeface="KaiTi" panose="02010609060101010101" pitchFamily="49" charset="-122"/>
            </a:endParaRPr>
          </a:p>
        </p:txBody>
      </p:sp>
      <p:sp>
        <p:nvSpPr>
          <p:cNvPr id="479" name="文本占位符 2">
            <a:extLst>
              <a:ext uri="{FF2B5EF4-FFF2-40B4-BE49-F238E27FC236}">
                <a16:creationId id="{0BE370F6-45E0-A657-74E1-170E8139F905}"/>
              </a:ext>
            </a:extLst>
          </p:cNvPr>
          <p:cNvSpPr>
            <a:spLocks/>
          </p:cNvSpPr>
          <p:nvPr>
            <p:custDataLst>
              <p:tags r:id="rId38"/>
            </p:custDataLst>
          </p:nvPr>
        </p:nvSpPr>
        <p:spPr bwMode="auto">
          <a:xfrm>
            <a:off x="9964738" y="3897313"/>
            <a:ext cx="215900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7:hiddenFill>
                <a:solidFill>
                  <a:scrgbClr r="0" g="0" b="0"/>
                </a:solidFill>
              </ns7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F4705ADE-B702-411F-9519-B7A4A18190FA}" type="datetime'''''''''2''''''''''6''''.''''''''''''''''''''''3'">
              <a:rPr lang="zh-CN" altLang="en-US" sz="800" smtClean="0">
                <a:latin typeface="KaiTi" panose="02010609060101010101" pitchFamily="49" charset="-122"/>
                <a:ea typeface="KaiTi" panose="02010609060101010101" pitchFamily="49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77.8</a:t>
            </a:fld>
            <a:endParaRPr lang="zh-CN" altLang="en-US" sz="800" dirty="0">
              <a:latin typeface="KaiTi" panose="02010609060101010101" pitchFamily="49" charset="-122"/>
              <a:ea typeface="KaiTi" panose="02010609060101010101" pitchFamily="49" charset="-122"/>
              <a:sym typeface="KaiTi" panose="02010609060101010101" pitchFamily="49" charset="-122"/>
            </a:endParaRPr>
          </a:p>
        </p:txBody>
      </p:sp>
      <p:grpSp>
        <p:nvGrpSpPr>
          <p:cNvPr id="482" name="组合 481">
            <a:extLst>
              <a:ext uri="{FF2B5EF4-FFF2-40B4-BE49-F238E27FC236}">
                <a16:creationId id="{B513CAB3-861F-8F3C-D617-1A9B536E63A6}"/>
              </a:ext>
            </a:extLst>
          </p:cNvPr>
          <p:cNvGrpSpPr/>
          <p:nvPr/>
        </p:nvGrpSpPr>
        <p:grpSpPr>
          <a:xfrm>
            <a:off x="5545668" y="4637322"/>
            <a:ext cx="4800598" cy="491492"/>
            <a:chOff x="4978946" y="2100263"/>
            <a:chExt cx="4800598" cy="491492"/>
          </a:xfrm>
        </p:grpSpPr>
        <p:sp>
          <p:nvSpPr>
            <p:cNvPr id="483" name="文本框 482">
              <a:extLst>
                <a:ext uri="{FF2B5EF4-FFF2-40B4-BE49-F238E27FC236}">
                  <a16:creationId id="{7042F809-E009-9219-95DF-90D7F7B0044E}"/>
                </a:ext>
              </a:extLst>
            </p:cNvPr>
            <p:cNvSpPr txBox="1"/>
            <p:nvPr/>
          </p:nvSpPr>
          <p:spPr>
            <a:xfrm>
              <a:off x="4978946" y="2100263"/>
              <a:ext cx="4800598" cy="27707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管理资产分产品情况</a:t>
              </a:r>
            </a:p>
          </p:txBody>
        </p:sp>
        <p:sp>
          <p:nvSpPr>
            <p:cNvPr id="484" name="TextBox 25">
              <a:extLst>
                <a:ext uri="{FF2B5EF4-FFF2-40B4-BE49-F238E27FC236}">
                  <a16:creationId id="{6C1710D6-1F9A-0823-AF1A-4D3DE4CC4276}"/>
                </a:ext>
              </a:extLst>
            </p:cNvPr>
            <p:cNvSpPr txBox="1"/>
            <p:nvPr/>
          </p:nvSpPr>
          <p:spPr>
            <a:xfrm>
              <a:off x="5009321" y="2376254"/>
              <a:ext cx="957313" cy="2155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单位：亿元</a:t>
              </a:r>
            </a:p>
          </p:txBody>
        </p:sp>
      </p:grpSp>
      <p:sp>
        <p:nvSpPr>
          <p:cNvPr id="485" name="TextBox 25">
            <a:extLst>
              <a:ext uri="{FF2B5EF4-FFF2-40B4-BE49-F238E27FC236}">
                <a16:creationId id="{2D549C78-257F-B9DF-4FC3-5AC4F695504F}"/>
              </a:ext>
            </a:extLst>
          </p:cNvPr>
          <p:cNvSpPr txBox="1"/>
          <p:nvPr>
            <p:custDataLst>
              <p:tags r:id="rId39"/>
            </p:custDataLst>
          </p:nvPr>
        </p:nvSpPr>
        <p:spPr>
          <a:xfrm>
            <a:off x="7697088" y="2604443"/>
            <a:ext cx="7665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微车贷</a:t>
            </a:r>
          </a:p>
        </p:txBody>
      </p:sp>
      <p:sp>
        <p:nvSpPr>
          <p:cNvPr id="492" name="TextBox 25">
            <a:extLst>
              <a:ext uri="{FF2B5EF4-FFF2-40B4-BE49-F238E27FC236}">
                <a16:creationId id="{1D16F2A5-745D-C34A-FA89-66D069420B3D}"/>
              </a:ext>
            </a:extLst>
          </p:cNvPr>
          <p:cNvSpPr txBox="1"/>
          <p:nvPr>
            <p:custDataLst>
              <p:tags r:id="rId40"/>
            </p:custDataLst>
          </p:nvPr>
        </p:nvSpPr>
        <p:spPr>
          <a:xfrm>
            <a:off x="9482290" y="2599465"/>
            <a:ext cx="7665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微业贷</a:t>
            </a:r>
            <a:endParaRPr lang="zh-CN" altLang="en-US" sz="900" b="1" baseline="30000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37" name="直接连接符 136">
            <a:extLst>
              <a:ext uri="{FF2B5EF4-FFF2-40B4-BE49-F238E27FC236}">
                <a16:creationId id="{2CC33BC4-4B16-AB7E-778E-654F56577D9C}"/>
              </a:ext>
            </a:extLst>
          </p:cNvPr>
          <p:cNvCxnSpPr>
            <a:cxnSpLocks/>
          </p:cNvCxnSpPr>
          <p:nvPr>
            <p:custDataLst>
              <p:tags r:id="rId41"/>
            </p:custDataLst>
          </p:nvPr>
        </p:nvCxnSpPr>
        <p:spPr bwMode="gray">
          <a:xfrm flipV="1">
            <a:off x="6654800" y="5522913"/>
            <a:ext cx="400050" cy="28575"/>
          </a:xfrm>
          <a:prstGeom prst="line">
            <a:avLst/>
          </a:prstGeom>
          <a:ln w="6350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3" name="Chart 3">
            <a:extLst>
              <a:ext uri="{FF2B5EF4-FFF2-40B4-BE49-F238E27FC236}">
                <a16:creationId id="{5FED4791-B909-3DD6-6A6C-D5BF22978233}"/>
              </a:ext>
            </a:extLst>
          </p:cNvPr>
          <p:cNvGraphicFramePr/>
          <p:nvPr>
            <p:custDataLst>
              <p:tags r:id="rId42"/>
            </p:custDataLst>
            <p:extLst>
              <p:ext uri="{D42A27DB-BD31-4B8C-83A1-F6EECF244321}">
                <p14:modId val="2103290831"/>
              </p:ext>
            </p:extLst>
          </p:nvPr>
        </p:nvGraphicFramePr>
        <p:xfrm>
          <a:off x="5722938" y="5254625"/>
          <a:ext cx="2262187" cy="1370013"/>
        </p:xfrm>
        <a:graphic>
          <a:graphicData uri="http://schemas.openxmlformats.org/drawingml/2006/chart">
            <c:chart r:id="rId61"/>
          </a:graphicData>
        </a:graphic>
      </p:graphicFrame>
      <p:sp>
        <p:nvSpPr>
          <p:cNvPr id="509" name="文本占位符 2">
            <a:extLst>
              <a:ext uri="{FF2B5EF4-FFF2-40B4-BE49-F238E27FC236}">
                <a16:creationId id="{720BD5DA-EC33-8672-9DFC-44F4A2F443F5}"/>
              </a:ext>
            </a:extLst>
          </p:cNvPr>
          <p:cNvSpPr>
            <a:spLocks/>
          </p:cNvSpPr>
          <p:nvPr>
            <p:custDataLst>
              <p:tags r:id="rId43"/>
            </p:custDataLst>
          </p:nvPr>
        </p:nvSpPr>
        <p:spPr bwMode="auto">
          <a:xfrm>
            <a:off x="6419850" y="6472238"/>
            <a:ext cx="266700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7:hiddenFill>
                <a:solidFill>
                  <a:scrgbClr r="0" g="0" b="0"/>
                </a:solidFill>
              </ns7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75CF3198-236F-4782-9F91-D1DCE25F4F50}" type="datetime'''''''''2''''5.''''''''''''''''''''''''12'''''''''''">
              <a:rPr lang="zh-CN" altLang="en-US" sz="800" smtClean="0">
                <a:latin typeface="KaiTi" panose="02010609060101010101" pitchFamily="49" charset="-122"/>
                <a:ea typeface="KaiTi" panose="02010609060101010101" pitchFamily="49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99.11</a:t>
            </a:fld>
            <a:endParaRPr lang="zh-CN" altLang="en-US" sz="800" dirty="0">
              <a:latin typeface="KaiTi" panose="02010609060101010101" pitchFamily="49" charset="-122"/>
              <a:ea typeface="KaiTi" panose="02010609060101010101" pitchFamily="49" charset="-122"/>
              <a:sym typeface="KaiTi" panose="02010609060101010101" pitchFamily="49" charset="-122"/>
            </a:endParaRPr>
          </a:p>
        </p:txBody>
      </p:sp>
      <p:sp>
        <p:nvSpPr>
          <p:cNvPr id="510" name="文本占位符 2">
            <a:extLst>
              <a:ext uri="{FF2B5EF4-FFF2-40B4-BE49-F238E27FC236}">
                <a16:creationId id="{E40255CC-7A17-662F-B146-21FD4D43E27E}"/>
              </a:ext>
            </a:extLst>
          </p:cNvPr>
          <p:cNvSpPr>
            <a:spLocks/>
          </p:cNvSpPr>
          <p:nvPr>
            <p:custDataLst>
              <p:tags r:id="rId44"/>
            </p:custDataLst>
          </p:nvPr>
        </p:nvSpPr>
        <p:spPr bwMode="auto">
          <a:xfrm>
            <a:off x="7046913" y="6472238"/>
            <a:ext cx="215900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7:hiddenFill>
                <a:solidFill>
                  <a:scrgbClr r="0" g="0" b="0"/>
                </a:solidFill>
              </ns7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97AF446F-CF79-4C37-8387-456630D2E5A7}" type="datetime'''''''''''''2''''''''6''''''''''''''.''3'''''''''''''''''">
              <a:rPr lang="zh-CN" altLang="en-US" sz="800" smtClean="0">
                <a:latin typeface="KaiTi" panose="02010609060101010101" pitchFamily="49" charset="-122"/>
                <a:ea typeface="KaiTi" panose="02010609060101010101" pitchFamily="49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22.3</a:t>
            </a:fld>
            <a:endParaRPr lang="zh-CN" altLang="en-US" sz="800" dirty="0">
              <a:latin typeface="KaiTi" panose="02010609060101010101" pitchFamily="49" charset="-122"/>
              <a:ea typeface="KaiTi" panose="02010609060101010101" pitchFamily="49" charset="-122"/>
              <a:sym typeface="KaiTi" panose="02010609060101010101" pitchFamily="49" charset="-122"/>
            </a:endParaRPr>
          </a:p>
        </p:txBody>
      </p:sp>
      <p:sp>
        <p:nvSpPr>
          <p:cNvPr id="511" name="TextBox 25">
            <a:extLst>
              <a:ext uri="{FF2B5EF4-FFF2-40B4-BE49-F238E27FC236}">
                <a16:creationId id="{EE4DDC15-0CE6-90E3-6B31-64790BBFE4D5}"/>
              </a:ext>
            </a:extLst>
          </p:cNvPr>
          <p:cNvSpPr txBox="1"/>
          <p:nvPr>
            <p:custDataLst>
              <p:tags r:id="rId45"/>
            </p:custDataLst>
          </p:nvPr>
        </p:nvSpPr>
        <p:spPr>
          <a:xfrm>
            <a:off x="6609745" y="5154613"/>
            <a:ext cx="7665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微账户</a:t>
            </a:r>
          </a:p>
        </p:txBody>
      </p:sp>
      <p:cxnSp>
        <p:nvCxnSpPr>
          <p:cNvPr id="68" name="直接连接符 67">
            <a:extLst>
              <a:ext uri="{FF2B5EF4-FFF2-40B4-BE49-F238E27FC236}">
                <a16:creationId id="{D8240B77-EDFD-AF09-6BDD-860F09831DD7}"/>
              </a:ext>
            </a:extLst>
          </p:cNvPr>
          <p:cNvCxnSpPr>
            <a:cxnSpLocks/>
          </p:cNvCxnSpPr>
          <p:nvPr>
            <p:custDataLst>
              <p:tags r:id="rId46"/>
            </p:custDataLst>
          </p:nvPr>
        </p:nvCxnSpPr>
        <p:spPr bwMode="gray">
          <a:xfrm>
            <a:off x="8666163" y="5721350"/>
            <a:ext cx="400050" cy="28575"/>
          </a:xfrm>
          <a:prstGeom prst="line">
            <a:avLst/>
          </a:prstGeom>
          <a:ln w="6350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5" name="Chart 3">
            <a:extLst>
              <a:ext uri="{FF2B5EF4-FFF2-40B4-BE49-F238E27FC236}">
                <a16:creationId id="{272D9B12-A94F-D272-FBC0-B046A4FE0FEA}"/>
              </a:ext>
            </a:extLst>
          </p:cNvPr>
          <p:cNvGraphicFramePr/>
          <p:nvPr>
            <p:custDataLst>
              <p:tags r:id="rId47"/>
            </p:custDataLst>
            <p:extLst>
              <p:ext uri="{D42A27DB-BD31-4B8C-83A1-F6EECF244321}">
                <p14:modId val="610598704"/>
              </p:ext>
            </p:extLst>
          </p:nvPr>
        </p:nvGraphicFramePr>
        <p:xfrm>
          <a:off x="7861300" y="5337175"/>
          <a:ext cx="2008188" cy="1287463"/>
        </p:xfrm>
        <a:graphic>
          <a:graphicData uri="http://schemas.openxmlformats.org/drawingml/2006/chart">
            <c:chart r:id="rId62"/>
          </a:graphicData>
        </a:graphic>
      </p:graphicFrame>
      <p:sp>
        <p:nvSpPr>
          <p:cNvPr id="71" name="文本占位符 2">
            <a:extLst>
              <a:ext uri="{FF2B5EF4-FFF2-40B4-BE49-F238E27FC236}">
                <a16:creationId id="{19BFF9ED-E629-12B3-AEEA-29C5DF068877}"/>
              </a:ext>
            </a:extLst>
          </p:cNvPr>
          <p:cNvSpPr>
            <a:spLocks/>
          </p:cNvSpPr>
          <p:nvPr>
            <p:custDataLst>
              <p:tags r:id="rId48"/>
            </p:custDataLst>
          </p:nvPr>
        </p:nvSpPr>
        <p:spPr bwMode="auto">
          <a:xfrm>
            <a:off x="8431213" y="6472238"/>
            <a:ext cx="266700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7:hiddenFill>
                <a:solidFill>
                  <a:scrgbClr r="0" g="0" b="0"/>
                </a:solidFill>
              </ns7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DC42182C-5FD1-43DE-89FD-C75E33590F5B}" type="datetime'''''''''''2''''''''''''5''''.''''''''''''''''''''1''2'''">
              <a:rPr lang="zh-CN" altLang="en-US" sz="800" smtClean="0">
                <a:latin typeface="KaiTi" panose="02010609060101010101" pitchFamily="49" charset="-122"/>
                <a:ea typeface="KaiTi" panose="02010609060101010101" pitchFamily="49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44.55</a:t>
            </a:fld>
            <a:endParaRPr lang="zh-CN" altLang="en-US" sz="800" dirty="0">
              <a:latin typeface="KaiTi" panose="02010609060101010101" pitchFamily="49" charset="-122"/>
              <a:ea typeface="KaiTi" panose="02010609060101010101" pitchFamily="49" charset="-122"/>
              <a:sym typeface="KaiTi" panose="02010609060101010101" pitchFamily="49" charset="-122"/>
            </a:endParaRPr>
          </a:p>
        </p:txBody>
      </p:sp>
      <p:sp>
        <p:nvSpPr>
          <p:cNvPr id="72" name="文本占位符 2">
            <a:extLst>
              <a:ext uri="{FF2B5EF4-FFF2-40B4-BE49-F238E27FC236}">
                <a16:creationId id="{FF9F30FB-A826-9E69-8C5B-7F1329695A7B}"/>
              </a:ext>
            </a:extLst>
          </p:cNvPr>
          <p:cNvSpPr>
            <a:spLocks/>
          </p:cNvSpPr>
          <p:nvPr>
            <p:custDataLst>
              <p:tags r:id="rId49"/>
            </p:custDataLst>
          </p:nvPr>
        </p:nvSpPr>
        <p:spPr bwMode="auto">
          <a:xfrm>
            <a:off x="9058275" y="6472238"/>
            <a:ext cx="215900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7:hiddenFill>
                <a:solidFill>
                  <a:scrgbClr r="0" g="0" b="0"/>
                </a:solidFill>
              </ns7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6C02AB05-69A2-4B0C-BC9A-0A7650874094}" type="datetime'''''''2''''6''''.''''''''''''''''''''''3'''''''''''''''''">
              <a:rPr lang="zh-CN" altLang="en-US" sz="800" smtClean="0">
                <a:latin typeface="KaiTi" panose="02010609060101010101" pitchFamily="49" charset="-122"/>
                <a:ea typeface="KaiTi" panose="02010609060101010101" pitchFamily="49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66.7</a:t>
            </a:fld>
            <a:endParaRPr lang="zh-CN" altLang="en-US" sz="800" dirty="0">
              <a:latin typeface="KaiTi" panose="02010609060101010101" pitchFamily="49" charset="-122"/>
              <a:ea typeface="KaiTi" panose="02010609060101010101" pitchFamily="49" charset="-122"/>
              <a:sym typeface="KaiTi" panose="02010609060101010101" pitchFamily="49" charset="-122"/>
            </a:endParaRPr>
          </a:p>
        </p:txBody>
      </p:sp>
      <p:sp>
        <p:nvSpPr>
          <p:cNvPr id="74" name="TextBox 25">
            <a:extLst>
              <a:ext uri="{FF2B5EF4-FFF2-40B4-BE49-F238E27FC236}">
                <a16:creationId id="{78C018EB-7ACF-640E-7678-38130DD6367A}"/>
              </a:ext>
            </a:extLst>
          </p:cNvPr>
          <p:cNvSpPr txBox="1"/>
          <p:nvPr>
            <p:custDataLst>
              <p:tags r:id="rId50"/>
            </p:custDataLst>
          </p:nvPr>
        </p:nvSpPr>
        <p:spPr>
          <a:xfrm>
            <a:off x="8565461" y="5163493"/>
            <a:ext cx="7665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财富业务</a:t>
            </a:r>
          </a:p>
        </p:txBody>
      </p:sp>
      <p:graphicFrame>
        <p:nvGraphicFramePr>
          <p:cNvPr id="81" name="表格 80">
            <a:extLst>
              <a:ext uri="{FF2B5EF4-FFF2-40B4-BE49-F238E27FC236}">
                <a16:creationId id="{ABFE404D-5D89-12D3-D010-B3D1BA2DE3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264196913"/>
              </p:ext>
            </p:extLst>
          </p:nvPr>
        </p:nvGraphicFramePr>
        <p:xfrm>
          <a:off x="5802313" y="2951462"/>
          <a:ext cx="595313" cy="10512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5313">
                  <a:extLst>
                    <a:ext uri="{9D8B030D-6E8A-4147-A177-3AD203B41FA5}">
                      <a16:colId val="755682903"/>
                    </a:ext>
                  </a:extLst>
                </a:gridCol>
              </a:tblGrid>
              <a:tr h="1051260">
                <a:tc>
                  <a:txBody>
                    <a:bodyPr/>
                    <a:lstStyle/>
                    <a:p>
                      <a:pPr algn="ctr" fontAlgn="t"/>
                      <a:endParaRPr lang="en-US" altLang="zh-CN" sz="700" b="1" i="0" u="none" strike="noStrike" dirty="0">
                        <a:solidFill>
                          <a:srgbClr val="44546A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t"/>
                      <a:r>
                        <a:rPr lang="en-US" altLang="zh-CN" sz="700" b="1" i="0" u="none" strike="noStrike" dirty="0">
                          <a:solidFill>
                            <a:srgbClr val="44546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-88</a:t>
                      </a:r>
                    </a:p>
                    <a:p>
                      <a:pPr algn="ctr" fontAlgn="t"/>
                      <a:r>
                        <a:rPr lang="en-US" altLang="zh-CN" sz="700" b="1" i="0" u="none" strike="noStrike" dirty="0">
                          <a:solidFill>
                            <a:srgbClr val="44546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-99%</a:t>
                      </a:r>
                    </a:p>
                  </a:txBody>
                  <a:tcPr marL="0" marR="0" marT="216000" marB="0"/>
                </a:tc>
                <a:extLst>
                  <a:ext uri="{0D108BD9-81ED-4DB2-BD59-A6C34878D82A}">
                    <a16:rowId val="4057531824"/>
                  </a:ext>
                </a:extLst>
              </a:tr>
            </a:tbl>
          </a:graphicData>
        </a:graphic>
      </p:graphicFrame>
      <p:graphicFrame>
        <p:nvGraphicFramePr>
          <p:cNvPr id="85" name="表格 84">
            <a:extLst>
              <a:ext uri="{FF2B5EF4-FFF2-40B4-BE49-F238E27FC236}">
                <a16:creationId id="{4F77F393-7603-24DE-E460-94870583E5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2172328101"/>
              </p:ext>
            </p:extLst>
          </p:nvPr>
        </p:nvGraphicFramePr>
        <p:xfrm>
          <a:off x="7669212" y="3163281"/>
          <a:ext cx="595313" cy="10512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5313">
                  <a:extLst>
                    <a:ext uri="{9D8B030D-6E8A-4147-A177-3AD203B41FA5}">
                      <a16:colId val="755682903"/>
                    </a:ext>
                  </a:extLst>
                </a:gridCol>
              </a:tblGrid>
              <a:tr h="1051260">
                <a:tc>
                  <a:txBody>
                    <a:bodyPr/>
                    <a:lstStyle/>
                    <a:p>
                      <a:pPr algn="ctr" fontAlgn="t"/>
                      <a:endParaRPr lang="en-US" altLang="zh-CN" sz="700" b="1" i="0" u="none" strike="noStrike" dirty="0">
                        <a:solidFill>
                          <a:srgbClr val="44546A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t"/>
                      <a:r>
                        <a:rPr lang="en-US" altLang="zh-CN" sz="700" b="1" i="0" u="none" strike="noStrike" dirty="0">
                          <a:solidFill>
                            <a:srgbClr val="44546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+1</a:t>
                      </a:r>
                    </a:p>
                    <a:p>
                      <a:pPr algn="ctr" fontAlgn="t"/>
                      <a:r>
                        <a:rPr lang="en-US" altLang="zh-CN" sz="700" b="1" i="0" u="none" strike="noStrike" dirty="0">
                          <a:solidFill>
                            <a:srgbClr val="44546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+22%</a:t>
                      </a:r>
                    </a:p>
                  </a:txBody>
                  <a:tcPr marL="0" marR="0" marT="216000" marB="0"/>
                </a:tc>
                <a:extLst>
                  <a:ext uri="{0D108BD9-81ED-4DB2-BD59-A6C34878D82A}">
                    <a16:rowId val="4057531824"/>
                  </a:ext>
                </a:extLst>
              </a:tr>
            </a:tbl>
          </a:graphicData>
        </a:graphic>
      </p:graphicFrame>
      <p:graphicFrame>
        <p:nvGraphicFramePr>
          <p:cNvPr id="127" name="表格 126">
            <a:extLst>
              <a:ext uri="{FF2B5EF4-FFF2-40B4-BE49-F238E27FC236}">
                <a16:creationId id="{9E50E561-8F70-5010-CEB7-E8E144BFC4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3198315893"/>
              </p:ext>
            </p:extLst>
          </p:nvPr>
        </p:nvGraphicFramePr>
        <p:xfrm>
          <a:off x="9473852" y="3032125"/>
          <a:ext cx="595313" cy="10512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5313">
                  <a:extLst>
                    <a:ext uri="{9D8B030D-6E8A-4147-A177-3AD203B41FA5}">
                      <a16:colId val="755682903"/>
                    </a:ext>
                  </a:extLst>
                </a:gridCol>
              </a:tblGrid>
              <a:tr h="1051260">
                <a:tc>
                  <a:txBody>
                    <a:bodyPr/>
                    <a:lstStyle/>
                    <a:p>
                      <a:pPr algn="ctr" fontAlgn="t"/>
                      <a:endParaRPr lang="en-US" altLang="zh-CN" sz="700" b="1" i="0" u="none" strike="noStrike" dirty="0">
                        <a:solidFill>
                          <a:srgbClr val="44546A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t"/>
                      <a:r>
                        <a:rPr lang="en-US" altLang="zh-CN" sz="700" b="1" i="0" u="none" strike="noStrike" dirty="0">
                          <a:solidFill>
                            <a:srgbClr val="44546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-33</a:t>
                      </a:r>
                    </a:p>
                    <a:p>
                      <a:pPr algn="ctr" fontAlgn="t"/>
                      <a:r>
                        <a:rPr lang="en-US" altLang="zh-CN" sz="700" b="1" i="0" u="none" strike="noStrike" dirty="0">
                          <a:solidFill>
                            <a:srgbClr val="44546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-44%</a:t>
                      </a:r>
                    </a:p>
                  </a:txBody>
                  <a:tcPr marL="0" marR="0" marT="216000" marB="0"/>
                </a:tc>
                <a:extLst>
                  <a:ext uri="{0D108BD9-81ED-4DB2-BD59-A6C34878D82A}">
                    <a16:rowId val="4057531824"/>
                  </a:ext>
                </a:extLst>
              </a:tr>
            </a:tbl>
          </a:graphicData>
        </a:graphic>
      </p:graphicFrame>
      <p:graphicFrame>
        <p:nvGraphicFramePr>
          <p:cNvPr id="145" name="表格 144">
            <a:extLst>
              <a:ext uri="{FF2B5EF4-FFF2-40B4-BE49-F238E27FC236}">
                <a16:creationId id="{74E99878-A6DB-D0A4-4454-ABD2674E0A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2408812384"/>
              </p:ext>
            </p:extLst>
          </p:nvPr>
        </p:nvGraphicFramePr>
        <p:xfrm>
          <a:off x="6556374" y="5505534"/>
          <a:ext cx="595313" cy="10512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5313">
                  <a:extLst>
                    <a:ext uri="{9D8B030D-6E8A-4147-A177-3AD203B41FA5}">
                      <a16:colId val="755682903"/>
                    </a:ext>
                  </a:extLst>
                </a:gridCol>
              </a:tblGrid>
              <a:tr h="1051260">
                <a:tc>
                  <a:txBody>
                    <a:bodyPr/>
                    <a:lstStyle/>
                    <a:p>
                      <a:pPr algn="ctr" fontAlgn="t"/>
                      <a:endParaRPr lang="en-US" altLang="zh-CN" sz="700" b="1" i="0" u="none" strike="noStrike" dirty="0">
                        <a:solidFill>
                          <a:srgbClr val="44546A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t"/>
                      <a:r>
                        <a:rPr lang="en-US" altLang="zh-CN" sz="700" b="1" i="0" u="none" strike="noStrike" dirty="0">
                          <a:solidFill>
                            <a:srgbClr val="44546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+5,555</a:t>
                      </a:r>
                    </a:p>
                    <a:p>
                      <a:pPr algn="ctr" fontAlgn="t"/>
                      <a:r>
                        <a:rPr lang="en-US" altLang="zh-CN" sz="700" b="1" i="0" u="none" strike="noStrike" dirty="0">
                          <a:solidFill>
                            <a:srgbClr val="44546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+66%</a:t>
                      </a:r>
                    </a:p>
                  </a:txBody>
                  <a:tcPr marL="0" marR="0" marT="216000" marB="0"/>
                </a:tc>
                <a:extLst>
                  <a:ext uri="{0D108BD9-81ED-4DB2-BD59-A6C34878D82A}">
                    <a16:rowId val="4057531824"/>
                  </a:ext>
                </a:extLst>
              </a:tr>
            </a:tbl>
          </a:graphicData>
        </a:graphic>
      </p:graphicFrame>
      <p:graphicFrame>
        <p:nvGraphicFramePr>
          <p:cNvPr id="154" name="表格 153">
            <a:extLst>
              <a:ext uri="{FF2B5EF4-FFF2-40B4-BE49-F238E27FC236}">
                <a16:creationId id="{BA6D7B9F-D364-76F8-00FF-55D3609613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2045062023"/>
              </p:ext>
            </p:extLst>
          </p:nvPr>
        </p:nvGraphicFramePr>
        <p:xfrm>
          <a:off x="8560253" y="5573378"/>
          <a:ext cx="595313" cy="10512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5313">
                  <a:extLst>
                    <a:ext uri="{9D8B030D-6E8A-4147-A177-3AD203B41FA5}">
                      <a16:colId val="755682903"/>
                    </a:ext>
                  </a:extLst>
                </a:gridCol>
              </a:tblGrid>
              <a:tr h="1051260">
                <a:tc>
                  <a:txBody>
                    <a:bodyPr/>
                    <a:lstStyle/>
                    <a:p>
                      <a:pPr algn="ctr" fontAlgn="t"/>
                      <a:endParaRPr lang="en-US" altLang="zh-CN" sz="700" b="1" i="0" u="none" strike="noStrike" dirty="0">
                        <a:solidFill>
                          <a:srgbClr val="44546A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t"/>
                      <a:r>
                        <a:rPr lang="en-US" altLang="zh-CN" sz="700" b="1" i="0" u="none" strike="noStrike" dirty="0">
                          <a:solidFill>
                            <a:srgbClr val="44546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-777</a:t>
                      </a:r>
                    </a:p>
                    <a:p>
                      <a:pPr algn="ctr" fontAlgn="t"/>
                      <a:r>
                        <a:rPr lang="en-US" altLang="zh-CN" sz="700" b="1" i="0" u="none" strike="noStrike" dirty="0">
                          <a:solidFill>
                            <a:srgbClr val="44546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-88%</a:t>
                      </a:r>
                    </a:p>
                  </a:txBody>
                  <a:tcPr marL="0" marR="0" marT="216000" marB="0"/>
                </a:tc>
                <a:extLst>
                  <a:ext uri="{0D108BD9-81ED-4DB2-BD59-A6C34878D82A}">
                    <a16:rowId val="4057531824"/>
                  </a:ext>
                </a:extLst>
              </a:tr>
            </a:tbl>
          </a:graphicData>
        </a:graphic>
      </p:graphicFrame>
      <p:sp>
        <p:nvSpPr>
          <p:cNvPr id="3" name="TextBox 4">
            <a:extLst>
              <a:ext uri="{FF2B5EF4-FFF2-40B4-BE49-F238E27FC236}">
                <a16:creationId id="{340A4347-25CA-0D73-7212-B64E59C52F27}"/>
              </a:ext>
            </a:extLst>
          </p:cNvPr>
          <p:cNvSpPr txBox="1"/>
          <p:nvPr/>
        </p:nvSpPr>
        <p:spPr>
          <a:xfrm>
            <a:off x="5453051" y="3988136"/>
            <a:ext cx="3289311" cy="248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kumimoji="0" lang="en-US" altLang="zh-CN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[</a:t>
            </a:r>
            <a:r>
              <a:rPr kumimoji="0" lang="zh-CN" altLang="en-US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注</a:t>
            </a:r>
            <a:r>
              <a:rPr kumimoji="0" lang="en-US" altLang="zh-CN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]</a:t>
            </a:r>
            <a:r>
              <a:rPr kumimoji="0" lang="zh-CN" altLang="en-US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：泛微粒贷</a:t>
            </a:r>
            <a:r>
              <a:rPr lang="zh-CN" altLang="en-US" sz="800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含微粒贷</a:t>
            </a:r>
            <a:r>
              <a:rPr lang="en-US" altLang="zh-CN" sz="800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</a:t>
            </a:r>
            <a:r>
              <a:rPr lang="zh-CN" altLang="en-US" sz="800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消费</a:t>
            </a:r>
            <a:r>
              <a:rPr lang="en-US" altLang="zh-CN" sz="800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)</a:t>
            </a:r>
            <a:r>
              <a:rPr lang="zh-CN" altLang="en-US" sz="800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、分付、微户贷，不含余额导流。</a:t>
            </a:r>
            <a:endParaRPr kumimoji="0" lang="en-US" altLang="zh-CN" sz="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" name="灯片编号占位符 2">
            <a:extLst>
              <a:ext uri="{FF2B5EF4-FFF2-40B4-BE49-F238E27FC236}">
                <a16:creationId id="{7906264D-2582-2677-72F4-43A8568C5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2857" y="6413502"/>
            <a:ext cx="2743200" cy="365125"/>
          </a:xfrm>
        </p:spPr>
        <p:txBody>
          <a:bodyPr/>
          <a:lstStyle/>
          <a:p>
            <a:fld id="{71C962F8-67CB-43C0-8F4B-53AB2EE0A607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9</a:t>
            </a:fld>
            <a:endParaRPr lang="zh-CN" altLang="en-US" dirty="0">
              <a:solidFill>
                <a:prstClr val="black">
                  <a:tint val="75000"/>
                </a:prst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val="942163544"/>
      </p:ext>
    </p:extLst>
  </p:cSld>
  <p:clrMapOvr>
    <a:masterClrMapping/>
  </p:clrMapOvr>
</p:sld>
</file>

<file path=ppt/slides/slide6.xml><?xml version="1.0" encoding="utf-8"?>
<p:sld xmlns:a="http://schemas.openxmlformats.org/drawingml/2006/main" xmlns:a16="http://schemas.microsoft.com/office/drawing/2014/main" xmlns:mc="http://schemas.openxmlformats.org/markup-compatibility/2006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 hidden="1">
            <a:extLst>
              <a:ext uri="{FF2B5EF4-FFF2-40B4-BE49-F238E27FC236}">
                <a16:creationId id="{9F56E771-34E6-4F65-9368-9753FD50604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val="3692407617"/>
              </p:ext>
            </p:extLst>
          </p:nvPr>
        </p:nvGraphicFramePr>
        <p:xfrm>
          <a:off x="1525588" y="1588"/>
          <a:ext cx="1588" cy="1588"/>
        </p:xfrm>
        <a:graphic>
          <a:graphicData uri="http://schemas.openxmlformats.org/presentationml/2006/ole">
            <mc:AlternateContent>
              <mc:Choice Requires="v">
                <p:oleObj name="think-cell 幻灯片" r:id="rId6" imgW="566" imgH="393" progId="TCLayout.ActiveDocument.1">
                  <p:embed/>
                </p:oleObj>
              </mc:Choice>
              <mc:Fallback>
                <p:oleObj name="think-cell 幻灯片" r:id="rId6" imgW="566" imgH="393" progId="TCLayout.ActiveDocument.1">
                  <p:embed/>
                  <p:pic>
                    <p:nvPicPr>
                      <p:cNvPr id="4" name="对象 3" hidden="1">
                        <a:extLst>
                          <a:ext uri="{FF2B5EF4-FFF2-40B4-BE49-F238E27FC236}">
                            <a16:creationId id="{9F56E771-34E6-4F65-9368-9753FD50604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25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id="{658CA9AA-4CCC-4D22-A6A6-E461CDBA32A6}"/>
              </a:ext>
            </a:extLst>
          </p:cNvPr>
          <p:cNvSpPr/>
          <p:nvPr/>
        </p:nvSpPr>
        <p:spPr>
          <a:xfrm>
            <a:off x="83127" y="6291184"/>
            <a:ext cx="2227811" cy="5531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val="4041892466"/>
              </p:ext>
            </p:extLst>
          </p:nvPr>
        </p:nvGraphicFramePr>
        <p:xfrm>
          <a:off x="719999" y="1828230"/>
          <a:ext cx="4750862" cy="4483357"/>
        </p:xfrm>
        <a:graphic>
          <a:graphicData uri="http://schemas.openxmlformats.org/drawingml/2006/table">
            <a:tbl>
              <a:tblPr/>
              <a:tblGrid>
                <a:gridCol w="1294862">
                  <a:extLst>
                    <a:ext uri="{9D8B030D-6E8A-4147-A177-3AD203B41FA5}">
                      <a16:colId val="20000"/>
                    </a:ext>
                  </a:extLst>
                </a:gridCol>
                <a:gridCol w="576000">
                  <a:extLst>
                    <a:ext uri="{9D8B030D-6E8A-4147-A177-3AD203B41FA5}">
                      <a16:colId val="20001"/>
                    </a:ext>
                  </a:extLst>
                </a:gridCol>
                <a:gridCol w="576000">
                  <a:extLst>
                    <a:ext uri="{9D8B030D-6E8A-4147-A177-3AD203B41FA5}">
                      <a16:colId val="1297490942"/>
                    </a:ext>
                  </a:extLst>
                </a:gridCol>
                <a:gridCol w="576000">
                  <a:extLst>
                    <a:ext uri="{9D8B030D-6E8A-4147-A177-3AD203B41FA5}">
                      <a16:colId val="8951843"/>
                    </a:ext>
                  </a:extLst>
                </a:gridCol>
                <a:gridCol w="576000">
                  <a:extLst>
                    <a:ext uri="{9D8B030D-6E8A-4147-A177-3AD203B41FA5}">
                      <a16:colId val="20004"/>
                    </a:ext>
                  </a:extLst>
                </a:gridCol>
                <a:gridCol w="576000">
                  <a:extLst>
                    <a:ext uri="{9D8B030D-6E8A-4147-A177-3AD203B41FA5}">
                      <a16:colId val="20005"/>
                    </a:ext>
                  </a:extLst>
                </a:gridCol>
                <a:gridCol w="576000">
                  <a:extLst>
                    <a:ext uri="{9D8B030D-6E8A-4147-A177-3AD203B41FA5}">
                      <a16:colId val="20006"/>
                    </a:ext>
                  </a:extLst>
                </a:gridCol>
              </a:tblGrid>
              <a:tr h="389857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项目（亿元）</a:t>
                      </a:r>
                    </a:p>
                  </a:txBody>
                  <a:tcPr marL="45720" marR="4572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11</a:t>
                      </a:r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年</a:t>
                      </a:r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</a:t>
                      </a:r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月</a:t>
                      </a:r>
                      <a:endParaRPr lang="en-US" altLang="zh-CN" sz="9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比上月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比年初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比年初</a:t>
                      </a:r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占比</a:t>
                      </a:r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占比</a:t>
                      </a:r>
                      <a:b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比上年末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val="10000"/>
                  </a:ext>
                </a:extLst>
              </a:tr>
              <a:tr h="2729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资产</a:t>
                      </a:r>
                    </a:p>
                  </a:txBody>
                  <a:tcPr marL="7200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3,333 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-4,444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555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66%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10001"/>
                  </a:ext>
                </a:extLst>
              </a:tr>
              <a:tr h="272900">
                <a:tc>
                  <a:txBody>
                    <a:bodyPr/>
                    <a:lstStyle/>
                    <a:p>
                      <a:pPr marL="179705" algn="l" rtl="0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各项贷款</a:t>
                      </a:r>
                      <a:endParaRPr lang="zh-CN" altLang="en-US" sz="900" b="0" i="0" u="none" strike="noStrike" baseline="30000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7200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7,777 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888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999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11%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22%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0.4%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val="10002"/>
                  </a:ext>
                </a:extLst>
              </a:tr>
              <a:tr h="272900">
                <a:tc>
                  <a:txBody>
                    <a:bodyPr/>
                    <a:lstStyle/>
                    <a:p>
                      <a:pPr marL="179705" algn="l" rtl="0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同业资产</a:t>
                      </a:r>
                      <a:endParaRPr lang="zh-CN" altLang="en-US" sz="900" b="0" i="0" u="none" strike="noStrike" baseline="30000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7200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5,555 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-6,666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77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88%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99%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0.2%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10003"/>
                  </a:ext>
                </a:extLst>
              </a:tr>
              <a:tr h="272900">
                <a:tc>
                  <a:txBody>
                    <a:bodyPr/>
                    <a:lstStyle/>
                    <a:p>
                      <a:pPr marL="179705" algn="l" rtl="0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存放央行</a:t>
                      </a:r>
                    </a:p>
                  </a:txBody>
                  <a:tcPr marL="7200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333 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-44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55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66%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77%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0.9%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val="10004"/>
                  </a:ext>
                </a:extLst>
              </a:tr>
              <a:tr h="272900">
                <a:tc>
                  <a:txBody>
                    <a:bodyPr/>
                    <a:lstStyle/>
                    <a:p>
                      <a:pPr marL="179705" algn="l" rtl="0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其他资产</a:t>
                      </a:r>
                      <a:endParaRPr lang="zh-CN" altLang="en-US" sz="900" b="0" i="0" u="none" strike="noStrike" baseline="30000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7200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111 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-33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-44%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55%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-6.7%</a:t>
                      </a:r>
                    </a:p>
                  </a:txBody>
                  <a:tcPr marL="0" marR="11430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val="3266610905"/>
                  </a:ext>
                </a:extLst>
              </a:tr>
              <a:tr h="2729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负债</a:t>
                      </a:r>
                    </a:p>
                  </a:txBody>
                  <a:tcPr marL="7200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8,888 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-9,999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111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22%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10005"/>
                  </a:ext>
                </a:extLst>
              </a:tr>
              <a:tr h="272900">
                <a:tc>
                  <a:txBody>
                    <a:bodyPr/>
                    <a:lstStyle/>
                    <a:p>
                      <a:pPr marL="179705" algn="l" rtl="0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各项存款</a:t>
                      </a:r>
                      <a:endParaRPr lang="zh-CN" altLang="en-US" sz="900" b="0" i="0" u="none" strike="noStrike" baseline="30000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7200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3,333 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-444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555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66%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77%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8.9%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val="10006"/>
                  </a:ext>
                </a:extLst>
              </a:tr>
              <a:tr h="272900">
                <a:tc>
                  <a:txBody>
                    <a:bodyPr/>
                    <a:lstStyle/>
                    <a:p>
                      <a:pPr marL="180975" lvl="1" indent="0" algn="l" rtl="0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其中：微账户</a:t>
                      </a:r>
                      <a:endParaRPr lang="zh-CN" altLang="en-US" sz="900" b="0" i="0" u="none" strike="noStrike" baseline="30000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28800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1,111 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-222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333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44%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55%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6.7%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val="2488925264"/>
                  </a:ext>
                </a:extLst>
              </a:tr>
              <a:tr h="272900">
                <a:tc>
                  <a:txBody>
                    <a:bodyPr/>
                    <a:lstStyle/>
                    <a:p>
                      <a:pPr marL="180975" lvl="1" indent="0" algn="l" rtl="0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财富业务</a:t>
                      </a:r>
                    </a:p>
                  </a:txBody>
                  <a:tcPr marL="28800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888 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-1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-22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-33%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44%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-0.6%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val="3394919812"/>
                  </a:ext>
                </a:extLst>
              </a:tr>
              <a:tr h="272900">
                <a:tc>
                  <a:txBody>
                    <a:bodyPr/>
                    <a:lstStyle/>
                    <a:p>
                      <a:pPr marL="180975" lvl="1" indent="0" algn="l" rtl="0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对公存款</a:t>
                      </a:r>
                    </a:p>
                  </a:txBody>
                  <a:tcPr marL="28800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777 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-8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-99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-11%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22%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-0.4%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val="931039875"/>
                  </a:ext>
                </a:extLst>
              </a:tr>
              <a:tr h="272900">
                <a:tc>
                  <a:txBody>
                    <a:bodyPr/>
                    <a:lstStyle/>
                    <a:p>
                      <a:pPr marL="179705" algn="l" rtl="0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同业负债</a:t>
                      </a:r>
                    </a:p>
                  </a:txBody>
                  <a:tcPr marL="7200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555 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-666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-77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-88%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99%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-0.2%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10007"/>
                  </a:ext>
                </a:extLst>
              </a:tr>
              <a:tr h="272900">
                <a:tc>
                  <a:txBody>
                    <a:bodyPr/>
                    <a:lstStyle/>
                    <a:p>
                      <a:pPr marL="179705" algn="l" rtl="0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 其中：同业存单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7200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333 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-444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555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666%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77%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8.9%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1459068544"/>
                  </a:ext>
                </a:extLst>
              </a:tr>
              <a:tr h="272900">
                <a:tc>
                  <a:txBody>
                    <a:bodyPr/>
                    <a:lstStyle/>
                    <a:p>
                      <a:pPr marL="179705" algn="l" rtl="0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央行借款</a:t>
                      </a:r>
                    </a:p>
                  </a:txBody>
                  <a:tcPr marL="7200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111 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22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33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44%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55%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6.7%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val="3432561676"/>
                  </a:ext>
                </a:extLst>
              </a:tr>
              <a:tr h="272900">
                <a:tc>
                  <a:txBody>
                    <a:bodyPr/>
                    <a:lstStyle/>
                    <a:p>
                      <a:pPr marL="179705" algn="l" rtl="0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其他负债</a:t>
                      </a:r>
                    </a:p>
                  </a:txBody>
                  <a:tcPr marL="7200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888 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99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-11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-22%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33%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-4.5%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val="2131889687"/>
                  </a:ext>
                </a:extLst>
              </a:tr>
              <a:tr h="2729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所有者权益</a:t>
                      </a:r>
                      <a:endParaRPr lang="zh-CN" altLang="en-US" sz="900" b="1" i="0" u="none" strike="noStrike" baseline="30000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7200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666 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77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-8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-99%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val="10009"/>
                  </a:ext>
                </a:extLst>
              </a:tr>
            </a:tbl>
          </a:graphicData>
        </a:graphic>
      </p:graphicFrame>
      <p:sp>
        <p:nvSpPr>
          <p:cNvPr id="2" name="标题 1">
            <a:extLst>
              <a:ext uri="{FF2B5EF4-FFF2-40B4-BE49-F238E27FC236}">
                <a16:creationId id="{D2D49B58-7F59-45AD-BF57-C11910226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>
            <a:normAutofit fontScale="90000"/>
          </a:bodyPr>
          <a:lstStyle/>
          <a:p>
            <a:r>
              <a:rPr lang="en-US" altLang="zh-CN" dirty="0">
                <a:solidFill>
                  <a:srgbClr val="000000"/>
                </a:solidFill>
              </a:rPr>
              <a:t>B/S</a:t>
            </a:r>
            <a:endParaRPr lang="zh-CN" altLang="en-US" dirty="0"/>
          </a:p>
        </p:txBody>
      </p:sp>
      <p:graphicFrame>
        <p:nvGraphicFramePr>
          <p:cNvPr id="8" name="表格 7">
            <a:extLst>
              <a:ext uri="{FF2B5EF4-FFF2-40B4-BE49-F238E27FC236}">
                <a16:creationId id="{386DEC65-AEFD-43E5-9A1F-B963AC465780}"/>
              </a:ext>
            </a:extLst>
          </p:cNvPr>
          <p:cNvGraphicFramePr>
            <a:graphicFrameLocks noGrp="1"/>
          </p:cNvGraphicFramePr>
          <p:nvPr>
            <p:custDataLst>
              <p:tags r:id="rId3"/>
            </p:custDataLst>
            <p:extLst>
              <p:ext uri="{D42A27DB-BD31-4B8C-83A1-F6EECF244321}">
                <p14:modId val="3639573183"/>
              </p:ext>
            </p:extLst>
          </p:nvPr>
        </p:nvGraphicFramePr>
        <p:xfrm>
          <a:off x="6666569" y="1828230"/>
          <a:ext cx="4626044" cy="4483361"/>
        </p:xfrm>
        <a:graphic>
          <a:graphicData uri="http://schemas.openxmlformats.org/drawingml/2006/table">
            <a:tbl>
              <a:tblPr/>
              <a:tblGrid>
                <a:gridCol w="1170044">
                  <a:extLst>
                    <a:ext uri="{9D8B030D-6E8A-4147-A177-3AD203B41FA5}">
                      <a16:colId val="20000"/>
                    </a:ext>
                  </a:extLst>
                </a:gridCol>
                <a:gridCol w="576000">
                  <a:extLst>
                    <a:ext uri="{9D8B030D-6E8A-4147-A177-3AD203B41FA5}">
                      <a16:colId val="20001"/>
                    </a:ext>
                  </a:extLst>
                </a:gridCol>
                <a:gridCol w="576000">
                  <a:extLst>
                    <a:ext uri="{9D8B030D-6E8A-4147-A177-3AD203B41FA5}">
                      <a16:colId val="341692391"/>
                    </a:ext>
                  </a:extLst>
                </a:gridCol>
                <a:gridCol w="576000">
                  <a:extLst>
                    <a:ext uri="{9D8B030D-6E8A-4147-A177-3AD203B41FA5}">
                      <a16:colId val="2044871026"/>
                    </a:ext>
                  </a:extLst>
                </a:gridCol>
                <a:gridCol w="576000">
                  <a:extLst>
                    <a:ext uri="{9D8B030D-6E8A-4147-A177-3AD203B41FA5}">
                      <a16:colId val="20004"/>
                    </a:ext>
                  </a:extLst>
                </a:gridCol>
                <a:gridCol w="576000">
                  <a:extLst>
                    <a:ext uri="{9D8B030D-6E8A-4147-A177-3AD203B41FA5}">
                      <a16:colId val="20005"/>
                    </a:ext>
                  </a:extLst>
                </a:gridCol>
                <a:gridCol w="576000">
                  <a:extLst>
                    <a:ext uri="{9D8B030D-6E8A-4147-A177-3AD203B41FA5}">
                      <a16:colId val="20006"/>
                    </a:ext>
                  </a:extLst>
                </a:gridCol>
              </a:tblGrid>
              <a:tr h="367489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项目（亿元）</a:t>
                      </a:r>
                    </a:p>
                  </a:txBody>
                  <a:tcPr marL="45720" marR="4572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11</a:t>
                      </a:r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年</a:t>
                      </a:r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</a:t>
                      </a:r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月</a:t>
                      </a:r>
                      <a:endParaRPr lang="en-US" altLang="zh-CN" sz="9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比上月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比年初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比年初</a:t>
                      </a:r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占比</a:t>
                      </a:r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占比</a:t>
                      </a:r>
                      <a:b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比上年末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val="10000"/>
                  </a:ext>
                </a:extLst>
              </a:tr>
              <a:tr h="257242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管理贷款</a:t>
                      </a:r>
                    </a:p>
                  </a:txBody>
                  <a:tcPr marL="7200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3,333 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444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55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0.7%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val="10010"/>
                  </a:ext>
                </a:extLst>
              </a:tr>
              <a:tr h="257242">
                <a:tc>
                  <a:txBody>
                    <a:bodyPr/>
                    <a:lstStyle/>
                    <a:p>
                      <a:pPr marL="179705" algn="l" rtl="0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个人金融</a:t>
                      </a:r>
                      <a:endParaRPr lang="zh-CN" altLang="en-US" sz="900" b="1" i="0" u="none" strike="noStrike" baseline="30000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7200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8,888 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999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-11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-22%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33%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-0.5%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val="3767985186"/>
                  </a:ext>
                </a:extLst>
              </a:tr>
              <a:tr h="257242">
                <a:tc>
                  <a:txBody>
                    <a:bodyPr/>
                    <a:lstStyle/>
                    <a:p>
                      <a:pPr marL="179705" algn="l" rtl="0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泛微粒贷</a:t>
                      </a:r>
                      <a:endParaRPr lang="zh-CN" altLang="en-US" sz="900" b="0" i="0" u="none" strike="noStrike" baseline="30000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7200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6,666 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777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-88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-99%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11%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-0.3%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val="656572908"/>
                  </a:ext>
                </a:extLst>
              </a:tr>
              <a:tr h="257242">
                <a:tc>
                  <a:txBody>
                    <a:bodyPr/>
                    <a:lstStyle/>
                    <a:p>
                      <a:pPr marL="179705" algn="l" rtl="0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微车贷</a:t>
                      </a:r>
                      <a:endParaRPr lang="zh-CN" altLang="en-US" sz="900" b="0" i="0" u="none" strike="noStrike" baseline="30000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7200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444 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6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77%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88%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0.3%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val="2982326004"/>
                  </a:ext>
                </a:extLst>
              </a:tr>
              <a:tr h="257242">
                <a:tc>
                  <a:txBody>
                    <a:bodyPr/>
                    <a:lstStyle/>
                    <a:p>
                      <a:pPr marL="179705" algn="l" rtl="0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个金其他</a:t>
                      </a:r>
                      <a:endParaRPr lang="zh-CN" altLang="en-US" sz="900" b="0" i="0" u="none" strike="noStrike" baseline="30000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7200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44 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-5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-6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-77%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0.9%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0.2%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val="597051819"/>
                  </a:ext>
                </a:extLst>
              </a:tr>
              <a:tr h="257242">
                <a:tc>
                  <a:txBody>
                    <a:bodyPr/>
                    <a:lstStyle/>
                    <a:p>
                      <a:pPr marL="17970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企业金融</a:t>
                      </a:r>
                    </a:p>
                  </a:txBody>
                  <a:tcPr marL="7200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3,333 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44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55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66%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77%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0.9%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val="170552599"/>
                  </a:ext>
                </a:extLst>
              </a:tr>
              <a:tr h="257242">
                <a:tc>
                  <a:txBody>
                    <a:bodyPr/>
                    <a:lstStyle/>
                    <a:p>
                      <a:pPr marL="17970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  微业贷</a:t>
                      </a:r>
                    </a:p>
                  </a:txBody>
                  <a:tcPr marL="7200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1,111 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22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-33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-44%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55%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-0.7%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val="1668383236"/>
                  </a:ext>
                </a:extLst>
              </a:tr>
              <a:tr h="257242">
                <a:tc>
                  <a:txBody>
                    <a:bodyPr/>
                    <a:lstStyle/>
                    <a:p>
                      <a:pPr marL="17970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  票据及其他</a:t>
                      </a:r>
                    </a:p>
                  </a:txBody>
                  <a:tcPr marL="7200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888 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9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111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22%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33%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4.5%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val="556677826"/>
                  </a:ext>
                </a:extLst>
              </a:tr>
              <a:tr h="257242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各项贷款</a:t>
                      </a:r>
                    </a:p>
                  </a:txBody>
                  <a:tcPr marL="7200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6,666 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777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888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99%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val="2550166940"/>
                  </a:ext>
                </a:extLst>
              </a:tr>
              <a:tr h="257242">
                <a:tc>
                  <a:txBody>
                    <a:bodyPr/>
                    <a:lstStyle/>
                    <a:p>
                      <a:pPr marL="179705" algn="l" rtl="0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个人金融</a:t>
                      </a:r>
                      <a:endParaRPr lang="zh-CN" altLang="en-US" sz="900" b="1" i="0" u="none" strike="noStrike" baseline="30000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7200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1,111 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22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33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44%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55%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-0.7%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val="915906707"/>
                  </a:ext>
                </a:extLst>
              </a:tr>
              <a:tr h="257242">
                <a:tc>
                  <a:txBody>
                    <a:bodyPr/>
                    <a:lstStyle/>
                    <a:p>
                      <a:pPr marL="179705" algn="l" rtl="0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泛微粒贷</a:t>
                      </a:r>
                      <a:endParaRPr lang="zh-CN" altLang="en-US" sz="900" b="0" i="0" u="none" strike="noStrike" baseline="30000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7200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8,888 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99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11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22%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33%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0.5%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val="1226545946"/>
                  </a:ext>
                </a:extLst>
              </a:tr>
              <a:tr h="257242">
                <a:tc>
                  <a:txBody>
                    <a:bodyPr/>
                    <a:lstStyle/>
                    <a:p>
                      <a:pPr marL="179705" algn="l" rtl="0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微车贷</a:t>
                      </a:r>
                      <a:endParaRPr lang="zh-CN" altLang="en-US" sz="900" b="0" i="0" u="none" strike="noStrike" baseline="30000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7200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666 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-7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-8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-99%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11%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-0.3%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val="1160577428"/>
                  </a:ext>
                </a:extLst>
              </a:tr>
              <a:tr h="257242">
                <a:tc>
                  <a:txBody>
                    <a:bodyPr/>
                    <a:lstStyle/>
                    <a:p>
                      <a:pPr marL="179705" algn="l" rtl="0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个金其他</a:t>
                      </a:r>
                      <a:endParaRPr lang="zh-CN" altLang="en-US" sz="900" b="0" i="0" u="none" strike="noStrike" baseline="30000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7200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44 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-5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-6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-77%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0.9%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-0.2%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val="789332990"/>
                  </a:ext>
                </a:extLst>
              </a:tr>
              <a:tr h="257242">
                <a:tc>
                  <a:txBody>
                    <a:bodyPr/>
                    <a:lstStyle/>
                    <a:p>
                      <a:pPr marL="17970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企业金融</a:t>
                      </a:r>
                    </a:p>
                  </a:txBody>
                  <a:tcPr marL="7200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3,333 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44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555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66%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77%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0.9%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val="614296429"/>
                  </a:ext>
                </a:extLst>
              </a:tr>
              <a:tr h="257242">
                <a:tc>
                  <a:txBody>
                    <a:bodyPr/>
                    <a:lstStyle/>
                    <a:p>
                      <a:pPr marL="17970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  微业贷</a:t>
                      </a:r>
                    </a:p>
                  </a:txBody>
                  <a:tcPr marL="7200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1,111 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   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22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-3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-0.5%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66%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-7.8%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val="4053654673"/>
                  </a:ext>
                </a:extLst>
              </a:tr>
              <a:tr h="257242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    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票据及其他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999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    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222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333%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44%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5.6%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val="745539219"/>
                  </a:ext>
                </a:extLst>
              </a:tr>
            </a:tbl>
          </a:graphicData>
        </a:graphic>
      </p:graphicFrame>
      <p:sp>
        <p:nvSpPr>
          <p:cNvPr id="10" name="灯片编号占位符 2">
            <a:extLst>
              <a:ext uri="{FF2B5EF4-FFF2-40B4-BE49-F238E27FC236}">
                <a16:creationId id="{423323AC-5407-435A-890B-35BCDC2F0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2857" y="6413502"/>
            <a:ext cx="2743200" cy="365125"/>
          </a:xfrm>
        </p:spPr>
        <p:txBody>
          <a:bodyPr/>
          <a:lstStyle/>
          <a:p>
            <a:fld id="{71C962F8-67CB-43C0-8F4B-53AB2EE0A60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7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id="{95C787B9-9B49-3BD3-2100-AB35027704DA}"/>
              </a:ext>
            </a:extLst>
          </p:cNvPr>
          <p:cNvSpPr/>
          <p:nvPr/>
        </p:nvSpPr>
        <p:spPr>
          <a:xfrm>
            <a:off x="103347" y="869124"/>
            <a:ext cx="12088653" cy="8002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85750" indent="-285750">
              <a:spcAft>
                <a:spcPts val="600"/>
              </a:spcAft>
              <a:buClr>
                <a:srgbClr val="C00000"/>
              </a:buClr>
              <a:buSzPct val="80000"/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总资产环比减少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8,888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亿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主要受季度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MPA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考核影响，季末对债券及货币基金投资规模进行时点调整。</a:t>
            </a:r>
            <a:endParaRPr lang="en-US" altLang="zh-CN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spcAft>
                <a:spcPts val="600"/>
              </a:spcAft>
              <a:buClr>
                <a:srgbClr val="C00000"/>
              </a:buClr>
              <a:buSzPct val="80000"/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各项贷款环比增加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999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亿，较年初累计增长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111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亿元；其中，泛微粒贷较年初增长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22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亿，票据及贸易融资增加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333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亿元，微业贷下降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亿。</a:t>
            </a:r>
            <a:endParaRPr lang="en-US" altLang="zh-CN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spcAft>
                <a:spcPts val="600"/>
              </a:spcAft>
              <a:buClr>
                <a:srgbClr val="C00000"/>
              </a:buClr>
              <a:buSzPct val="80000"/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各项存款环比减少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666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亿，主要是微账户春节后回落；较年初来看，各项存款增加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777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亿，微账户增加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888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亿元，财富和对公存款分别下降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99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11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亿。</a:t>
            </a:r>
            <a:endParaRPr lang="en-US" altLang="zh-CN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val="784250044"/>
      </p:ext>
    </p:extLst>
  </p:cSld>
  <p:clrMapOvr>
    <a:masterClrMapping/>
  </p:clrMapOvr>
</p:sld>
</file>

<file path=ppt/slides/slide7.xml><?xml version="1.0" encoding="utf-8"?>
<p:sld xmlns:a="http://schemas.openxmlformats.org/drawingml/2006/main" xmlns:a16="http://schemas.microsoft.com/office/drawing/2014/main" xmlns:mc="http://schemas.openxmlformats.org/markup-compatibility/2006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>
            <a:extLst>
              <a:ext uri="{FF2B5EF4-FFF2-40B4-BE49-F238E27FC236}">
                <a16:creationId id="{6CD78300-32AD-4AD1-947B-B8FDDEE8703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val="1340899374"/>
              </p:ext>
            </p:extLst>
          </p:nvPr>
        </p:nvGraphicFramePr>
        <p:xfrm>
          <a:off x="1525588" y="1588"/>
          <a:ext cx="1588" cy="1588"/>
        </p:xfrm>
        <a:graphic>
          <a:graphicData uri="http://schemas.openxmlformats.org/presentationml/2006/ole">
            <mc:AlternateContent>
              <mc:Choice Requires="v">
                <p:oleObj name="think-cell 幻灯片" r:id="rId4" imgW="572" imgH="476" progId="TCLayout.ActiveDocument.1">
                  <p:embed/>
                </p:oleObj>
              </mc:Choice>
              <mc:Fallback>
                <p:oleObj name="think-cell 幻灯片" r:id="rId4" imgW="572" imgH="476" progId="TCLayout.ActiveDocument.1">
                  <p:embed/>
                  <p:pic>
                    <p:nvPicPr>
                      <p:cNvPr id="2" name="对象 1" hidden="1">
                        <a:extLst>
                          <a:ext uri="{FF2B5EF4-FFF2-40B4-BE49-F238E27FC236}">
                            <a16:creationId id="{6CD78300-32AD-4AD1-947B-B8FDDEE870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25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id="{6CEBCA7C-569A-D26C-69C7-30083128C749}"/>
              </a:ext>
            </a:extLst>
          </p:cNvPr>
          <p:cNvSpPr/>
          <p:nvPr/>
        </p:nvSpPr>
        <p:spPr>
          <a:xfrm>
            <a:off x="83127" y="6291184"/>
            <a:ext cx="2227811" cy="5531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id="{CE91A7F8-395F-41DD-A74A-9410D0F41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>
            <a:normAutofit fontScale="90000"/>
          </a:bodyPr>
          <a:lstStyle/>
          <a:p>
            <a:r>
              <a:rPr lang="en-US" altLang="zh-CN" dirty="0">
                <a:solidFill>
                  <a:srgbClr val="000000"/>
                </a:solidFill>
                <a:cs typeface="楷体" panose="02010609060101010101" pitchFamily="49" charset="-122"/>
              </a:rPr>
              <a:t>P&amp;L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962F8-67CB-43C0-8F4B-53AB2EE0A60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id="{5C607FF3-06A2-4491-BC94-CCA9B02A36C8}"/>
              </a:ext>
            </a:extLst>
          </p:cNvPr>
          <p:cNvSpPr/>
          <p:nvPr/>
        </p:nvSpPr>
        <p:spPr>
          <a:xfrm>
            <a:off x="211318" y="942784"/>
            <a:ext cx="11980682" cy="5958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C00000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33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年一季度营业收入同比降幅收窄到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44%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；由于资产减值损失支出减少，叠加免税资产增加导致所得税实际支出下降，净利润同比小幅增长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55%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lnSpc>
                <a:spcPct val="150000"/>
              </a:lnSpc>
              <a:buClr>
                <a:srgbClr val="C00000"/>
              </a:buClr>
              <a:buSzPct val="80000"/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净息差同比收窄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66bp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，主要是贷款收益率下行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77bp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，叠加资产结构调整影响；环比来看，净息差增加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88bp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，主要是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9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月贷款占比提升。</a:t>
            </a:r>
            <a:endParaRPr lang="en-US" altLang="zh-CN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id="{0E4FC0E2-B2CD-4460-A61F-EE5D728E23E3}"/>
              </a:ext>
            </a:extLst>
          </p:cNvPr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val="3026937544"/>
              </p:ext>
            </p:extLst>
          </p:nvPr>
        </p:nvGraphicFramePr>
        <p:xfrm>
          <a:off x="487663" y="2038959"/>
          <a:ext cx="5720632" cy="3888000"/>
        </p:xfrm>
        <a:graphic>
          <a:graphicData uri="http://schemas.openxmlformats.org/drawingml/2006/table">
            <a:tbl>
              <a:tblPr/>
              <a:tblGrid>
                <a:gridCol w="1810326">
                  <a:extLst>
                    <a:ext uri="{9D8B030D-6E8A-4147-A177-3AD203B41FA5}">
                      <a16:colId val="20000"/>
                    </a:ext>
                  </a:extLst>
                </a:gridCol>
                <a:gridCol w="695792">
                  <a:extLst>
                    <a:ext uri="{9D8B030D-6E8A-4147-A177-3AD203B41FA5}">
                      <a16:colId val="20001"/>
                    </a:ext>
                  </a:extLst>
                </a:gridCol>
                <a:gridCol w="607642">
                  <a:extLst>
                    <a:ext uri="{9D8B030D-6E8A-4147-A177-3AD203B41FA5}">
                      <a16:colId val="20002"/>
                    </a:ext>
                  </a:extLst>
                </a:gridCol>
                <a:gridCol w="651718">
                  <a:extLst>
                    <a:ext uri="{9D8B030D-6E8A-4147-A177-3AD203B41FA5}">
                      <a16:colId val="20004"/>
                    </a:ext>
                  </a:extLst>
                </a:gridCol>
                <a:gridCol w="651718">
                  <a:extLst>
                    <a:ext uri="{9D8B030D-6E8A-4147-A177-3AD203B41FA5}">
                      <a16:colId val="3851099642"/>
                    </a:ext>
                  </a:extLst>
                </a:gridCol>
                <a:gridCol w="651718">
                  <a:extLst>
                    <a:ext uri="{9D8B030D-6E8A-4147-A177-3AD203B41FA5}">
                      <a16:colId val="2899578341"/>
                    </a:ext>
                  </a:extLst>
                </a:gridCol>
                <a:gridCol w="651718">
                  <a:extLst>
                    <a:ext uri="{9D8B030D-6E8A-4147-A177-3AD203B41FA5}">
                      <a16:colId val="79608496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项目（亿元）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本年累计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同比</a:t>
                      </a:r>
                      <a:r>
                        <a:rPr lang="en-US" altLang="zh-CN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%</a:t>
                      </a:r>
                      <a:endParaRPr lang="zh-CN" altLang="en-US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预算完成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11</a:t>
                      </a:r>
                      <a:r>
                        <a:rPr lang="zh-CN" altLang="en-US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年</a:t>
                      </a:r>
                      <a:r>
                        <a:rPr lang="en-US" altLang="zh-CN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2</a:t>
                      </a:r>
                      <a:r>
                        <a:rPr lang="zh-CN" altLang="en-US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月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33</a:t>
                      </a:r>
                      <a:r>
                        <a:rPr lang="zh-CN" altLang="en-US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年</a:t>
                      </a:r>
                      <a:r>
                        <a:rPr lang="en-US" altLang="zh-CN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4</a:t>
                      </a:r>
                      <a:r>
                        <a:rPr lang="zh-CN" altLang="en-US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月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环比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营业收入</a:t>
                      </a:r>
                    </a:p>
                  </a:txBody>
                  <a:tcPr marL="7200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55.6 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-77%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88%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99.1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22.3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4.5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利息净收入</a:t>
                      </a:r>
                    </a:p>
                  </a:txBody>
                  <a:tcPr marL="21600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66.7 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-88%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99%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11.2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33.4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5.6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val="1000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手续费及佣金净收入</a:t>
                      </a:r>
                      <a:endParaRPr lang="zh-CN" altLang="en-US" sz="900" b="0" i="0" u="none" strike="noStrike" kern="1200" baseline="30000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marL="21600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77.8 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-99%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11%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2.3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4.5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-0.7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val="1000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其他营业收入</a:t>
                      </a:r>
                      <a:endParaRPr lang="zh-CN" altLang="en-US" sz="900" b="0" i="0" u="none" strike="noStrike" baseline="30000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21600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8.9 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11%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22%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3.4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5.6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0.8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val="1001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减：营业支出</a:t>
                      </a:r>
                    </a:p>
                  </a:txBody>
                  <a:tcPr marL="7200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99.1 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-22%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33%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4.5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6.7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-0.9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val="1001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其中：业务及管理费</a:t>
                      </a:r>
                      <a:endParaRPr lang="zh-CN" altLang="en-US" sz="900" b="0" i="0" u="none" strike="noStrike" baseline="30000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21600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11.2 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-33%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44%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5.6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7.8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0.1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val="1001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拨备前营业利润</a:t>
                      </a:r>
                    </a:p>
                  </a:txBody>
                  <a:tcPr marL="7200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22.3 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-44%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55%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66.7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88.9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1.2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val="1001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减：资产减值损失</a:t>
                      </a:r>
                    </a:p>
                  </a:txBody>
                  <a:tcPr marL="7200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33.4 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-55%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66%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77.8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9.1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2.3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val="1001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利润总额</a:t>
                      </a:r>
                    </a:p>
                  </a:txBody>
                  <a:tcPr marL="7200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44.5 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-66%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77%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88.9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11.2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3.4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val="1001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减：所得税</a:t>
                      </a:r>
                      <a:r>
                        <a:rPr lang="zh-CN" altLang="en-US" sz="9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注</a:t>
                      </a:r>
                    </a:p>
                  </a:txBody>
                  <a:tcPr marL="7200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5.6 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-77%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88%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9.1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2.3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0.5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1001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净利润</a:t>
                      </a:r>
                      <a:endParaRPr lang="zh-CN" altLang="en-US" sz="900" b="0" i="0" u="none" strike="noStrike" baseline="30000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7200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66.7 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88%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99%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11.2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33.4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0.8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val="1001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管理贷款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(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不含票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)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日均</a:t>
                      </a:r>
                    </a:p>
                  </a:txBody>
                  <a:tcPr marL="7200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9,999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-1.2%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3,333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4,444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-5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val="6991265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自持贷款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(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不含票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)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日均</a:t>
                      </a:r>
                    </a:p>
                  </a:txBody>
                  <a:tcPr marL="7200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6,666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0.8%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9,999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1,111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-0.3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val="27033213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手续费及佣金净收入占比</a:t>
                      </a:r>
                    </a:p>
                  </a:txBody>
                  <a:tcPr marL="7200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44%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-0.6%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77%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88%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-9.1%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val="1662974053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id="{6177EE90-8A33-4FFA-9AC2-7BBC9B5787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3132959534"/>
              </p:ext>
            </p:extLst>
          </p:nvPr>
        </p:nvGraphicFramePr>
        <p:xfrm>
          <a:off x="6847324" y="2032070"/>
          <a:ext cx="4680000" cy="3894894"/>
        </p:xfrm>
        <a:graphic>
          <a:graphicData uri="http://schemas.openxmlformats.org/drawingml/2006/table">
            <a:tbl>
              <a:tblPr/>
              <a:tblGrid>
                <a:gridCol w="1980000">
                  <a:extLst>
                    <a:ext uri="{9D8B030D-6E8A-4147-A177-3AD203B41FA5}">
                      <a16:colId val="1798756374"/>
                    </a:ext>
                  </a:extLst>
                </a:gridCol>
                <a:gridCol w="900000">
                  <a:extLst>
                    <a:ext uri="{9D8B030D-6E8A-4147-A177-3AD203B41FA5}">
                      <a16:colId val="3700239057"/>
                    </a:ext>
                  </a:extLst>
                </a:gridCol>
                <a:gridCol w="900000">
                  <a:extLst>
                    <a:ext uri="{9D8B030D-6E8A-4147-A177-3AD203B41FA5}">
                      <a16:colId val="275358476"/>
                    </a:ext>
                  </a:extLst>
                </a:gridCol>
                <a:gridCol w="900000">
                  <a:extLst>
                    <a:ext uri="{9D8B030D-6E8A-4147-A177-3AD203B41FA5}">
                      <a16:colId val="1221428314"/>
                    </a:ext>
                  </a:extLst>
                </a:gridCol>
              </a:tblGrid>
              <a:tr h="282238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i="0" u="none" strike="noStrike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项目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本年累计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同比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月度环比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val="3315060694"/>
                  </a:ext>
                </a:extLst>
              </a:tr>
              <a:tr h="225791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净息差</a:t>
                      </a:r>
                    </a:p>
                  </a:txBody>
                  <a:tcPr marL="7200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2.33%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-4.55%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0.77%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val="946665612"/>
                  </a:ext>
                </a:extLst>
              </a:tr>
              <a:tr h="225791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净利差</a:t>
                      </a:r>
                    </a:p>
                  </a:txBody>
                  <a:tcPr marL="7200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8.99%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-0.22%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0.44%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val="1791670244"/>
                  </a:ext>
                </a:extLst>
              </a:tr>
              <a:tr h="225791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生息资产收息率</a:t>
                      </a:r>
                    </a:p>
                  </a:txBody>
                  <a:tcPr marL="7200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5.66%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-7.88%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0.11%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val="543608676"/>
                  </a:ext>
                </a:extLst>
              </a:tr>
              <a:tr h="225791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1" i="0" u="none" strike="noStrike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各项贷款（不含票）</a:t>
                      </a:r>
                    </a:p>
                  </a:txBody>
                  <a:tcPr marL="21600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2.33%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-0.55%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-0.77%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val="3618003460"/>
                  </a:ext>
                </a:extLst>
              </a:tr>
              <a:tr h="225791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其中：泛微粒贷</a:t>
                      </a:r>
                    </a:p>
                  </a:txBody>
                  <a:tcPr marL="36000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8.99%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-0.22%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-0.44%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val="814765533"/>
                  </a:ext>
                </a:extLst>
              </a:tr>
              <a:tr h="225791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   微车贷</a:t>
                      </a:r>
                    </a:p>
                  </a:txBody>
                  <a:tcPr marL="36000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5.66%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-0.88%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0.11%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val="2769591692"/>
                  </a:ext>
                </a:extLst>
              </a:tr>
              <a:tr h="225791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baseline="0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   微业贷</a:t>
                      </a:r>
                      <a:endParaRPr lang="zh-CN" altLang="en-US" sz="900" b="0" i="0" u="none" strike="noStrike" baseline="30000" dirty="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6000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2.33%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-0.55%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0.77%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val="993787217"/>
                  </a:ext>
                </a:extLst>
              </a:tr>
              <a:tr h="225791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同业资产</a:t>
                      </a:r>
                    </a:p>
                  </a:txBody>
                  <a:tcPr marL="21600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8.99%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-0.22%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0.44%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val="3947152628"/>
                  </a:ext>
                </a:extLst>
              </a:tr>
              <a:tr h="225791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付息负债付息率</a:t>
                      </a:r>
                    </a:p>
                  </a:txBody>
                  <a:tcPr marL="7200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5.66%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-0.88%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-0.11%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val="2073963780"/>
                  </a:ext>
                </a:extLst>
              </a:tr>
              <a:tr h="225791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各项存款</a:t>
                      </a:r>
                    </a:p>
                  </a:txBody>
                  <a:tcPr marL="21600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2.33%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-0.55%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-0.77%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val="772853855"/>
                  </a:ext>
                </a:extLst>
              </a:tr>
              <a:tr h="225791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其中：微账户</a:t>
                      </a:r>
                    </a:p>
                  </a:txBody>
                  <a:tcPr marL="36000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8.99%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-0.22%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-0.44%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val="1425483480"/>
                  </a:ext>
                </a:extLst>
              </a:tr>
              <a:tr h="225791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同业负债</a:t>
                      </a:r>
                    </a:p>
                  </a:txBody>
                  <a:tcPr marL="25200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5.66%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-0.88%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0.11%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val="3479860010"/>
                  </a:ext>
                </a:extLst>
              </a:tr>
              <a:tr h="225791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日均余额结构</a:t>
                      </a:r>
                    </a:p>
                  </a:txBody>
                  <a:tcPr marL="7200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　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　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val="3859766327"/>
                  </a:ext>
                </a:extLst>
              </a:tr>
              <a:tr h="225791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各项贷款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(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不含票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)/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生息资产</a:t>
                      </a:r>
                    </a:p>
                  </a:txBody>
                  <a:tcPr marL="10800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22.3%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-44.5%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6.7%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val="162508522"/>
                  </a:ext>
                </a:extLst>
              </a:tr>
              <a:tr h="225791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其他同业资产等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/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生息资产</a:t>
                      </a:r>
                    </a:p>
                  </a:txBody>
                  <a:tcPr marL="10800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88.9%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11.2%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-3.4%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val="3239822349"/>
                  </a:ext>
                </a:extLst>
              </a:tr>
              <a:tr h="225791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微账户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/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付息负债</a:t>
                      </a:r>
                    </a:p>
                  </a:txBody>
                  <a:tcPr marL="10800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55.6%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-7.8%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-9.1%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val="270675141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id="{868C43EA-9662-91D5-B1AA-B282F4DAD78F}"/>
              </a:ext>
            </a:extLst>
          </p:cNvPr>
          <p:cNvSpPr txBox="1"/>
          <p:nvPr/>
        </p:nvSpPr>
        <p:spPr>
          <a:xfrm>
            <a:off x="441222" y="5969743"/>
            <a:ext cx="4775212" cy="248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800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[</a:t>
            </a:r>
            <a:r>
              <a:rPr lang="zh-CN" altLang="en-US" sz="800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注</a:t>
            </a:r>
            <a:r>
              <a:rPr lang="en-US" altLang="zh-CN" sz="800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]</a:t>
            </a:r>
            <a:r>
              <a:rPr lang="zh-CN" altLang="en-US" sz="800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800" dirty="0">
                <a:latin typeface="楷体" panose="02010609060101010101" pitchFamily="49" charset="-122"/>
                <a:ea typeface="楷体" panose="02010609060101010101" pitchFamily="49" charset="-122"/>
              </a:rPr>
              <a:t>由于免税资产增加，实际所得税率下降至</a:t>
            </a:r>
            <a:r>
              <a:rPr lang="en-US" altLang="zh-CN" sz="800" dirty="0">
                <a:latin typeface="楷体" panose="02010609060101010101" pitchFamily="49" charset="-122"/>
                <a:ea typeface="楷体" panose="02010609060101010101" pitchFamily="49" charset="-122"/>
              </a:rPr>
              <a:t>22%</a:t>
            </a:r>
            <a:r>
              <a:rPr lang="zh-CN" altLang="en-US" sz="800" dirty="0">
                <a:latin typeface="楷体" panose="02010609060101010101" pitchFamily="49" charset="-122"/>
                <a:ea typeface="楷体" panose="02010609060101010101" pitchFamily="49" charset="-122"/>
              </a:rPr>
              <a:t>，以及税前利润下降</a:t>
            </a:r>
            <a:r>
              <a:rPr lang="en-US" altLang="zh-CN" sz="800" dirty="0">
                <a:latin typeface="楷体" panose="02010609060101010101" pitchFamily="49" charset="-122"/>
                <a:ea typeface="楷体" panose="02010609060101010101" pitchFamily="49" charset="-122"/>
              </a:rPr>
              <a:t>33%</a:t>
            </a:r>
            <a:r>
              <a:rPr lang="zh-CN" altLang="en-US" sz="800" dirty="0">
                <a:latin typeface="楷体" panose="02010609060101010101" pitchFamily="49" charset="-122"/>
                <a:ea typeface="楷体" panose="02010609060101010101" pitchFamily="49" charset="-122"/>
              </a:rPr>
              <a:t>，所得税支出同比减少</a:t>
            </a:r>
            <a:r>
              <a:rPr lang="en-US" altLang="zh-CN" sz="800" dirty="0">
                <a:latin typeface="楷体" panose="02010609060101010101" pitchFamily="49" charset="-122"/>
                <a:ea typeface="楷体" panose="02010609060101010101" pitchFamily="49" charset="-122"/>
              </a:rPr>
              <a:t>44%</a:t>
            </a:r>
            <a:r>
              <a:rPr lang="zh-CN" altLang="en-US" sz="8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kumimoji="0" lang="en-US" altLang="zh-CN" sz="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val="180998862"/>
      </p:ext>
    </p:extLst>
  </p:cSld>
  <p:clrMapOvr>
    <a:masterClrMapping/>
  </p:clrMapOvr>
</p:sld>
</file>

<file path=ppt/slides/slide8.xml><?xml version="1.0" encoding="utf-8"?>
<p:sld xmlns:a="http://schemas.openxmlformats.org/drawingml/2006/main" xmlns:a16="http://schemas.microsoft.com/office/drawing/2014/main" xmlns:mc="http://schemas.openxmlformats.org/markup-compatibility/2006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id="{46DE9D80-3AEB-8EC5-2721-560EB302D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 hidden="1">
            <a:extLst>
              <a:ext uri="{FF2B5EF4-FFF2-40B4-BE49-F238E27FC236}">
                <a16:creationId id="{1A48A37D-23DB-9A45-0F41-D3D843EB2C4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25588" y="1588"/>
          <a:ext cx="1588" cy="1588"/>
        </p:xfrm>
        <a:graphic>
          <a:graphicData uri="http://schemas.openxmlformats.org/presentationml/2006/ole">
            <mc:AlternateContent>
              <mc:Choice Requires="v">
                <p:oleObj name="think-cell 幻灯片" r:id="rId3" imgW="572" imgH="429" progId="TCLayout.ActiveDocument.1">
                  <p:embed/>
                </p:oleObj>
              </mc:Choice>
              <mc:Fallback>
                <p:oleObj name="think-cell 幻灯片" r:id="rId3" imgW="572" imgH="429" progId="TCLayout.ActiveDocument.1">
                  <p:embed/>
                  <p:pic>
                    <p:nvPicPr>
                      <p:cNvPr id="4" name="对象 3" hidden="1">
                        <a:extLst>
                          <a:ext uri="{FF2B5EF4-FFF2-40B4-BE49-F238E27FC236}">
                            <a16:creationId id="{1E2AC4FB-2668-1545-E606-D9EF588D84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25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id="{3C56D683-C319-AC57-A556-2D8AAB3AC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solidFill>
                  <a:srgbClr val="000000"/>
                </a:solidFill>
                <a:cs typeface="楷体" panose="02010609060101010101" pitchFamily="49" charset="-122"/>
              </a:rPr>
              <a:t>P&amp;L-</a:t>
            </a:r>
            <a:r>
              <a:rPr lang="zh-CN" altLang="en-US" dirty="0">
                <a:solidFill>
                  <a:srgbClr val="000000"/>
                </a:solidFill>
                <a:cs typeface="楷体" panose="02010609060101010101" pitchFamily="49" charset="-122"/>
              </a:rPr>
              <a:t>业务及管理费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id="{14AEA17C-33EA-6558-CB1C-71854F969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C962F8-67CB-43C0-8F4B-53AB2EE0A6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id="{D81C95FC-3F40-FC5F-13E0-D99ED11194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960271323"/>
              </p:ext>
            </p:extLst>
          </p:nvPr>
        </p:nvGraphicFramePr>
        <p:xfrm>
          <a:off x="1714432" y="2098758"/>
          <a:ext cx="6898346" cy="3474759"/>
        </p:xfrm>
        <a:graphic>
          <a:graphicData uri="http://schemas.openxmlformats.org/drawingml/2006/table">
            <a:tbl>
              <a:tblPr/>
              <a:tblGrid>
                <a:gridCol w="1665519">
                  <a:extLst>
                    <a:ext uri="{9D8B030D-6E8A-4147-A177-3AD203B41FA5}">
                      <a16:colId val="20000"/>
                    </a:ext>
                  </a:extLst>
                </a:gridCol>
                <a:gridCol w="748330">
                  <a:extLst>
                    <a:ext uri="{9D8B030D-6E8A-4147-A177-3AD203B41FA5}">
                      <a16:colId val="20001"/>
                    </a:ext>
                  </a:extLst>
                </a:gridCol>
                <a:gridCol w="610211">
                  <a:extLst>
                    <a:ext uri="{9D8B030D-6E8A-4147-A177-3AD203B41FA5}">
                      <a16:colId val="20005"/>
                    </a:ext>
                  </a:extLst>
                </a:gridCol>
                <a:gridCol w="610211">
                  <a:extLst>
                    <a:ext uri="{9D8B030D-6E8A-4147-A177-3AD203B41FA5}">
                      <a16:colId val="20006"/>
                    </a:ext>
                  </a:extLst>
                </a:gridCol>
                <a:gridCol w="789816">
                  <a:extLst>
                    <a:ext uri="{9D8B030D-6E8A-4147-A177-3AD203B41FA5}">
                      <a16:colId val="20007"/>
                    </a:ext>
                  </a:extLst>
                </a:gridCol>
                <a:gridCol w="614723">
                  <a:extLst>
                    <a:ext uri="{9D8B030D-6E8A-4147-A177-3AD203B41FA5}">
                      <a16:colId val="20008"/>
                    </a:ext>
                  </a:extLst>
                </a:gridCol>
                <a:gridCol w="607038">
                  <a:extLst>
                    <a:ext uri="{9D8B030D-6E8A-4147-A177-3AD203B41FA5}">
                      <a16:colId val="3555191844"/>
                    </a:ext>
                  </a:extLst>
                </a:gridCol>
                <a:gridCol w="645459">
                  <a:extLst>
                    <a:ext uri="{9D8B030D-6E8A-4147-A177-3AD203B41FA5}">
                      <a16:colId val="671621973"/>
                    </a:ext>
                  </a:extLst>
                </a:gridCol>
                <a:gridCol w="607039">
                  <a:extLst>
                    <a:ext uri="{9D8B030D-6E8A-4147-A177-3AD203B41FA5}">
                      <a16:colId val="2418027067"/>
                    </a:ext>
                  </a:extLst>
                </a:gridCol>
              </a:tblGrid>
              <a:tr h="37141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项目（亿元）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本年累计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同比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+-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同比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内部版预算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预算执行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66</a:t>
                      </a: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年</a:t>
                      </a:r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7</a:t>
                      </a: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月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88</a:t>
                      </a: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年</a:t>
                      </a:r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9</a:t>
                      </a: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月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环比</a:t>
                      </a:r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+-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val="10000"/>
                  </a:ext>
                </a:extLst>
              </a:tr>
              <a:tr h="281761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营业收入</a:t>
                      </a:r>
                    </a:p>
                  </a:txBody>
                  <a:tcPr marL="11430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11.2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-3.4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-55%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666.7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88%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99.1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22.3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4.5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val="10001"/>
                  </a:ext>
                </a:extLst>
              </a:tr>
              <a:tr h="281761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业务及管理费</a:t>
                      </a:r>
                    </a:p>
                  </a:txBody>
                  <a:tcPr marL="11430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66.7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-0.2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-33%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44.5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66%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9.1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2.3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0.5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val="3811015523"/>
                  </a:ext>
                </a:extLst>
              </a:tr>
              <a:tr h="281761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人力费用</a:t>
                      </a:r>
                    </a:p>
                  </a:txBody>
                  <a:tcPr marL="11430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66.7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-8.9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-11%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22.3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44%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5.6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7.8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-0.11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val="2253436134"/>
                  </a:ext>
                </a:extLst>
              </a:tr>
              <a:tr h="28176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其中：常规人力</a:t>
                      </a:r>
                    </a:p>
                  </a:txBody>
                  <a:tcPr marL="22860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2.3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-0.5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-66%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77.8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99%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1.2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3.4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-0.66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val="3192288861"/>
                  </a:ext>
                </a:extLst>
              </a:tr>
              <a:tr h="28176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   利润分享</a:t>
                      </a:r>
                    </a:p>
                  </a:txBody>
                  <a:tcPr marL="22860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7.8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0.1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22%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33.4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55%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6.7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8.9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   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val="10005"/>
                  </a:ext>
                </a:extLst>
              </a:tr>
              <a:tr h="281761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业务费用</a:t>
                      </a:r>
                    </a:p>
                  </a:txBody>
                  <a:tcPr marL="11430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1.2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0.6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77%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88.9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11%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2.3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4.5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0.7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val="10006"/>
                  </a:ext>
                </a:extLst>
              </a:tr>
              <a:tr h="28176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其中：营销费用</a:t>
                      </a:r>
                    </a:p>
                  </a:txBody>
                  <a:tcPr marL="22860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8.9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0.2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33%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44.5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66%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7.8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9.1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0.5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val="10007"/>
                  </a:ext>
                </a:extLst>
              </a:tr>
              <a:tr h="28176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   运营费用</a:t>
                      </a:r>
                    </a:p>
                  </a:txBody>
                  <a:tcPr marL="22860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6.7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-0.99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-11%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22.3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44%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0.6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0.8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-0.3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val="10009"/>
                  </a:ext>
                </a:extLst>
              </a:tr>
              <a:tr h="281761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IT</a:t>
                      </a: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费用</a:t>
                      </a:r>
                    </a:p>
                  </a:txBody>
                  <a:tcPr marL="11430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4.5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-0.7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-88%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99.1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22%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0.4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0.6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-0.88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val="10010"/>
                  </a:ext>
                </a:extLst>
              </a:tr>
              <a:tr h="28573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日常费用</a:t>
                      </a:r>
                    </a:p>
                  </a:txBody>
                  <a:tcPr marL="11430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0.1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-0.3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-44%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5.6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77%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0.9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0.2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0.44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val="10011"/>
                  </a:ext>
                </a:extLst>
              </a:tr>
              <a:tr h="281761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成本收入比</a:t>
                      </a:r>
                    </a:p>
                  </a:txBody>
                  <a:tcPr marL="11430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55.66%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0.88%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　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99.11%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　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22.33%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44.55%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-6.77%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val="1592798703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id="{96971C78-E3F9-8488-BDE7-71783E10A239}"/>
              </a:ext>
            </a:extLst>
          </p:cNvPr>
          <p:cNvSpPr/>
          <p:nvPr/>
        </p:nvSpPr>
        <p:spPr>
          <a:xfrm>
            <a:off x="601799" y="988392"/>
            <a:ext cx="11790498" cy="8617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85750" indent="-285750">
              <a:buClr>
                <a:srgbClr val="C00000"/>
              </a:buClr>
              <a:buSzPct val="100000"/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优化资源配置策略，提升费用使用效益，严控非必要开支，业务管理费同比下降</a:t>
            </a:r>
            <a:r>
              <a:rPr lang="en-US" altLang="zh-CN" sz="1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88%,</a:t>
            </a:r>
            <a:r>
              <a:rPr lang="zh-CN" altLang="en-US" sz="1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其中：</a:t>
            </a:r>
            <a:endParaRPr lang="en-US" altLang="zh-CN" sz="1400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buClr>
                <a:srgbClr val="C00000"/>
              </a:buClr>
              <a:buSzPct val="100000"/>
            </a:pPr>
            <a:r>
              <a:rPr lang="en-US" altLang="zh-CN" sz="1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-</a:t>
            </a:r>
            <a:r>
              <a:rPr lang="zh-CN" altLang="en-US" sz="1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常规人力：</a:t>
            </a:r>
            <a:r>
              <a:rPr lang="en-US" altLang="zh-CN" sz="1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-99%</a:t>
            </a:r>
            <a:r>
              <a:rPr lang="zh-CN" altLang="en-US" sz="1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，主要是平均人年同比</a:t>
            </a:r>
            <a:r>
              <a:rPr lang="en-US" altLang="zh-CN" sz="1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-11%</a:t>
            </a:r>
          </a:p>
          <a:p>
            <a:pPr>
              <a:buClr>
                <a:srgbClr val="C00000"/>
              </a:buClr>
              <a:buSzPct val="100000"/>
            </a:pPr>
            <a:r>
              <a:rPr lang="en-US" altLang="zh-CN" sz="1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-</a:t>
            </a:r>
            <a:r>
              <a:rPr lang="zh-CN" altLang="en-US" sz="1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营销：</a:t>
            </a:r>
            <a:r>
              <a:rPr lang="en-US" altLang="zh-CN" sz="1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+22%</a:t>
            </a:r>
            <a:r>
              <a:rPr lang="zh-CN" altLang="en-US" sz="1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，主要是微粒贷加大业务投入</a:t>
            </a:r>
            <a:r>
              <a:rPr lang="en-US" altLang="zh-CN" sz="1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(+0.44</a:t>
            </a:r>
            <a:r>
              <a:rPr lang="zh-CN" altLang="en-US" sz="1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亿元</a:t>
            </a:r>
            <a:r>
              <a:rPr lang="en-US" altLang="zh-CN" sz="1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</a:p>
          <a:p>
            <a:pPr>
              <a:buClr>
                <a:srgbClr val="C00000"/>
              </a:buClr>
              <a:buSzPct val="100000"/>
            </a:pPr>
            <a:r>
              <a:rPr lang="en-US" altLang="zh-CN" sz="1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-</a:t>
            </a:r>
            <a:r>
              <a:rPr lang="zh-CN" altLang="en-US" sz="1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日常：</a:t>
            </a:r>
            <a:r>
              <a:rPr lang="en-US" altLang="zh-CN" sz="1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-55%</a:t>
            </a:r>
            <a:r>
              <a:rPr lang="zh-CN" altLang="en-US" sz="1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，主要是职场退租及</a:t>
            </a:r>
            <a:r>
              <a:rPr lang="en-US" altLang="zh-CN" sz="1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66</a:t>
            </a:r>
            <a:r>
              <a:rPr lang="zh-CN" altLang="en-US" sz="1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年</a:t>
            </a:r>
            <a:r>
              <a:rPr lang="en-US" altLang="zh-CN" sz="1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7-8</a:t>
            </a:r>
            <a:r>
              <a:rPr lang="zh-CN" altLang="en-US" sz="1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月前海家具入账影响</a:t>
            </a:r>
            <a:endParaRPr lang="en-US" altLang="zh-CN" sz="1400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val="2094845763"/>
      </p:ext>
    </p:extLst>
  </p:cSld>
  <p:clrMapOvr>
    <a:masterClrMapping/>
  </p:clrMapOvr>
</p:sld>
</file>

<file path=ppt/slides/slide9.xml><?xml version="1.0" encoding="utf-8"?>
<p:sld xmlns:a="http://schemas.openxmlformats.org/drawingml/2006/main" xmlns:a16="http://schemas.microsoft.com/office/drawing/2014/main" xmlns:c="http://schemas.openxmlformats.org/drawingml/2006/chart" xmlns:mc="http://schemas.openxmlformats.org/markup-compatibility/2006" xmlns:ns7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id="{18091E04-825B-8B6F-F0C7-2C482066A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对象 6" hidden="1">
            <a:extLst>
              <a:ext uri="{FF2B5EF4-FFF2-40B4-BE49-F238E27FC236}">
                <a16:creationId id="{ECC101FE-C8A5-2CB5-22D4-222EDCD7142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val="1838717160"/>
              </p:ext>
            </p:extLst>
          </p:nvPr>
        </p:nvGraphicFramePr>
        <p:xfrm>
          <a:off x="1525588" y="1588"/>
          <a:ext cx="1588" cy="1588"/>
        </p:xfrm>
        <a:graphic>
          <a:graphicData uri="http://schemas.openxmlformats.org/presentationml/2006/ole">
            <mc:AlternateContent>
              <mc:Choice Requires="v">
                <p:oleObj name="think-cell 幻灯片" r:id="rId68" imgW="12700" imgH="12700" progId="TCLayout.ActiveDocument.1">
                  <p:embed/>
                </p:oleObj>
              </mc:Choice>
              <mc:Fallback>
                <p:oleObj name="think-cell 幻灯片" r:id="rId68" imgW="12700" imgH="12700" progId="TCLayout.ActiveDocument.1">
                  <p:embed/>
                  <p:pic>
                    <p:nvPicPr>
                      <p:cNvPr id="7" name="对象 6" hidden="1">
                        <a:extLst>
                          <a:ext uri="{FF2B5EF4-FFF2-40B4-BE49-F238E27FC236}">
                            <a16:creationId id="{ECC101FE-C8A5-2CB5-22D4-222EDCD714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9"/>
                      <a:stretch>
                        <a:fillRect/>
                      </a:stretch>
                    </p:blipFill>
                    <p:spPr>
                      <a:xfrm>
                        <a:off x="1525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>
            <a:extLst>
              <a:ext uri="{FF2B5EF4-FFF2-40B4-BE49-F238E27FC236}">
                <a16:creationId id="{625C82DA-2230-1AAE-AA08-8B97A0E4E8BA}"/>
              </a:ext>
            </a:extLst>
          </p:cNvPr>
          <p:cNvSpPr/>
          <p:nvPr/>
        </p:nvSpPr>
        <p:spPr>
          <a:xfrm>
            <a:off x="189706" y="6070486"/>
            <a:ext cx="3556000" cy="7143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矩形 1" hidden="1">
            <a:extLst>
              <a:ext uri="{FF2B5EF4-FFF2-40B4-BE49-F238E27FC236}">
                <a16:creationId id="{5FCCC9C4-A6A1-37A0-88F1-6054EEDF0F2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52400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800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96" name="标题 1">
            <a:extLst>
              <a:ext uri="{FF2B5EF4-FFF2-40B4-BE49-F238E27FC236}">
                <a16:creationId id="{284B60B5-D0CE-F0FD-1EE1-E083D2383258}"/>
              </a:ext>
            </a:extLst>
          </p:cNvPr>
          <p:cNvSpPr txBox="1">
            <a:spLocks/>
          </p:cNvSpPr>
          <p:nvPr/>
        </p:nvSpPr>
        <p:spPr>
          <a:xfrm>
            <a:off x="729529" y="60876"/>
            <a:ext cx="10515600" cy="43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>
                <a:solidFill>
                  <a:srgbClr val="000000"/>
                </a:solidFill>
                <a:cs typeface="楷体" panose="02010609060101010101" pitchFamily="49" charset="-122"/>
              </a:rPr>
              <a:t>全行</a:t>
            </a:r>
            <a:r>
              <a:rPr lang="zh-CN" altLang="zh-CN" dirty="0">
                <a:solidFill>
                  <a:srgbClr val="000000"/>
                </a:solidFill>
                <a:cs typeface="楷体" panose="02010609060101010101" pitchFamily="49" charset="-122"/>
              </a:rPr>
              <a:t>风险</a:t>
            </a:r>
            <a:r>
              <a:rPr lang="zh-CN" altLang="en-US" dirty="0">
                <a:solidFill>
                  <a:srgbClr val="000000"/>
                </a:solidFill>
                <a:cs typeface="楷体" panose="02010609060101010101" pitchFamily="49" charset="-122"/>
              </a:rPr>
              <a:t>概览</a:t>
            </a:r>
            <a:endParaRPr lang="zh-CN" altLang="en-US" dirty="0"/>
          </a:p>
        </p:txBody>
      </p:sp>
      <p:sp>
        <p:nvSpPr>
          <p:cNvPr id="175" name="文本框 174">
            <a:extLst>
              <a:ext uri="{FF2B5EF4-FFF2-40B4-BE49-F238E27FC236}">
                <a16:creationId id="{F32BC004-1E98-A3C1-8E7F-674733DD466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23850" y="4441825"/>
            <a:ext cx="4059237" cy="2762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楷体" panose="02010609060101010101" pitchFamily="49" charset="-122"/>
                <a:ea typeface="楷体" panose="02010609060101010101" pitchFamily="49" charset="-122"/>
              </a:rPr>
              <a:t>表内逾期、关注贷款率</a:t>
            </a:r>
          </a:p>
        </p:txBody>
      </p:sp>
      <p:sp>
        <p:nvSpPr>
          <p:cNvPr id="356" name="文本框 355">
            <a:extLst>
              <a:ext uri="{FF2B5EF4-FFF2-40B4-BE49-F238E27FC236}">
                <a16:creationId id="{94E86C5A-283C-4E0C-64BB-6B6AEA20E0F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8040687" y="1509464"/>
            <a:ext cx="3435003" cy="2762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楷体" panose="02010609060101010101" pitchFamily="49" charset="-122"/>
                <a:ea typeface="楷体" panose="02010609060101010101" pitchFamily="49" charset="-122"/>
              </a:rPr>
              <a:t>拨备情况</a:t>
            </a:r>
          </a:p>
        </p:txBody>
      </p:sp>
      <p:graphicFrame>
        <p:nvGraphicFramePr>
          <p:cNvPr id="162" name="表格 161">
            <a:extLst>
              <a:ext uri="{FF2B5EF4-FFF2-40B4-BE49-F238E27FC236}">
                <a16:creationId id="{CB744839-58F0-03CE-363F-4977395B38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3388171851"/>
              </p:ext>
            </p:extLst>
          </p:nvPr>
        </p:nvGraphicFramePr>
        <p:xfrm>
          <a:off x="8040688" y="5048250"/>
          <a:ext cx="3435003" cy="1257299"/>
        </p:xfrm>
        <a:graphic>
          <a:graphicData uri="http://schemas.openxmlformats.org/drawingml/2006/table">
            <a:tbl>
              <a:tblPr/>
              <a:tblGrid>
                <a:gridCol w="979571">
                  <a:extLst>
                    <a:ext uri="{9D8B030D-6E8A-4147-A177-3AD203B41FA5}">
                      <a16:colId val="20000"/>
                    </a:ext>
                  </a:extLst>
                </a:gridCol>
                <a:gridCol w="643783">
                  <a:extLst>
                    <a:ext uri="{9D8B030D-6E8A-4147-A177-3AD203B41FA5}">
                      <a16:colId val="20001"/>
                    </a:ext>
                  </a:extLst>
                </a:gridCol>
                <a:gridCol w="532014">
                  <a:extLst>
                    <a:ext uri="{9D8B030D-6E8A-4147-A177-3AD203B41FA5}">
                      <a16:colId val="20002"/>
                    </a:ext>
                  </a:extLst>
                </a:gridCol>
                <a:gridCol w="664287">
                  <a:extLst>
                    <a:ext uri="{9D8B030D-6E8A-4147-A177-3AD203B41FA5}">
                      <a16:colId val="4043477982"/>
                    </a:ext>
                  </a:extLst>
                </a:gridCol>
                <a:gridCol w="615348">
                  <a:extLst>
                    <a:ext uri="{9D8B030D-6E8A-4147-A177-3AD203B41FA5}">
                      <a16:colId val="3484548276"/>
                    </a:ext>
                  </a:extLst>
                </a:gridCol>
              </a:tblGrid>
              <a:tr h="275319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项目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管理不良率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较年初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自持不良率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较年初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7E7"/>
                    </a:solidFill>
                  </a:tcPr>
                </a:tc>
                <a:extLst>
                  <a:ext uri="{0D108BD9-81ED-4DB2-BD59-A6C34878D82A}">
                    <a16:rowId val="10000"/>
                  </a:ext>
                </a:extLst>
              </a:tr>
              <a:tr h="245495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全行</a:t>
                      </a:r>
                    </a:p>
                  </a:txBody>
                  <a:tcPr marL="72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9.11%</a:t>
                      </a:r>
                    </a:p>
                  </a:txBody>
                  <a:tcPr marL="0" marR="1143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0.33%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4.55%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0.77%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val="10001"/>
                  </a:ext>
                </a:extLst>
              </a:tr>
              <a:tr h="245495">
                <a:tc>
                  <a:txBody>
                    <a:bodyPr/>
                    <a:lstStyle/>
                    <a:p>
                      <a:pPr lvl="0" algn="l" rtl="0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泛微粒贷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8.99%</a:t>
                      </a:r>
                    </a:p>
                  </a:txBody>
                  <a:tcPr marL="0" marR="1143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0.22%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3.44%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0.66%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val="10002"/>
                  </a:ext>
                </a:extLst>
              </a:tr>
              <a:tr h="245495">
                <a:tc>
                  <a:txBody>
                    <a:bodyPr/>
                    <a:lstStyle/>
                    <a:p>
                      <a:pPr lvl="0" algn="l" rtl="0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微车贷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0.88%</a:t>
                      </a:r>
                    </a:p>
                  </a:txBody>
                  <a:tcPr marL="0" marR="1143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0.11%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0.33%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0.55%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val="10003"/>
                  </a:ext>
                </a:extLst>
              </a:tr>
              <a:tr h="245495">
                <a:tc>
                  <a:txBody>
                    <a:bodyPr/>
                    <a:lstStyle/>
                    <a:p>
                      <a:pPr lvl="0" algn="l" rtl="0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微业贷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6.77%</a:t>
                      </a:r>
                    </a:p>
                  </a:txBody>
                  <a:tcPr marL="0" marR="1143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0.99%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1.22%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0.44%</a:t>
                      </a:r>
                    </a:p>
                  </a:txBody>
                  <a:tcPr marL="0" marR="1143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val="2848804094"/>
                  </a:ext>
                </a:extLst>
              </a:tr>
            </a:tbl>
          </a:graphicData>
        </a:graphic>
      </p:graphicFrame>
      <p:sp>
        <p:nvSpPr>
          <p:cNvPr id="165" name="文本框 164">
            <a:extLst>
              <a:ext uri="{FF2B5EF4-FFF2-40B4-BE49-F238E27FC236}">
                <a16:creationId id="{55EB13C0-4F06-5A12-F799-F78CCB8E5DC4}"/>
              </a:ext>
            </a:extLst>
          </p:cNvPr>
          <p:cNvSpPr txBox="1"/>
          <p:nvPr/>
        </p:nvSpPr>
        <p:spPr>
          <a:xfrm>
            <a:off x="8040688" y="4465638"/>
            <a:ext cx="3435002" cy="2778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楷体" panose="02010609060101010101" pitchFamily="49" charset="-122"/>
                <a:ea typeface="楷体" panose="02010609060101010101" pitchFamily="49" charset="-122"/>
              </a:rPr>
              <a:t>分产品不良表现</a:t>
            </a:r>
            <a:endParaRPr lang="zh-CN" altLang="en-US" sz="1200" b="1" baseline="30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id="{1EBE7F86-6743-F356-083D-307DEA4C3FF5}"/>
              </a:ext>
            </a:extLst>
          </p:cNvPr>
          <p:cNvSpPr/>
          <p:nvPr/>
        </p:nvSpPr>
        <p:spPr>
          <a:xfrm>
            <a:off x="189706" y="464216"/>
            <a:ext cx="11713527" cy="91903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marL="216000" indent="-216000">
              <a:lnSpc>
                <a:spcPct val="150000"/>
              </a:lnSpc>
              <a:buClr>
                <a:srgbClr val="C00000"/>
              </a:buClr>
              <a:buSzPct val="80000"/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全行还原后实际损失率较</a:t>
            </a:r>
            <a:r>
              <a:rPr lang="en-US" altLang="zh-CN" sz="14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55</a:t>
            </a:r>
            <a:r>
              <a:rPr lang="zh-CN" altLang="en-US" sz="14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年下降</a:t>
            </a:r>
            <a:r>
              <a:rPr lang="en-US" altLang="zh-CN" sz="14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66bp</a:t>
            </a:r>
            <a:r>
              <a:rPr lang="zh-CN" altLang="en-US" sz="14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，其中泛微粒贷增加</a:t>
            </a:r>
            <a:r>
              <a:rPr lang="en-US" altLang="zh-CN" sz="14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77bp</a:t>
            </a:r>
            <a:r>
              <a:rPr lang="zh-CN" altLang="en-US" sz="14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，微业贷下降</a:t>
            </a:r>
            <a:r>
              <a:rPr lang="en-US" altLang="zh-CN" sz="14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88bp</a:t>
            </a:r>
            <a:r>
              <a:rPr lang="zh-CN" altLang="en-US" sz="14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14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16000" indent="-216000">
              <a:lnSpc>
                <a:spcPct val="150000"/>
              </a:lnSpc>
              <a:buClr>
                <a:srgbClr val="C00000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9</a:t>
            </a:r>
            <a:r>
              <a:rPr lang="zh-CN" altLang="en-US" sz="14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月当月还原后实际损失环比有所反弹</a:t>
            </a:r>
            <a:r>
              <a:rPr lang="en-US" altLang="zh-CN" sz="14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1.2</a:t>
            </a:r>
            <a:r>
              <a:rPr lang="zh-CN" altLang="en-US" sz="14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亿元，主要是</a:t>
            </a:r>
            <a:r>
              <a:rPr lang="en-US" altLang="zh-CN" sz="14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14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月账单日基数偏低的季节性影响。</a:t>
            </a:r>
            <a:endParaRPr lang="en-US" altLang="zh-CN" sz="14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16000" indent="-216000">
              <a:lnSpc>
                <a:spcPct val="150000"/>
              </a:lnSpc>
              <a:buClr>
                <a:srgbClr val="C00000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14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月核销处置金额增加，不良率环比下降</a:t>
            </a:r>
            <a:r>
              <a:rPr lang="en-US" altLang="zh-CN" sz="14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55bp</a:t>
            </a:r>
            <a:r>
              <a:rPr lang="zh-CN" altLang="en-US" sz="14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至</a:t>
            </a:r>
            <a:r>
              <a:rPr lang="en-US" altLang="zh-CN" sz="14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6.77%</a:t>
            </a:r>
            <a:r>
              <a:rPr lang="zh-CN" altLang="en-US" sz="14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；拨备覆盖率为</a:t>
            </a:r>
            <a:r>
              <a:rPr lang="en-US" altLang="zh-CN" sz="14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888%</a:t>
            </a:r>
            <a:r>
              <a:rPr lang="zh-CN" altLang="en-US" sz="14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；额外拨备较年初增加</a:t>
            </a:r>
            <a:r>
              <a:rPr lang="en-US" altLang="zh-CN" sz="14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9.1</a:t>
            </a:r>
            <a:r>
              <a:rPr lang="zh-CN" altLang="en-US" sz="14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亿元。</a:t>
            </a:r>
            <a:endParaRPr lang="en-US" altLang="zh-CN" sz="14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14" name="Chart 3">
            <a:extLst>
              <a:ext uri="{FF2B5EF4-FFF2-40B4-BE49-F238E27FC236}">
                <a16:creationId id="{3B98E045-E14D-F210-C620-454CF4AB8FBD}"/>
              </a:ext>
            </a:extLst>
          </p:cNvPr>
          <p:cNvGraphicFramePr/>
          <p:nvPr>
            <p:custDataLst>
              <p:tags r:id="rId5"/>
            </p:custDataLst>
            <p:extLst>
              <p:ext uri="{D42A27DB-BD31-4B8C-83A1-F6EECF244321}">
                <p14:modId val="2906694189"/>
              </p:ext>
            </p:extLst>
          </p:nvPr>
        </p:nvGraphicFramePr>
        <p:xfrm>
          <a:off x="7996238" y="2576513"/>
          <a:ext cx="2008187" cy="1414462"/>
        </p:xfrm>
        <a:graphic>
          <a:graphicData uri="http://schemas.openxmlformats.org/drawingml/2006/chart">
            <c:chart r:id="rId70"/>
          </a:graphicData>
        </a:graphic>
      </p:graphicFrame>
      <p:sp>
        <p:nvSpPr>
          <p:cNvPr id="118" name="文本占位符 2">
            <a:extLst>
              <a:ext uri="{FF2B5EF4-FFF2-40B4-BE49-F238E27FC236}">
                <a16:creationId id="{7F141805-0B21-E19C-3C74-9CC0458F9896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8840788" y="3838575"/>
            <a:ext cx="317500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7:hiddenFill>
                <a:solidFill>
                  <a:scrgbClr r="0" g="0" b="0"/>
                </a:solidFill>
              </ns7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EC03274E-5AE1-4D5A-BB3F-ACBA646D1386}" type="datetime'''''''''''''''''拨''贷''''''''''''''''''''''''''''''''''''''''比'">
              <a:rPr lang="zh-CN" altLang="en-US" sz="800" smtClean="0">
                <a:latin typeface="楷体" panose="02010609060101010101" pitchFamily="49" charset="-122"/>
                <a:ea typeface="楷体" panose="02010609060101010101" pitchFamily="49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拨贷比</a:t>
            </a:fld>
            <a:endParaRPr lang="zh-CN" altLang="en-US" sz="800" dirty="0">
              <a:latin typeface="楷体" panose="02010609060101010101" pitchFamily="49" charset="-122"/>
              <a:ea typeface="楷体" panose="02010609060101010101" pitchFamily="49" charset="-122"/>
              <a:sym typeface="楷体" panose="02010609060101010101" pitchFamily="49" charset="-122"/>
            </a:endParaRPr>
          </a:p>
        </p:txBody>
      </p:sp>
      <p:sp>
        <p:nvSpPr>
          <p:cNvPr id="120" name="矩形 119">
            <a:extLst>
              <a:ext uri="{FF2B5EF4-FFF2-40B4-BE49-F238E27FC236}">
                <a16:creationId id="{44047462-FCD7-6626-0E01-27FDDB207BD0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9015413" y="2176463"/>
            <a:ext cx="142875" cy="106363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ns7:hiddenLine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ns7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矩形 120">
            <a:extLst>
              <a:ext uri="{FF2B5EF4-FFF2-40B4-BE49-F238E27FC236}">
                <a16:creationId id="{593246E9-D8F6-B901-1AC8-19944295F08D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9615488" y="2176463"/>
            <a:ext cx="142875" cy="106363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2" name="文本占位符 2">
            <a:extLst>
              <a:ext uri="{FF2B5EF4-FFF2-40B4-BE49-F238E27FC236}">
                <a16:creationId id="{D11DB47A-4688-F288-3DF7-79F13D0E52F9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9209088" y="2181225"/>
            <a:ext cx="304800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7:hiddenFill>
                <a:solidFill>
                  <a:scrgbClr r="0" g="0" b="0"/>
                </a:solidFill>
              </ns7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5A881861-0B86-45A9-BC90-0DE616203CB8}" type="datetime'''''''''''''''''''''2''''''''''''''''''5''''''年''''末'">
              <a:rPr lang="zh-CN" altLang="en-US" sz="800" smtClean="0">
                <a:latin typeface="楷体" panose="02010609060101010101" pitchFamily="49" charset="-122"/>
                <a:ea typeface="楷体" panose="02010609060101010101" pitchFamily="49" charset="-122"/>
              </a:rPr>
              <a:pPr/>
              <a:t>22年末</a:t>
            </a:fld>
            <a:endParaRPr lang="zh-CN" altLang="en-US" sz="800" dirty="0">
              <a:latin typeface="楷体" panose="02010609060101010101" pitchFamily="49" charset="-122"/>
              <a:ea typeface="楷体" panose="02010609060101010101" pitchFamily="49" charset="-122"/>
              <a:sym typeface="楷体" panose="02010609060101010101" pitchFamily="49" charset="-122"/>
            </a:endParaRPr>
          </a:p>
        </p:txBody>
      </p:sp>
      <p:sp>
        <p:nvSpPr>
          <p:cNvPr id="123" name="文本占位符 2">
            <a:extLst>
              <a:ext uri="{FF2B5EF4-FFF2-40B4-BE49-F238E27FC236}">
                <a16:creationId id="{16F7F8D6-2C22-41F2-AC2C-0FD01C6870CD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9809163" y="2181225"/>
            <a:ext cx="355600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7:hiddenFill>
                <a:solidFill>
                  <a:scrgbClr r="0" g="0" b="0"/>
                </a:solidFill>
              </ns7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ED0EFF08-CCB7-4EA0-AF4A-C112EDD6FFF4}" type="datetime'''2''6''''''''''''''''''年''3''''''''''''''月'''''''''''">
              <a:rPr lang="zh-CN" altLang="en-US" sz="800" smtClean="0">
                <a:latin typeface="楷体" panose="02010609060101010101" pitchFamily="49" charset="-122"/>
                <a:ea typeface="楷体" panose="02010609060101010101" pitchFamily="49" charset="-122"/>
              </a:rPr>
              <a:pPr/>
              <a:t>33年4月</a:t>
            </a:fld>
            <a:endParaRPr lang="zh-CN" altLang="en-US" sz="800" dirty="0">
              <a:latin typeface="楷体" panose="02010609060101010101" pitchFamily="49" charset="-122"/>
              <a:ea typeface="楷体" panose="02010609060101010101" pitchFamily="49" charset="-122"/>
              <a:sym typeface="楷体" panose="02010609060101010101" pitchFamily="49" charset="-122"/>
            </a:endParaRPr>
          </a:p>
        </p:txBody>
      </p:sp>
      <p:graphicFrame>
        <p:nvGraphicFramePr>
          <p:cNvPr id="11" name="Chart 3">
            <a:extLst>
              <a:ext uri="{FF2B5EF4-FFF2-40B4-BE49-F238E27FC236}">
                <a16:creationId id="{1CA67DAA-8893-4285-53D4-479364D17EBA}"/>
              </a:ext>
            </a:extLst>
          </p:cNvPr>
          <p:cNvGraphicFramePr/>
          <p:nvPr>
            <p:custDataLst>
              <p:tags r:id="rId11"/>
            </p:custDataLst>
            <p:extLst>
              <p:ext uri="{D42A27DB-BD31-4B8C-83A1-F6EECF244321}">
                <p14:modId val="3300232744"/>
              </p:ext>
            </p:extLst>
          </p:nvPr>
        </p:nvGraphicFramePr>
        <p:xfrm>
          <a:off x="9248775" y="2627313"/>
          <a:ext cx="2262188" cy="1506537"/>
        </p:xfrm>
        <a:graphic>
          <a:graphicData uri="http://schemas.openxmlformats.org/drawingml/2006/chart">
            <c:chart r:id="rId71"/>
          </a:graphicData>
        </a:graphic>
      </p:graphicFrame>
      <p:sp>
        <p:nvSpPr>
          <p:cNvPr id="136" name="文本占位符 2">
            <a:extLst>
              <a:ext uri="{FF2B5EF4-FFF2-40B4-BE49-F238E27FC236}">
                <a16:creationId id="{B07E7D50-224C-7D63-0FC8-3C413910BF14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10118725" y="3981450"/>
            <a:ext cx="520700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7:hiddenFill>
                <a:solidFill>
                  <a:scrgbClr r="0" g="0" b="0"/>
                </a:solidFill>
              </ns7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9CA6E4DD-CA44-49FC-A7E9-362BAFDC8A10}" type="datetime'''''''''''''拨''''''''''''''''''''''''备''''''''覆''''''盖率'''">
              <a:rPr lang="zh-CN" altLang="en-US" sz="800" smtClean="0">
                <a:latin typeface="楷体" panose="02010609060101010101" pitchFamily="49" charset="-122"/>
                <a:ea typeface="楷体" panose="02010609060101010101" pitchFamily="49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拨备覆盖率</a:t>
            </a:fld>
            <a:endParaRPr lang="zh-CN" altLang="en-US" sz="800" dirty="0">
              <a:latin typeface="楷体" panose="02010609060101010101" pitchFamily="49" charset="-122"/>
              <a:ea typeface="楷体" panose="02010609060101010101" pitchFamily="49" charset="-122"/>
              <a:sym typeface="楷体" panose="02010609060101010101" pitchFamily="49" charset="-122"/>
            </a:endParaRPr>
          </a:p>
        </p:txBody>
      </p:sp>
      <p:sp>
        <p:nvSpPr>
          <p:cNvPr id="4" name="灯片编号占位符 2">
            <a:extLst>
              <a:ext uri="{FF2B5EF4-FFF2-40B4-BE49-F238E27FC236}">
                <a16:creationId id="{96E3B3D1-29B6-FCC5-7162-5FA416C92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2857" y="6413502"/>
            <a:ext cx="2743200" cy="365125"/>
          </a:xfrm>
        </p:spPr>
        <p:txBody>
          <a:bodyPr/>
          <a:lstStyle/>
          <a:p>
            <a:fld id="{71C962F8-67CB-43C0-8F4B-53AB2EE0A607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5</a:t>
            </a:fld>
            <a:endParaRPr lang="zh-CN" altLang="en-US" dirty="0">
              <a:solidFill>
                <a:prstClr val="black">
                  <a:tint val="75000"/>
                </a:prst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graphicFrame>
        <p:nvGraphicFramePr>
          <p:cNvPr id="28" name="表格 27">
            <a:extLst>
              <a:ext uri="{FF2B5EF4-FFF2-40B4-BE49-F238E27FC236}">
                <a16:creationId id="{8B950E37-C868-C605-7D48-EE0F73ABF9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324883116"/>
              </p:ext>
            </p:extLst>
          </p:nvPr>
        </p:nvGraphicFramePr>
        <p:xfrm>
          <a:off x="323850" y="2009526"/>
          <a:ext cx="4059238" cy="1771648"/>
        </p:xfrm>
        <a:graphic>
          <a:graphicData uri="http://schemas.openxmlformats.org/drawingml/2006/table">
            <a:tbl>
              <a:tblPr/>
              <a:tblGrid>
                <a:gridCol w="1746274">
                  <a:extLst>
                    <a:ext uri="{9D8B030D-6E8A-4147-A177-3AD203B41FA5}">
                      <a16:colId val="20000"/>
                    </a:ext>
                  </a:extLst>
                </a:gridCol>
                <a:gridCol w="1156482">
                  <a:extLst>
                    <a:ext uri="{9D8B030D-6E8A-4147-A177-3AD203B41FA5}">
                      <a16:colId val="20001"/>
                    </a:ext>
                  </a:extLst>
                </a:gridCol>
                <a:gridCol w="1156482">
                  <a:extLst>
                    <a:ext uri="{9D8B030D-6E8A-4147-A177-3AD203B41FA5}">
                      <a16:colId val="20002"/>
                    </a:ext>
                  </a:extLst>
                </a:gridCol>
              </a:tblGrid>
              <a:tr h="221456">
                <a:tc>
                  <a:txBody>
                    <a:bodyPr/>
                    <a:lstStyle/>
                    <a:p>
                      <a:pPr marL="0" lvl="1" algn="ctr" fontAlgn="b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项目（亿元）</a:t>
                      </a:r>
                    </a:p>
                  </a:txBody>
                  <a:tcPr marL="9525" marR="0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66</a:t>
                      </a:r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年</a:t>
                      </a:r>
                      <a:r>
                        <a:rPr lang="en-US" altLang="zh-CN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Q7</a:t>
                      </a:r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累计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比</a:t>
                      </a:r>
                      <a:r>
                        <a:rPr lang="en-US" altLang="zh-CN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88</a:t>
                      </a:r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年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val="10000"/>
                  </a:ext>
                </a:extLst>
              </a:tr>
              <a:tr h="221456">
                <a:tc>
                  <a:txBody>
                    <a:bodyPr/>
                    <a:lstStyle/>
                    <a:p>
                      <a:pPr marL="0" lvl="1" algn="l" fontAlgn="b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信贷风险成本率</a:t>
                      </a:r>
                    </a:p>
                  </a:txBody>
                  <a:tcPr marL="9525" marR="0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9.11%</a:t>
                      </a:r>
                    </a:p>
                  </a:txBody>
                  <a:tcPr marL="0" marR="1143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-0.33%</a:t>
                      </a:r>
                    </a:p>
                  </a:txBody>
                  <a:tcPr marL="0" marR="1143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val="10001"/>
                  </a:ext>
                </a:extLst>
              </a:tr>
              <a:tr h="221456">
                <a:tc>
                  <a:txBody>
                    <a:bodyPr/>
                    <a:lstStyle/>
                    <a:p>
                      <a:pPr marL="0" lvl="0" indent="-457200" algn="l" fontAlgn="b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实际损失率</a:t>
                      </a:r>
                      <a:r>
                        <a:rPr lang="en-US" altLang="zh-CN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/</a:t>
                      </a:r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还原后</a:t>
                      </a:r>
                      <a:r>
                        <a:rPr lang="zh-CN" altLang="en-US" sz="1050" b="1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注</a:t>
                      </a:r>
                      <a:endParaRPr lang="zh-CN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4.55%/6.77%</a:t>
                      </a:r>
                    </a:p>
                  </a:txBody>
                  <a:tcPr marL="0" marR="1143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-0.99%/-0.22%</a:t>
                      </a:r>
                    </a:p>
                  </a:txBody>
                  <a:tcPr marL="0" marR="1143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val="10002"/>
                  </a:ext>
                </a:extLst>
              </a:tr>
              <a:tr h="221456">
                <a:tc>
                  <a:txBody>
                    <a:bodyPr/>
                    <a:lstStyle/>
                    <a:p>
                      <a:pPr marL="0" lvl="0" indent="-457200" algn="l" fontAlgn="b"/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其中：泛微粒贷</a:t>
                      </a:r>
                    </a:p>
                  </a:txBody>
                  <a:tcPr marL="360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3.44%/5.66%</a:t>
                      </a:r>
                    </a:p>
                  </a:txBody>
                  <a:tcPr marL="0" marR="1143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-0.88%/+0.11%</a:t>
                      </a:r>
                    </a:p>
                  </a:txBody>
                  <a:tcPr marL="0" marR="1143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val="2988295793"/>
                  </a:ext>
                </a:extLst>
              </a:tr>
              <a:tr h="221456">
                <a:tc>
                  <a:txBody>
                    <a:bodyPr/>
                    <a:lstStyle/>
                    <a:p>
                      <a:pPr marL="0" lvl="0" indent="-457200" algn="l" fontAlgn="b"/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   微业贷</a:t>
                      </a:r>
                      <a:endParaRPr lang="zh-CN" altLang="en-US" sz="1050" b="0" i="0" u="none" strike="noStrike" baseline="30000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60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2.33%/4.55%</a:t>
                      </a:r>
                    </a:p>
                  </a:txBody>
                  <a:tcPr marL="0" marR="1143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-0.77%/-0.99%</a:t>
                      </a:r>
                    </a:p>
                  </a:txBody>
                  <a:tcPr marL="0" marR="1143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val="3357097394"/>
                  </a:ext>
                </a:extLst>
              </a:tr>
              <a:tr h="221456">
                <a:tc>
                  <a:txBody>
                    <a:bodyPr/>
                    <a:lstStyle/>
                    <a:p>
                      <a:pPr marL="0" lvl="0" indent="-457200" algn="l" fontAlgn="b"/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额外拨备率</a:t>
                      </a:r>
                    </a:p>
                  </a:txBody>
                  <a:tcPr marL="72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0.22%</a:t>
                      </a:r>
                    </a:p>
                  </a:txBody>
                  <a:tcPr marL="0" marR="1143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0.44%</a:t>
                      </a:r>
                    </a:p>
                  </a:txBody>
                  <a:tcPr marL="0" marR="1143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val="10003"/>
                  </a:ext>
                </a:extLst>
              </a:tr>
              <a:tr h="221456">
                <a:tc>
                  <a:txBody>
                    <a:bodyPr/>
                    <a:lstStyle/>
                    <a:p>
                      <a:pPr marL="0" lvl="0" indent="-457200" algn="l" fontAlgn="b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贷款减值准备余额</a:t>
                      </a:r>
                    </a:p>
                  </a:txBody>
                  <a:tcPr marL="72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555.6 </a:t>
                      </a:r>
                    </a:p>
                  </a:txBody>
                  <a:tcPr marL="0" marR="1143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77.8 </a:t>
                      </a:r>
                    </a:p>
                  </a:txBody>
                  <a:tcPr marL="0" marR="1143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val="10004"/>
                  </a:ext>
                </a:extLst>
              </a:tr>
              <a:tr h="221456">
                <a:tc>
                  <a:txBody>
                    <a:bodyPr/>
                    <a:lstStyle/>
                    <a:p>
                      <a:pPr marL="0" lvl="0" indent="-457200" algn="l" fontAlgn="b"/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其中：额外拨备</a:t>
                      </a:r>
                    </a:p>
                  </a:txBody>
                  <a:tcPr marL="7200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999.1 </a:t>
                      </a:r>
                    </a:p>
                  </a:txBody>
                  <a:tcPr marL="0" marR="1143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2.3 </a:t>
                      </a:r>
                    </a:p>
                  </a:txBody>
                  <a:tcPr marL="0" marR="1143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val="10005"/>
                  </a:ext>
                </a:extLst>
              </a:tr>
            </a:tbl>
          </a:graphicData>
        </a:graphic>
      </p:graphicFrame>
      <p:sp>
        <p:nvSpPr>
          <p:cNvPr id="29" name="文本框 28">
            <a:extLst>
              <a:ext uri="{FF2B5EF4-FFF2-40B4-BE49-F238E27FC236}">
                <a16:creationId id="{68DC937E-D982-D01D-9FC7-95F88D41F000}"/>
              </a:ext>
            </a:extLst>
          </p:cNvPr>
          <p:cNvSpPr txBox="1"/>
          <p:nvPr/>
        </p:nvSpPr>
        <p:spPr>
          <a:xfrm>
            <a:off x="323850" y="1517401"/>
            <a:ext cx="4059237" cy="2778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楷体" panose="02010609060101010101" pitchFamily="49" charset="-122"/>
                <a:ea typeface="楷体" panose="02010609060101010101" pitchFamily="49" charset="-122"/>
              </a:rPr>
              <a:t>风险成本率</a:t>
            </a:r>
            <a:endParaRPr lang="zh-CN" altLang="en-US" sz="1200" b="1" baseline="30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id="{EB564261-BC80-D2F9-7ABF-E223021FDF1C}"/>
              </a:ext>
            </a:extLst>
          </p:cNvPr>
          <p:cNvSpPr txBox="1"/>
          <p:nvPr/>
        </p:nvSpPr>
        <p:spPr>
          <a:xfrm>
            <a:off x="243599" y="3847333"/>
            <a:ext cx="41791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ctr"/>
            <a:r>
              <a:rPr lang="en-US" altLang="zh-CN" sz="9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[</a:t>
            </a:r>
            <a:r>
              <a:rPr lang="zh-CN" altLang="en-US" sz="9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注</a:t>
            </a:r>
            <a:r>
              <a:rPr lang="en-US" altLang="zh-CN" sz="9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]:</a:t>
            </a:r>
            <a:r>
              <a:rPr lang="zh-CN" altLang="en-US" sz="9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还原保险代偿</a:t>
            </a:r>
            <a:r>
              <a:rPr lang="en-US" altLang="zh-CN" sz="9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lang="zh-CN" altLang="en-US" sz="9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提前认定不良等影响约</a:t>
            </a:r>
            <a:r>
              <a:rPr lang="en-US" altLang="zh-CN" sz="9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4.5</a:t>
            </a:r>
            <a:r>
              <a:rPr lang="zh-CN" altLang="en-US" sz="9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亿元，其中泛微粒贷还原</a:t>
            </a:r>
            <a:r>
              <a:rPr lang="en-US" altLang="zh-CN" sz="9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6.7</a:t>
            </a:r>
            <a:r>
              <a:rPr lang="zh-CN" altLang="en-US" sz="9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亿元，微业贷还原</a:t>
            </a:r>
            <a:r>
              <a:rPr lang="en-US" altLang="zh-CN" sz="9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8.9</a:t>
            </a:r>
            <a:r>
              <a:rPr lang="zh-CN" altLang="en-US" sz="900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亿元。</a:t>
            </a:r>
            <a:endParaRPr lang="en-US" altLang="zh-CN" sz="900" dirty="0">
              <a:solidFill>
                <a:srgbClr val="0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id="{67B76089-7CCA-FE9E-E102-C1B9FF2749F1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4746625" y="1509464"/>
            <a:ext cx="2876549" cy="2769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楷体" panose="02010609060101010101" pitchFamily="49" charset="-122"/>
                <a:ea typeface="楷体" panose="02010609060101010101" pitchFamily="49" charset="-122"/>
              </a:rPr>
              <a:t>还原后实际损失</a:t>
            </a:r>
            <a:r>
              <a:rPr lang="zh-CN" altLang="en-US" sz="1200" b="1" baseline="30000" dirty="0">
                <a:latin typeface="楷体" panose="02010609060101010101" pitchFamily="49" charset="-122"/>
                <a:ea typeface="楷体" panose="02010609060101010101" pitchFamily="49" charset="-122"/>
              </a:rPr>
              <a:t>注</a:t>
            </a:r>
          </a:p>
        </p:txBody>
      </p:sp>
      <p:graphicFrame>
        <p:nvGraphicFramePr>
          <p:cNvPr id="23" name="Chart 3">
            <a:extLst>
              <a:ext uri="{FF2B5EF4-FFF2-40B4-BE49-F238E27FC236}">
                <a16:creationId id="{E03784F4-E4CC-C825-3040-E7610E0B8F0A}"/>
              </a:ext>
            </a:extLst>
          </p:cNvPr>
          <p:cNvGraphicFramePr/>
          <p:nvPr>
            <p:custDataLst>
              <p:tags r:id="rId14"/>
            </p:custDataLst>
            <p:extLst>
              <p:ext uri="{D42A27DB-BD31-4B8C-83A1-F6EECF244321}">
                <p14:modId val="3100005398"/>
              </p:ext>
            </p:extLst>
          </p:nvPr>
        </p:nvGraphicFramePr>
        <p:xfrm>
          <a:off x="4716463" y="2809875"/>
          <a:ext cx="2986087" cy="1238250"/>
        </p:xfrm>
        <a:graphic>
          <a:graphicData uri="http://schemas.openxmlformats.org/drawingml/2006/chart">
            <c:chart r:id="rId72"/>
          </a:graphicData>
        </a:graphic>
      </p:graphicFrame>
      <p:sp>
        <p:nvSpPr>
          <p:cNvPr id="18" name="文本占位符 2">
            <a:extLst>
              <a:ext uri="{FF2B5EF4-FFF2-40B4-BE49-F238E27FC236}">
                <a16:creationId id="{3D8B8FD3-F39E-92CE-F31D-2AF65256E1AE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4946650" y="3895725"/>
            <a:ext cx="266700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7:hiddenFill>
                <a:solidFill>
                  <a:scrgbClr r="0" g="0" b="0"/>
                </a:solidFill>
              </ns7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5F802046-3AD5-46B6-A845-9FF3B567D801}" type="datetime'''''''2''''5''''''''''''''''''''''''''''''''.''''''''11'''">
              <a:rPr lang="en-US" altLang="en-US" sz="800" smtClean="0">
                <a:latin typeface="KaiTi" panose="02010609060101010101" pitchFamily="49" charset="-122"/>
                <a:ea typeface="KaiTi" panose="02010609060101010101" pitchFamily="49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11.22</a:t>
            </a:fld>
            <a:endParaRPr lang="zh-CN" altLang="en-US" sz="800" dirty="0">
              <a:latin typeface="KaiTi" panose="02010609060101010101" pitchFamily="49" charset="-122"/>
              <a:ea typeface="KaiTi" panose="02010609060101010101" pitchFamily="49" charset="-122"/>
              <a:sym typeface="KaiTi" panose="02010609060101010101" pitchFamily="49" charset="-122"/>
            </a:endParaRPr>
          </a:p>
        </p:txBody>
      </p:sp>
      <p:sp>
        <p:nvSpPr>
          <p:cNvPr id="19" name="文本占位符 2">
            <a:extLst>
              <a:ext uri="{FF2B5EF4-FFF2-40B4-BE49-F238E27FC236}">
                <a16:creationId id="{2FEB62A0-4B9B-579D-8F44-124415A9FDC7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5511800" y="3895725"/>
            <a:ext cx="266700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7:hiddenFill>
                <a:solidFill>
                  <a:scrgbClr r="0" g="0" b="0"/>
                </a:solidFill>
              </ns7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8031B84B-FC06-4F41-8C0C-8F951AC5ECCA}" type="datetime'''''''''''''2''5.''''''''''''''1''''''''''''''''2'''''''''''''">
              <a:rPr lang="en-US" altLang="en-US" sz="800" smtClean="0">
                <a:latin typeface="KaiTi" panose="02010609060101010101" pitchFamily="49" charset="-122"/>
                <a:ea typeface="KaiTi" panose="02010609060101010101" pitchFamily="49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33.44</a:t>
            </a:fld>
            <a:endParaRPr lang="zh-CN" altLang="en-US" sz="800" dirty="0">
              <a:latin typeface="KaiTi" panose="02010609060101010101" pitchFamily="49" charset="-122"/>
              <a:ea typeface="KaiTi" panose="02010609060101010101" pitchFamily="49" charset="-122"/>
              <a:sym typeface="KaiTi" panose="02010609060101010101" pitchFamily="49" charset="-122"/>
            </a:endParaRPr>
          </a:p>
        </p:txBody>
      </p:sp>
      <p:sp>
        <p:nvSpPr>
          <p:cNvPr id="20" name="文本占位符 2">
            <a:extLst>
              <a:ext uri="{FF2B5EF4-FFF2-40B4-BE49-F238E27FC236}">
                <a16:creationId id="{35985D7E-A50F-00AA-AA4A-BB865BF1F3AC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6100763" y="3895725"/>
            <a:ext cx="215900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7:hiddenFill>
                <a:solidFill>
                  <a:scrgbClr r="0" g="0" b="0"/>
                </a:solidFill>
              </ns7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ABAAFABD-A7E6-4C3D-A51B-604B2F0B2937}" type="datetime'''''''''''''''''''''''''''''''2''''''''''''''6''''''''.''''1'">
              <a:rPr lang="en-US" altLang="en-US" sz="800" smtClean="0">
                <a:latin typeface="KaiTi" panose="02010609060101010101" pitchFamily="49" charset="-122"/>
                <a:ea typeface="KaiTi" panose="02010609060101010101" pitchFamily="49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55.6</a:t>
            </a:fld>
            <a:endParaRPr lang="zh-CN" altLang="en-US" sz="800" dirty="0">
              <a:latin typeface="KaiTi" panose="02010609060101010101" pitchFamily="49" charset="-122"/>
              <a:ea typeface="KaiTi" panose="02010609060101010101" pitchFamily="49" charset="-122"/>
              <a:sym typeface="KaiTi" panose="02010609060101010101" pitchFamily="49" charset="-122"/>
            </a:endParaRPr>
          </a:p>
        </p:txBody>
      </p:sp>
      <p:sp>
        <p:nvSpPr>
          <p:cNvPr id="21" name="文本占位符 2">
            <a:extLst>
              <a:ext uri="{FF2B5EF4-FFF2-40B4-BE49-F238E27FC236}">
                <a16:creationId id="{D7A7469A-9E2F-ED29-DA42-80852D866358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auto">
          <a:xfrm>
            <a:off x="6665913" y="3895725"/>
            <a:ext cx="215900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7:hiddenFill>
                <a:solidFill>
                  <a:scrgbClr r="0" g="0" b="0"/>
                </a:solidFill>
              </ns7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E6C20C75-4CCB-434B-8FAC-1DB1A0555445}" type="datetime'''''''''2''6''''''''''''.''''''''2'">
              <a:rPr lang="zh-CN" altLang="en-US" sz="800" smtClean="0">
                <a:latin typeface="KaiTi" panose="02010609060101010101" pitchFamily="49" charset="-122"/>
                <a:ea typeface="KaiTi" panose="02010609060101010101" pitchFamily="49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77.8</a:t>
            </a:fld>
            <a:endParaRPr lang="zh-CN" altLang="en-US" sz="800" dirty="0">
              <a:latin typeface="KaiTi" panose="02010609060101010101" pitchFamily="49" charset="-122"/>
              <a:ea typeface="KaiTi" panose="02010609060101010101" pitchFamily="49" charset="-122"/>
              <a:sym typeface="KaiTi" panose="02010609060101010101" pitchFamily="49" charset="-122"/>
            </a:endParaRPr>
          </a:p>
        </p:txBody>
      </p:sp>
      <p:sp>
        <p:nvSpPr>
          <p:cNvPr id="22" name="文本占位符 2">
            <a:extLst>
              <a:ext uri="{FF2B5EF4-FFF2-40B4-BE49-F238E27FC236}">
                <a16:creationId id="{F9512F93-8A20-08E5-D2DB-2BBC461CD571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auto">
          <a:xfrm>
            <a:off x="7218363" y="3895725"/>
            <a:ext cx="238125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7:hiddenFill>
                <a:solidFill>
                  <a:scrgbClr r="0" g="0" b="0"/>
                </a:solidFill>
              </ns7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3527E058-EF90-4F0F-A69C-FF2F3E80074C}" type="datetime'''''2''6.''''''''''''3'''''''''''''''' '''''''''''">
              <a:rPr lang="zh-CN" altLang="en-US" sz="800" smtClean="0">
                <a:latin typeface="KaiTi" panose="02010609060101010101" pitchFamily="49" charset="-122"/>
                <a:ea typeface="KaiTi" panose="02010609060101010101" pitchFamily="49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99.1 </a:t>
            </a:fld>
            <a:endParaRPr lang="zh-CN" altLang="en-US" sz="800" dirty="0">
              <a:latin typeface="KaiTi" panose="02010609060101010101" pitchFamily="49" charset="-122"/>
              <a:ea typeface="KaiTi" panose="02010609060101010101" pitchFamily="49" charset="-122"/>
              <a:sym typeface="KaiTi" panose="02010609060101010101" pitchFamily="49" charset="-122"/>
            </a:endParaRPr>
          </a:p>
        </p:txBody>
      </p:sp>
      <p:graphicFrame>
        <p:nvGraphicFramePr>
          <p:cNvPr id="16" name="Chart 3">
            <a:extLst>
              <a:ext uri="{FF2B5EF4-FFF2-40B4-BE49-F238E27FC236}">
                <a16:creationId id="{C4FA8A5C-2A63-0E9D-7296-9EBA46782FC0}"/>
              </a:ext>
            </a:extLst>
          </p:cNvPr>
          <p:cNvGraphicFramePr/>
          <p:nvPr>
            <p:custDataLst>
              <p:tags r:id="rId20"/>
            </p:custDataLst>
            <p:extLst>
              <p:ext uri="{D42A27DB-BD31-4B8C-83A1-F6EECF244321}">
                <p14:modId val="3538885145"/>
              </p:ext>
            </p:extLst>
          </p:nvPr>
        </p:nvGraphicFramePr>
        <p:xfrm>
          <a:off x="4859338" y="2190750"/>
          <a:ext cx="2632075" cy="688975"/>
        </p:xfrm>
        <a:graphic>
          <a:graphicData uri="http://schemas.openxmlformats.org/drawingml/2006/chart">
            <c:chart r:id="rId73"/>
          </a:graphicData>
        </a:graphic>
      </p:graphicFrame>
      <p:sp>
        <p:nvSpPr>
          <p:cNvPr id="35" name="文本框 34">
            <a:extLst>
              <a:ext uri="{FF2B5EF4-FFF2-40B4-BE49-F238E27FC236}">
                <a16:creationId id="{4ADBBDAB-6DDC-8827-6AF7-1BDC3A414324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4746624" y="4443663"/>
            <a:ext cx="2876549" cy="2762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楷体" panose="02010609060101010101" pitchFamily="49" charset="-122"/>
                <a:ea typeface="楷体" panose="02010609060101010101" pitchFamily="49" charset="-122"/>
              </a:rPr>
              <a:t>不良率情况</a:t>
            </a:r>
            <a:endParaRPr lang="zh-CN" altLang="en-US" sz="1200" b="1" baseline="30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10" name="Chart 3">
            <a:extLst>
              <a:ext uri="{FF2B5EF4-FFF2-40B4-BE49-F238E27FC236}">
                <a16:creationId id="{B84CD6F0-BD2B-C5F1-1B9E-E3096E6293E7}"/>
              </a:ext>
            </a:extLst>
          </p:cNvPr>
          <p:cNvGraphicFramePr/>
          <p:nvPr>
            <p:custDataLst>
              <p:tags r:id="rId22"/>
            </p:custDataLst>
            <p:extLst>
              <p:ext uri="{D42A27DB-BD31-4B8C-83A1-F6EECF244321}">
                <p14:modId val="4210279261"/>
              </p:ext>
            </p:extLst>
          </p:nvPr>
        </p:nvGraphicFramePr>
        <p:xfrm>
          <a:off x="4716463" y="4800600"/>
          <a:ext cx="2986087" cy="1587500"/>
        </p:xfrm>
        <a:graphic>
          <a:graphicData uri="http://schemas.openxmlformats.org/drawingml/2006/chart">
            <c:chart r:id="rId74"/>
          </a:graphicData>
        </a:graphic>
      </p:graphicFrame>
      <p:sp>
        <p:nvSpPr>
          <p:cNvPr id="46" name="文本占位符 2">
            <a:extLst>
              <a:ext uri="{FF2B5EF4-FFF2-40B4-BE49-F238E27FC236}">
                <a16:creationId id="{D7479E56-8919-82C1-D7D7-1C19BD815FB6}"/>
              </a:ext>
            </a:extLst>
          </p:cNvPr>
          <p:cNvSpPr>
            <a:spLocks/>
          </p:cNvSpPr>
          <p:nvPr>
            <p:custDataLst>
              <p:tags r:id="rId23"/>
            </p:custDataLst>
          </p:nvPr>
        </p:nvSpPr>
        <p:spPr bwMode="gray">
          <a:xfrm>
            <a:off x="4824413" y="5334000"/>
            <a:ext cx="282575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7:hiddenFill>
                <a:solidFill>
                  <a:schemeClr val="bg1"/>
                </a:solidFill>
              </ns7:hiddenFill>
            </a:ext>
          </a:extLst>
        </p:spPr>
        <p:txBody>
          <a:bodyPr vert="horz" wrap="none" lIns="14288" tIns="0" rIns="14288" bIns="0" numCol="1" spcCol="0" rtlCol="0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6C5E05C4-3DA3-48B4-8F4B-1781FD133036}" type="datetime'1''''''''''''''''''.''''''''''''92%'''''">
              <a:rPr lang="en-US" altLang="en-US" sz="800" smtClean="0">
                <a:latin typeface="楷体" panose="02010609060101010101" pitchFamily="49" charset="-122"/>
                <a:ea typeface="楷体" panose="02010609060101010101" pitchFamily="49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2.33%</a:t>
            </a:fld>
            <a:endParaRPr lang="zh-CN" altLang="en-US" sz="800" dirty="0">
              <a:latin typeface="楷体" panose="02010609060101010101" pitchFamily="49" charset="-122"/>
              <a:ea typeface="楷体" panose="02010609060101010101" pitchFamily="49" charset="-122"/>
              <a:sym typeface="楷体" panose="02010609060101010101" pitchFamily="49" charset="-122"/>
            </a:endParaRPr>
          </a:p>
        </p:txBody>
      </p:sp>
      <p:sp>
        <p:nvSpPr>
          <p:cNvPr id="47" name="文本占位符 2">
            <a:extLst>
              <a:ext uri="{FF2B5EF4-FFF2-40B4-BE49-F238E27FC236}">
                <a16:creationId id="{88266987-2354-8642-1C83-CC197FD363E7}"/>
              </a:ext>
            </a:extLst>
          </p:cNvPr>
          <p:cNvSpPr>
            <a:spLocks/>
          </p:cNvSpPr>
          <p:nvPr>
            <p:custDataLst>
              <p:tags r:id="rId24"/>
            </p:custDataLst>
          </p:nvPr>
        </p:nvSpPr>
        <p:spPr bwMode="gray">
          <a:xfrm>
            <a:off x="4824413" y="5678488"/>
            <a:ext cx="282575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7:hiddenFill>
                <a:solidFill>
                  <a:schemeClr val="bg1"/>
                </a:solidFill>
              </ns7:hiddenFill>
            </a:ext>
          </a:extLst>
        </p:spPr>
        <p:txBody>
          <a:bodyPr vert="horz" wrap="none" lIns="14288" tIns="0" rIns="14288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8577B2B9-812C-42B8-8BF4-FA8079829964}" type="datetime'''''''''1.''''7''''''''''''''4''''''''''%'''''">
              <a:rPr lang="en-US" altLang="en-US" sz="80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4.55%</a:t>
            </a:fld>
            <a:endParaRPr lang="zh-CN" altLang="en-US" sz="8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  <a:sym typeface="楷体" panose="02010609060101010101" pitchFamily="49" charset="-122"/>
            </a:endParaRPr>
          </a:p>
        </p:txBody>
      </p:sp>
      <p:sp>
        <p:nvSpPr>
          <p:cNvPr id="48" name="文本占位符 2">
            <a:extLst>
              <a:ext uri="{FF2B5EF4-FFF2-40B4-BE49-F238E27FC236}">
                <a16:creationId id="{A6AE3102-8026-B028-E5B8-55F4936AFAF4}"/>
              </a:ext>
            </a:extLst>
          </p:cNvPr>
          <p:cNvSpPr>
            <a:spLocks/>
          </p:cNvSpPr>
          <p:nvPr>
            <p:custDataLst>
              <p:tags r:id="rId25"/>
            </p:custDataLst>
          </p:nvPr>
        </p:nvSpPr>
        <p:spPr bwMode="auto">
          <a:xfrm>
            <a:off x="4665663" y="6338888"/>
            <a:ext cx="266700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7:hiddenFill>
                <a:solidFill>
                  <a:scrgbClr r="0" g="0" b="0"/>
                </a:solidFill>
              </ns7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6F2DB03B-21A2-43D8-B7B9-489362E26F06}" type="datetime'''''''''''''''''''''''''''25''.''1''''''1'''''''''''''''''''''">
              <a:rPr lang="zh-CN" altLang="en-US" sz="800" smtClean="0">
                <a:latin typeface="楷体" panose="02010609060101010101" pitchFamily="49" charset="-122"/>
                <a:ea typeface="楷体" panose="02010609060101010101" pitchFamily="49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66.77</a:t>
            </a:fld>
            <a:endParaRPr lang="zh-CN" altLang="en-US" sz="800" dirty="0">
              <a:latin typeface="楷体" panose="02010609060101010101" pitchFamily="49" charset="-122"/>
              <a:ea typeface="楷体" panose="02010609060101010101" pitchFamily="49" charset="-122"/>
              <a:sym typeface="楷体" panose="02010609060101010101" pitchFamily="49" charset="-122"/>
            </a:endParaRPr>
          </a:p>
        </p:txBody>
      </p:sp>
      <p:sp>
        <p:nvSpPr>
          <p:cNvPr id="49" name="文本占位符 2">
            <a:extLst>
              <a:ext uri="{FF2B5EF4-FFF2-40B4-BE49-F238E27FC236}">
                <a16:creationId id="{5F5A15D7-B2AE-90D5-89E6-4E4DFDE17734}"/>
              </a:ext>
            </a:extLst>
          </p:cNvPr>
          <p:cNvSpPr>
            <a:spLocks/>
          </p:cNvSpPr>
          <p:nvPr>
            <p:custDataLst>
              <p:tags r:id="rId26"/>
            </p:custDataLst>
          </p:nvPr>
        </p:nvSpPr>
        <p:spPr bwMode="gray">
          <a:xfrm>
            <a:off x="5362575" y="5407025"/>
            <a:ext cx="282575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7:hiddenFill>
                <a:solidFill>
                  <a:schemeClr val="bg1"/>
                </a:solidFill>
              </ns7:hiddenFill>
            </a:ext>
          </a:extLst>
        </p:spPr>
        <p:txBody>
          <a:bodyPr vert="horz" wrap="none" lIns="14288" tIns="0" rIns="14288" bIns="0" numCol="1" spcCol="0" rtlCol="0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27108F80-C7F6-4BDD-B095-C4D3E47A59FA}" type="datetime'''''1''''''''''''''''''''''''.''''7''''''''4''''''''%'''''''">
              <a:rPr lang="en-US" altLang="en-US" sz="800" smtClean="0">
                <a:latin typeface="楷体" panose="02010609060101010101" pitchFamily="49" charset="-122"/>
                <a:ea typeface="楷体" panose="02010609060101010101" pitchFamily="49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8.99%</a:t>
            </a:fld>
            <a:endParaRPr lang="zh-CN" altLang="en-US" sz="800" dirty="0">
              <a:latin typeface="楷体" panose="02010609060101010101" pitchFamily="49" charset="-122"/>
              <a:ea typeface="楷体" panose="02010609060101010101" pitchFamily="49" charset="-122"/>
              <a:sym typeface="楷体" panose="02010609060101010101" pitchFamily="49" charset="-122"/>
            </a:endParaRPr>
          </a:p>
        </p:txBody>
      </p:sp>
      <p:sp>
        <p:nvSpPr>
          <p:cNvPr id="50" name="文本占位符 2">
            <a:extLst>
              <a:ext uri="{FF2B5EF4-FFF2-40B4-BE49-F238E27FC236}">
                <a16:creationId id="{F22BB522-5C7D-EFD2-246A-0D9D16CE5AEC}"/>
              </a:ext>
            </a:extLst>
          </p:cNvPr>
          <p:cNvSpPr>
            <a:spLocks/>
          </p:cNvSpPr>
          <p:nvPr>
            <p:custDataLst>
              <p:tags r:id="rId27"/>
            </p:custDataLst>
          </p:nvPr>
        </p:nvSpPr>
        <p:spPr bwMode="gray">
          <a:xfrm>
            <a:off x="5362575" y="5813425"/>
            <a:ext cx="282575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7:hiddenFill>
                <a:solidFill>
                  <a:schemeClr val="bg1"/>
                </a:solidFill>
              </ns7:hiddenFill>
            </a:ext>
          </a:extLst>
        </p:spPr>
        <p:txBody>
          <a:bodyPr vert="horz" wrap="none" lIns="14288" tIns="0" rIns="14288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DD8BD668-7702-4DD0-9EE8-B92D9305E7A5}" type="datetime'1.4''1''''''''''''''''''''''''''%'''''">
              <a:rPr lang="en-US" altLang="en-US" sz="80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1.22%</a:t>
            </a:fld>
            <a:endParaRPr lang="zh-CN" altLang="en-US" sz="8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  <a:sym typeface="楷体" panose="02010609060101010101" pitchFamily="49" charset="-122"/>
            </a:endParaRPr>
          </a:p>
        </p:txBody>
      </p:sp>
      <p:sp>
        <p:nvSpPr>
          <p:cNvPr id="51" name="文本占位符 2">
            <a:extLst>
              <a:ext uri="{FF2B5EF4-FFF2-40B4-BE49-F238E27FC236}">
                <a16:creationId id="{8029AEA3-62BA-BD1B-01D4-51369E66B4A2}"/>
              </a:ext>
            </a:extLst>
          </p:cNvPr>
          <p:cNvSpPr>
            <a:spLocks/>
          </p:cNvSpPr>
          <p:nvPr>
            <p:custDataLst>
              <p:tags r:id="rId28"/>
            </p:custDataLst>
          </p:nvPr>
        </p:nvSpPr>
        <p:spPr bwMode="auto">
          <a:xfrm>
            <a:off x="5370513" y="6338888"/>
            <a:ext cx="266700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7:hiddenFill>
                <a:solidFill>
                  <a:scrgbClr r="0" g="0" b="0"/>
                </a:solidFill>
              </ns7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440BA28E-D7AE-4F84-A9B9-959557759AC6}" type="datetime'''''''''''''''''''''2''''''''''''''''''''''5''''.''1''''2'''''">
              <a:rPr lang="zh-CN" altLang="en-US" sz="800" smtClean="0">
                <a:latin typeface="楷体" panose="02010609060101010101" pitchFamily="49" charset="-122"/>
                <a:ea typeface="楷体" panose="02010609060101010101" pitchFamily="49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33.44</a:t>
            </a:fld>
            <a:endParaRPr lang="zh-CN" altLang="en-US" sz="800" dirty="0">
              <a:latin typeface="楷体" panose="02010609060101010101" pitchFamily="49" charset="-122"/>
              <a:ea typeface="楷体" panose="02010609060101010101" pitchFamily="49" charset="-122"/>
              <a:sym typeface="楷体" panose="02010609060101010101" pitchFamily="49" charset="-122"/>
            </a:endParaRPr>
          </a:p>
        </p:txBody>
      </p:sp>
      <p:sp>
        <p:nvSpPr>
          <p:cNvPr id="52" name="文本占位符 2">
            <a:extLst>
              <a:ext uri="{FF2B5EF4-FFF2-40B4-BE49-F238E27FC236}">
                <a16:creationId id="{9AB2E198-F500-BE1C-B06F-1D295EEBAD6C}"/>
              </a:ext>
            </a:extLst>
          </p:cNvPr>
          <p:cNvSpPr>
            <a:spLocks/>
          </p:cNvSpPr>
          <p:nvPr>
            <p:custDataLst>
              <p:tags r:id="rId29"/>
            </p:custDataLst>
          </p:nvPr>
        </p:nvSpPr>
        <p:spPr bwMode="gray">
          <a:xfrm>
            <a:off x="6069013" y="5373688"/>
            <a:ext cx="282575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7:hiddenFill>
                <a:solidFill>
                  <a:schemeClr val="bg1"/>
                </a:solidFill>
              </ns7:hiddenFill>
            </a:ext>
          </a:extLst>
        </p:spPr>
        <p:txBody>
          <a:bodyPr vert="horz" wrap="none" lIns="14288" tIns="0" rIns="14288" bIns="0" numCol="1" spcCol="0" rtlCol="0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17FBA76E-9A85-4F30-BB7C-3A3D8CD9BFF8}" type="datetime'''''''''''1''''''''''.''''''''''''''''''''''''''''''''83%'''''">
              <a:rPr lang="en-US" altLang="en-US" sz="800" smtClean="0">
                <a:latin typeface="楷体" panose="02010609060101010101" pitchFamily="49" charset="-122"/>
                <a:ea typeface="楷体" panose="02010609060101010101" pitchFamily="49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5.66%</a:t>
            </a:fld>
            <a:endParaRPr lang="zh-CN" altLang="en-US" sz="800" dirty="0">
              <a:latin typeface="楷体" panose="02010609060101010101" pitchFamily="49" charset="-122"/>
              <a:ea typeface="楷体" panose="02010609060101010101" pitchFamily="49" charset="-122"/>
              <a:sym typeface="楷体" panose="02010609060101010101" pitchFamily="49" charset="-122"/>
            </a:endParaRPr>
          </a:p>
        </p:txBody>
      </p:sp>
      <p:sp>
        <p:nvSpPr>
          <p:cNvPr id="53" name="文本占位符 2">
            <a:extLst>
              <a:ext uri="{FF2B5EF4-FFF2-40B4-BE49-F238E27FC236}">
                <a16:creationId id="{88D547A6-CDB6-6F55-1E63-D71F5F251A7B}"/>
              </a:ext>
            </a:extLst>
          </p:cNvPr>
          <p:cNvSpPr>
            <a:spLocks/>
          </p:cNvSpPr>
          <p:nvPr>
            <p:custDataLst>
              <p:tags r:id="rId30"/>
            </p:custDataLst>
          </p:nvPr>
        </p:nvSpPr>
        <p:spPr bwMode="gray">
          <a:xfrm>
            <a:off x="6069013" y="5767388"/>
            <a:ext cx="282575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7:hiddenFill>
                <a:solidFill>
                  <a:schemeClr val="accent1"/>
                </a:solidFill>
              </ns7:hiddenFill>
            </a:ext>
          </a:extLst>
        </p:spPr>
        <p:txBody>
          <a:bodyPr vert="horz" wrap="none" lIns="14288" tIns="0" rIns="14288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B41973D1-A840-4A2F-9F60-2E11FA311DE3}" type="datetime'''''1''''''''''''''''.''''''''52''''''''''''%'''''">
              <a:rPr lang="en-US" altLang="en-US" sz="80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7.88%</a:t>
            </a:fld>
            <a:endParaRPr lang="zh-CN" altLang="en-US" sz="8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  <a:sym typeface="楷体" panose="02010609060101010101" pitchFamily="49" charset="-122"/>
            </a:endParaRPr>
          </a:p>
        </p:txBody>
      </p:sp>
      <p:sp>
        <p:nvSpPr>
          <p:cNvPr id="54" name="文本占位符 2">
            <a:extLst>
              <a:ext uri="{FF2B5EF4-FFF2-40B4-BE49-F238E27FC236}">
                <a16:creationId id="{EBFA60DF-3D8C-F2DE-829B-8972F0917E2F}"/>
              </a:ext>
            </a:extLst>
          </p:cNvPr>
          <p:cNvSpPr>
            <a:spLocks/>
          </p:cNvSpPr>
          <p:nvPr>
            <p:custDataLst>
              <p:tags r:id="rId31"/>
            </p:custDataLst>
          </p:nvPr>
        </p:nvSpPr>
        <p:spPr bwMode="auto">
          <a:xfrm>
            <a:off x="6102350" y="6338888"/>
            <a:ext cx="215900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7:hiddenFill>
                <a:solidFill>
                  <a:scrgbClr r="0" g="0" b="0"/>
                </a:solidFill>
              </ns7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6FACB709-EAF4-41C4-9BBE-626B1A51E7AF}" type="datetime'''''''''''''''''''''''''''''''''''2''''''6''.''''1'''''''''''">
              <a:rPr lang="zh-CN" altLang="en-US" sz="800" smtClean="0">
                <a:latin typeface="楷体" panose="02010609060101010101" pitchFamily="49" charset="-122"/>
                <a:ea typeface="楷体" panose="02010609060101010101" pitchFamily="49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99.1</a:t>
            </a:fld>
            <a:endParaRPr lang="zh-CN" altLang="en-US" sz="800" dirty="0">
              <a:latin typeface="楷体" panose="02010609060101010101" pitchFamily="49" charset="-122"/>
              <a:ea typeface="楷体" panose="02010609060101010101" pitchFamily="49" charset="-122"/>
              <a:sym typeface="楷体" panose="02010609060101010101" pitchFamily="49" charset="-122"/>
            </a:endParaRPr>
          </a:p>
        </p:txBody>
      </p:sp>
      <p:sp>
        <p:nvSpPr>
          <p:cNvPr id="55" name="文本占位符 2">
            <a:extLst>
              <a:ext uri="{FF2B5EF4-FFF2-40B4-BE49-F238E27FC236}">
                <a16:creationId id="{8957AD54-A809-2E78-DDB3-B20194120AFC}"/>
              </a:ext>
            </a:extLst>
          </p:cNvPr>
          <p:cNvSpPr>
            <a:spLocks/>
          </p:cNvSpPr>
          <p:nvPr>
            <p:custDataLst>
              <p:tags r:id="rId32"/>
            </p:custDataLst>
          </p:nvPr>
        </p:nvSpPr>
        <p:spPr bwMode="gray">
          <a:xfrm>
            <a:off x="6773863" y="5326063"/>
            <a:ext cx="282575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7:hiddenFill>
                <a:solidFill>
                  <a:schemeClr val="bg1"/>
                </a:solidFill>
              </ns7:hiddenFill>
            </a:ext>
          </a:extLst>
        </p:spPr>
        <p:txBody>
          <a:bodyPr vert="horz" wrap="none" lIns="14288" tIns="0" rIns="14288" bIns="0" numCol="1" spcCol="0" rtlCol="0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A67962AA-A0BE-48A8-9784-B07CB2CC6295}" type="datetime'''''''''''''''1''''.''''''''''''''''''''94''%'''">
              <a:rPr lang="en-US" altLang="en-US" sz="800" smtClean="0">
                <a:latin typeface="楷体" panose="02010609060101010101" pitchFamily="49" charset="-122"/>
                <a:ea typeface="楷体" panose="02010609060101010101" pitchFamily="49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2.33%</a:t>
            </a:fld>
            <a:endParaRPr lang="zh-CN" altLang="en-US" sz="800" dirty="0">
              <a:latin typeface="楷体" panose="02010609060101010101" pitchFamily="49" charset="-122"/>
              <a:ea typeface="楷体" panose="02010609060101010101" pitchFamily="49" charset="-122"/>
              <a:sym typeface="楷体" panose="02010609060101010101" pitchFamily="49" charset="-122"/>
            </a:endParaRPr>
          </a:p>
        </p:txBody>
      </p:sp>
      <p:sp>
        <p:nvSpPr>
          <p:cNvPr id="56" name="文本占位符 2">
            <a:extLst>
              <a:ext uri="{FF2B5EF4-FFF2-40B4-BE49-F238E27FC236}">
                <a16:creationId id="{F2FA5E70-01CC-AD3C-BB0D-7FDEDF7EE166}"/>
              </a:ext>
            </a:extLst>
          </p:cNvPr>
          <p:cNvSpPr>
            <a:spLocks/>
          </p:cNvSpPr>
          <p:nvPr>
            <p:custDataLst>
              <p:tags r:id="rId33"/>
            </p:custDataLst>
          </p:nvPr>
        </p:nvSpPr>
        <p:spPr bwMode="gray">
          <a:xfrm>
            <a:off x="6773863" y="5713413"/>
            <a:ext cx="282575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7:hiddenFill>
                <a:solidFill>
                  <a:schemeClr val="bg1"/>
                </a:solidFill>
              </ns7:hiddenFill>
            </a:ext>
          </a:extLst>
        </p:spPr>
        <p:txBody>
          <a:bodyPr vert="horz" wrap="none" lIns="14288" tIns="0" rIns="14288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08A0013E-8B6F-4E1C-84C8-E238EC4254EE}" type="datetime'''''''''''''''1.6''''''''''''''''''5''''''''''''%'''">
              <a:rPr lang="en-US" altLang="en-US" sz="80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4.55%</a:t>
            </a:fld>
            <a:endParaRPr lang="zh-CN" altLang="en-US" sz="8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  <a:sym typeface="楷体" panose="02010609060101010101" pitchFamily="49" charset="-122"/>
            </a:endParaRPr>
          </a:p>
        </p:txBody>
      </p:sp>
      <p:sp>
        <p:nvSpPr>
          <p:cNvPr id="73" name="文本占位符 2">
            <a:extLst>
              <a:ext uri="{FF2B5EF4-FFF2-40B4-BE49-F238E27FC236}">
                <a16:creationId id="{7D44DBFC-60F7-E43C-5630-FA19E2820513}"/>
              </a:ext>
            </a:extLst>
          </p:cNvPr>
          <p:cNvSpPr>
            <a:spLocks/>
          </p:cNvSpPr>
          <p:nvPr>
            <p:custDataLst>
              <p:tags r:id="rId34"/>
            </p:custDataLst>
          </p:nvPr>
        </p:nvSpPr>
        <p:spPr bwMode="auto">
          <a:xfrm>
            <a:off x="6807200" y="6338888"/>
            <a:ext cx="215900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7:hiddenFill>
                <a:solidFill>
                  <a:scrgbClr r="0" g="0" b="0"/>
                </a:solidFill>
              </ns7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C20E3897-0976-4B3E-AED8-1B1481C11781}" type="datetime'2''''''''''''''''''''''''''''6''''''''.''''2'''''''''''">
              <a:rPr lang="zh-CN" altLang="en-US" sz="800" smtClean="0">
                <a:latin typeface="楷体" panose="02010609060101010101" pitchFamily="49" charset="-122"/>
                <a:ea typeface="楷体" panose="02010609060101010101" pitchFamily="49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66.7</a:t>
            </a:fld>
            <a:endParaRPr lang="zh-CN" altLang="en-US" sz="800" dirty="0">
              <a:latin typeface="楷体" panose="02010609060101010101" pitchFamily="49" charset="-122"/>
              <a:ea typeface="楷体" panose="02010609060101010101" pitchFamily="49" charset="-122"/>
              <a:sym typeface="楷体" panose="02010609060101010101" pitchFamily="49" charset="-122"/>
            </a:endParaRPr>
          </a:p>
        </p:txBody>
      </p:sp>
      <p:sp>
        <p:nvSpPr>
          <p:cNvPr id="58" name="文本占位符 2">
            <a:extLst>
              <a:ext uri="{FF2B5EF4-FFF2-40B4-BE49-F238E27FC236}">
                <a16:creationId id="{7B20F016-58B2-E2A7-1780-371796F893B2}"/>
              </a:ext>
            </a:extLst>
          </p:cNvPr>
          <p:cNvSpPr>
            <a:spLocks/>
          </p:cNvSpPr>
          <p:nvPr>
            <p:custDataLst>
              <p:tags r:id="rId35"/>
            </p:custDataLst>
          </p:nvPr>
        </p:nvSpPr>
        <p:spPr bwMode="gray">
          <a:xfrm>
            <a:off x="7412038" y="5334000"/>
            <a:ext cx="282575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7:hiddenFill>
                <a:solidFill>
                  <a:schemeClr val="bg1"/>
                </a:solidFill>
              </ns7:hiddenFill>
            </a:ext>
          </a:extLst>
        </p:spPr>
        <p:txBody>
          <a:bodyPr vert="horz" wrap="none" lIns="14288" tIns="0" rIns="14288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C200646C-E7E7-438C-8AAA-643E8DFAA3B5}" type="datetime'''''''''''''''''''''''''''''1''''.''''''''9''1%'''''''''''''">
              <a:rPr lang="en-US" altLang="en-US" sz="800" smtClean="0">
                <a:latin typeface="楷体" panose="02010609060101010101" pitchFamily="49" charset="-122"/>
                <a:ea typeface="楷体" panose="02010609060101010101" pitchFamily="49" charset="-122"/>
              </a:rPr>
              <a:pPr/>
              <a:t>8.99%</a:t>
            </a:fld>
            <a:endParaRPr lang="zh-CN" altLang="en-US" sz="800" dirty="0">
              <a:latin typeface="楷体" panose="02010609060101010101" pitchFamily="49" charset="-122"/>
              <a:ea typeface="楷体" panose="02010609060101010101" pitchFamily="49" charset="-122"/>
              <a:sym typeface="楷体" panose="02010609060101010101" pitchFamily="49" charset="-122"/>
            </a:endParaRPr>
          </a:p>
        </p:txBody>
      </p:sp>
      <p:sp>
        <p:nvSpPr>
          <p:cNvPr id="59" name="文本占位符 2">
            <a:extLst>
              <a:ext uri="{FF2B5EF4-FFF2-40B4-BE49-F238E27FC236}">
                <a16:creationId id="{093835C3-5F76-83DA-A508-23C8BD54A2C3}"/>
              </a:ext>
            </a:extLst>
          </p:cNvPr>
          <p:cNvSpPr>
            <a:spLocks/>
          </p:cNvSpPr>
          <p:nvPr>
            <p:custDataLst>
              <p:tags r:id="rId36"/>
            </p:custDataLst>
          </p:nvPr>
        </p:nvSpPr>
        <p:spPr bwMode="gray">
          <a:xfrm>
            <a:off x="7459663" y="5734050"/>
            <a:ext cx="282575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7:hiddenFill>
                <a:solidFill>
                  <a:schemeClr val="bg1"/>
                </a:solidFill>
              </ns7:hiddenFill>
            </a:ext>
          </a:extLst>
        </p:spPr>
        <p:txBody>
          <a:bodyPr vert="horz" wrap="none" lIns="14288" tIns="0" rIns="14288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ED50C5A6-DA1D-4BC7-82E4-A53AC889F0DB}" type="datetime'''''''''''''''''1''.''''''''''6''''''''''''''''''''''3%'''">
              <a:rPr lang="en-US" altLang="en-US" sz="80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pPr/>
              <a:t>1.22%</a:t>
            </a:fld>
            <a:endParaRPr lang="zh-CN" altLang="en-US" sz="8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  <a:sym typeface="楷体" panose="02010609060101010101" pitchFamily="49" charset="-122"/>
            </a:endParaRPr>
          </a:p>
        </p:txBody>
      </p:sp>
      <p:sp>
        <p:nvSpPr>
          <p:cNvPr id="60" name="文本占位符 2">
            <a:extLst>
              <a:ext uri="{FF2B5EF4-FFF2-40B4-BE49-F238E27FC236}">
                <a16:creationId id="{326BFD25-CDFF-1484-6415-2A050A46D221}"/>
              </a:ext>
            </a:extLst>
          </p:cNvPr>
          <p:cNvSpPr>
            <a:spLocks/>
          </p:cNvSpPr>
          <p:nvPr>
            <p:custDataLst>
              <p:tags r:id="rId37"/>
            </p:custDataLst>
          </p:nvPr>
        </p:nvSpPr>
        <p:spPr bwMode="auto">
          <a:xfrm>
            <a:off x="7512050" y="6338888"/>
            <a:ext cx="215900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7:hiddenFill>
                <a:solidFill>
                  <a:scrgbClr r="0" g="0" b="0"/>
                </a:solidFill>
              </ns7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408A0F44-5024-4DF3-9CB4-5C47F464623A}" type="datetime'''''''''''''2''6''''.''''3'''''''''''''''''">
              <a:rPr lang="zh-CN" altLang="en-US" sz="800" smtClean="0">
                <a:latin typeface="楷体" panose="02010609060101010101" pitchFamily="49" charset="-122"/>
                <a:ea typeface="楷体" panose="02010609060101010101" pitchFamily="49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33.4</a:t>
            </a:fld>
            <a:endParaRPr lang="zh-CN" altLang="en-US" sz="800" dirty="0">
              <a:latin typeface="楷体" panose="02010609060101010101" pitchFamily="49" charset="-122"/>
              <a:ea typeface="楷体" panose="02010609060101010101" pitchFamily="49" charset="-122"/>
              <a:sym typeface="楷体" panose="02010609060101010101" pitchFamily="49" charset="-122"/>
            </a:endParaRPr>
          </a:p>
        </p:txBody>
      </p:sp>
      <p:cxnSp>
        <p:nvCxnSpPr>
          <p:cNvPr id="74" name="直接连接符 73">
            <a:extLst>
              <a:ext uri="{FF2B5EF4-FFF2-40B4-BE49-F238E27FC236}">
                <a16:creationId id="{C5C84809-7F5A-C332-14C4-4A0D51A0C3B6}"/>
              </a:ext>
            </a:extLst>
          </p:cNvPr>
          <p:cNvCxnSpPr/>
          <p:nvPr>
            <p:custDataLst>
              <p:tags r:id="rId38"/>
            </p:custDataLst>
          </p:nvPr>
        </p:nvCxnSpPr>
        <p:spPr bwMode="gray">
          <a:xfrm>
            <a:off x="5351463" y="4960938"/>
            <a:ext cx="190500" cy="0"/>
          </a:xfrm>
          <a:prstGeom prst="line">
            <a:avLst/>
          </a:prstGeom>
          <a:ln w="12700" cap="rnd" cmpd="sng" algn="ctr">
            <a:solidFill>
              <a:srgbClr val="1B5099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>
            <a:extLst>
              <a:ext uri="{FF2B5EF4-FFF2-40B4-BE49-F238E27FC236}">
                <a16:creationId id="{CE31CDE4-62BF-7A54-B897-2261DB959D3D}"/>
              </a:ext>
            </a:extLst>
          </p:cNvPr>
          <p:cNvCxnSpPr/>
          <p:nvPr>
            <p:custDataLst>
              <p:tags r:id="rId39"/>
            </p:custDataLst>
          </p:nvPr>
        </p:nvCxnSpPr>
        <p:spPr bwMode="gray">
          <a:xfrm>
            <a:off x="6215063" y="4960938"/>
            <a:ext cx="190500" cy="0"/>
          </a:xfrm>
          <a:prstGeom prst="line">
            <a:avLst/>
          </a:prstGeom>
          <a:ln w="12700" cap="rnd" cmpd="sng" algn="ctr">
            <a:solidFill>
              <a:srgbClr val="C00000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矩形 75">
            <a:extLst>
              <a:ext uri="{FF2B5EF4-FFF2-40B4-BE49-F238E27FC236}">
                <a16:creationId id="{ABB7A4BA-A86B-577D-DBD8-C67781353A4E}"/>
              </a:ext>
            </a:extLst>
          </p:cNvPr>
          <p:cNvSpPr/>
          <p:nvPr>
            <p:custDataLst>
              <p:tags r:id="rId40"/>
            </p:custDataLst>
          </p:nvPr>
        </p:nvSpPr>
        <p:spPr bwMode="auto">
          <a:xfrm>
            <a:off x="5421313" y="4935538"/>
            <a:ext cx="50800" cy="50800"/>
          </a:xfrm>
          <a:prstGeom prst="rect">
            <a:avLst/>
          </a:prstGeom>
          <a:solidFill>
            <a:srgbClr val="1B5099"/>
          </a:solidFill>
          <a:ln w="9525" cap="flat" cmpd="sng" algn="ctr">
            <a:solidFill>
              <a:srgbClr val="1B5099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椭圆 76">
            <a:extLst>
              <a:ext uri="{FF2B5EF4-FFF2-40B4-BE49-F238E27FC236}">
                <a16:creationId id="{0AD448EF-838D-7872-4947-C4A3E9CBF709}"/>
              </a:ext>
            </a:extLst>
          </p:cNvPr>
          <p:cNvSpPr/>
          <p:nvPr>
            <p:custDataLst>
              <p:tags r:id="rId41"/>
            </p:custDataLst>
          </p:nvPr>
        </p:nvSpPr>
        <p:spPr bwMode="auto">
          <a:xfrm>
            <a:off x="6284913" y="4935538"/>
            <a:ext cx="50800" cy="50800"/>
          </a:xfrm>
          <a:prstGeom prst="ellipse">
            <a:avLst/>
          </a:prstGeom>
          <a:solidFill>
            <a:srgbClr val="C00000"/>
          </a:solidFill>
          <a:ln w="9525" cap="flat" cmpd="sng" algn="ctr">
            <a:solidFill>
              <a:srgbClr val="C00000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文本占位符 2">
            <a:extLst>
              <a:ext uri="{FF2B5EF4-FFF2-40B4-BE49-F238E27FC236}">
                <a16:creationId id="{62E48BF9-2DFC-8692-EE8C-F51976340E0F}"/>
              </a:ext>
            </a:extLst>
          </p:cNvPr>
          <p:cNvSpPr>
            <a:spLocks/>
          </p:cNvSpPr>
          <p:nvPr>
            <p:custDataLst>
              <p:tags r:id="rId42"/>
            </p:custDataLst>
          </p:nvPr>
        </p:nvSpPr>
        <p:spPr bwMode="auto">
          <a:xfrm>
            <a:off x="5599113" y="4913313"/>
            <a:ext cx="508000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7:hiddenFill>
                <a:solidFill>
                  <a:scrgbClr r="0" g="0" b="0"/>
                </a:solidFill>
              </ns7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CACB6081-6BA4-4402-BB24-49ED478061AA}" type="datetime'''''管''''''''理''''''''''''''''''''不''''''''良''''''''''''率'">
              <a:rPr lang="zh-CN" altLang="en-US" sz="800" smtClean="0">
                <a:latin typeface="楷体" panose="02010609060101010101" pitchFamily="49" charset="-122"/>
                <a:ea typeface="楷体" panose="02010609060101010101" pitchFamily="49" charset="-122"/>
              </a:rPr>
              <a:pPr/>
              <a:t>管理不良率</a:t>
            </a:fld>
            <a:endParaRPr lang="zh-CN" altLang="en-US" sz="800" dirty="0">
              <a:latin typeface="楷体" panose="02010609060101010101" pitchFamily="49" charset="-122"/>
              <a:ea typeface="楷体" panose="02010609060101010101" pitchFamily="49" charset="-122"/>
              <a:sym typeface="楷体" panose="02010609060101010101" pitchFamily="49" charset="-122"/>
            </a:endParaRPr>
          </a:p>
        </p:txBody>
      </p:sp>
      <p:sp>
        <p:nvSpPr>
          <p:cNvPr id="79" name="文本占位符 2">
            <a:extLst>
              <a:ext uri="{FF2B5EF4-FFF2-40B4-BE49-F238E27FC236}">
                <a16:creationId id="{6A672CDC-7E77-97F5-0A9D-BD16B97A3016}"/>
              </a:ext>
            </a:extLst>
          </p:cNvPr>
          <p:cNvSpPr>
            <a:spLocks/>
          </p:cNvSpPr>
          <p:nvPr>
            <p:custDataLst>
              <p:tags r:id="rId43"/>
            </p:custDataLst>
          </p:nvPr>
        </p:nvSpPr>
        <p:spPr bwMode="auto">
          <a:xfrm>
            <a:off x="6462713" y="4913313"/>
            <a:ext cx="508000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7:hiddenFill>
                <a:solidFill>
                  <a:scrgbClr r="0" g="0" b="0"/>
                </a:solidFill>
              </ns7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29AEB0C9-53FF-4BF0-8A3F-A22DF4B38D03}" type="datetime'自''持''不''良''率'">
              <a:rPr lang="zh-CN" altLang="en-US" sz="800" smtClean="0">
                <a:latin typeface="楷体" panose="02010609060101010101" pitchFamily="49" charset="-122"/>
                <a:ea typeface="楷体" panose="02010609060101010101" pitchFamily="49" charset="-122"/>
              </a:rPr>
              <a:pPr/>
              <a:t>自持不良率</a:t>
            </a:fld>
            <a:endParaRPr lang="zh-CN" altLang="en-US" sz="800" dirty="0">
              <a:latin typeface="楷体" panose="02010609060101010101" pitchFamily="49" charset="-122"/>
              <a:ea typeface="楷体" panose="02010609060101010101" pitchFamily="49" charset="-122"/>
              <a:sym typeface="楷体" panose="02010609060101010101" pitchFamily="49" charset="-122"/>
            </a:endParaRPr>
          </a:p>
        </p:txBody>
      </p:sp>
      <p:graphicFrame>
        <p:nvGraphicFramePr>
          <p:cNvPr id="13" name="Chart 3">
            <a:extLst>
              <a:ext uri="{FF2B5EF4-FFF2-40B4-BE49-F238E27FC236}">
                <a16:creationId id="{B329D0D0-5B13-8130-1F78-CD21E1E7846C}"/>
              </a:ext>
            </a:extLst>
          </p:cNvPr>
          <p:cNvGraphicFramePr/>
          <p:nvPr>
            <p:custDataLst>
              <p:tags r:id="rId44"/>
            </p:custDataLst>
            <p:extLst>
              <p:ext uri="{D42A27DB-BD31-4B8C-83A1-F6EECF244321}">
                <p14:modId val="809859547"/>
              </p:ext>
            </p:extLst>
          </p:nvPr>
        </p:nvGraphicFramePr>
        <p:xfrm>
          <a:off x="647700" y="4800600"/>
          <a:ext cx="3311525" cy="1733550"/>
        </p:xfrm>
        <a:graphic>
          <a:graphicData uri="http://schemas.openxmlformats.org/drawingml/2006/chart">
            <c:chart r:id="rId75"/>
          </a:graphicData>
        </a:graphic>
      </p:graphicFrame>
      <p:sp>
        <p:nvSpPr>
          <p:cNvPr id="94" name="文本占位符 2">
            <a:extLst>
              <a:ext uri="{FF2B5EF4-FFF2-40B4-BE49-F238E27FC236}">
                <a16:creationId id="{C556782C-C003-DD52-EF45-FD55DE98A49F}"/>
              </a:ext>
            </a:extLst>
          </p:cNvPr>
          <p:cNvSpPr>
            <a:spLocks/>
          </p:cNvSpPr>
          <p:nvPr>
            <p:custDataLst>
              <p:tags r:id="rId45"/>
            </p:custDataLst>
          </p:nvPr>
        </p:nvSpPr>
        <p:spPr bwMode="gray">
          <a:xfrm>
            <a:off x="755650" y="5360988"/>
            <a:ext cx="282575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7:hiddenFill>
                <a:solidFill>
                  <a:schemeClr val="bg1"/>
                </a:solidFill>
              </ns7:hiddenFill>
            </a:ext>
          </a:extLst>
        </p:spPr>
        <p:txBody>
          <a:bodyPr vert="horz" wrap="none" lIns="14288" tIns="0" rIns="14288" bIns="0" numCol="1" spcCol="0" rtlCol="0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C5715F04-3522-4EF0-8E0D-41F06C6CF963}" type="datetime'2''''''''''''''''''''''''''''.''''''''''''''66''''''''''%'">
              <a:rPr lang="en-US" altLang="en-US" sz="800" smtClean="0">
                <a:latin typeface="楷体" panose="02010609060101010101" pitchFamily="49" charset="-122"/>
                <a:ea typeface="楷体" panose="02010609060101010101" pitchFamily="49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5.66%</a:t>
            </a:fld>
            <a:endParaRPr lang="zh-CN" altLang="en-US" sz="800" dirty="0">
              <a:latin typeface="楷体" panose="02010609060101010101" pitchFamily="49" charset="-122"/>
              <a:ea typeface="楷体" panose="02010609060101010101" pitchFamily="49" charset="-122"/>
              <a:sym typeface="楷体" panose="02010609060101010101" pitchFamily="49" charset="-122"/>
            </a:endParaRPr>
          </a:p>
        </p:txBody>
      </p:sp>
      <p:sp>
        <p:nvSpPr>
          <p:cNvPr id="95" name="文本占位符 2">
            <a:extLst>
              <a:ext uri="{FF2B5EF4-FFF2-40B4-BE49-F238E27FC236}">
                <a16:creationId id="{0FD0DBEE-E27D-5364-A1FB-FEC251797C6D}"/>
              </a:ext>
            </a:extLst>
          </p:cNvPr>
          <p:cNvSpPr>
            <a:spLocks/>
          </p:cNvSpPr>
          <p:nvPr>
            <p:custDataLst>
              <p:tags r:id="rId46"/>
            </p:custDataLst>
          </p:nvPr>
        </p:nvSpPr>
        <p:spPr bwMode="gray">
          <a:xfrm>
            <a:off x="755650" y="6099175"/>
            <a:ext cx="282575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7:hiddenFill>
                <a:solidFill>
                  <a:schemeClr val="bg1"/>
                </a:solidFill>
              </ns7:hiddenFill>
            </a:ext>
          </a:extLst>
        </p:spPr>
        <p:txBody>
          <a:bodyPr vert="horz" wrap="none" lIns="14288" tIns="0" rIns="14288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C7ACD174-FFC7-4102-92F2-01F23F2D4810}" type="datetime'''1''''''''.''''''''''''''''''''''''''0''''''''''1%'''''''''''">
              <a:rPr lang="en-US" altLang="en-US" sz="80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7.88%</a:t>
            </a:fld>
            <a:endParaRPr lang="zh-CN" altLang="en-US" sz="8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  <a:sym typeface="楷体" panose="02010609060101010101" pitchFamily="49" charset="-122"/>
            </a:endParaRPr>
          </a:p>
        </p:txBody>
      </p:sp>
      <p:sp>
        <p:nvSpPr>
          <p:cNvPr id="96" name="文本占位符 2">
            <a:extLst>
              <a:ext uri="{FF2B5EF4-FFF2-40B4-BE49-F238E27FC236}">
                <a16:creationId id="{E9FB973B-A710-902B-3F76-DB873E6697B1}"/>
              </a:ext>
            </a:extLst>
          </p:cNvPr>
          <p:cNvSpPr>
            <a:spLocks/>
          </p:cNvSpPr>
          <p:nvPr>
            <p:custDataLst>
              <p:tags r:id="rId47"/>
            </p:custDataLst>
          </p:nvPr>
        </p:nvSpPr>
        <p:spPr bwMode="auto">
          <a:xfrm>
            <a:off x="596900" y="6484938"/>
            <a:ext cx="266700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7:hiddenFill>
                <a:solidFill>
                  <a:scrgbClr r="0" g="0" b="0"/>
                </a:solidFill>
              </ns7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EDFA4194-623E-4CDA-ADE1-0B3FEF9B8B8A}" type="datetime'''''''''''''''''''''''''2''''''''''''''''''''5''''''''.11'">
              <a:rPr lang="zh-CN" altLang="en-US" sz="800" smtClean="0">
                <a:latin typeface="楷体" panose="02010609060101010101" pitchFamily="49" charset="-122"/>
                <a:ea typeface="楷体" panose="02010609060101010101" pitchFamily="49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99.11</a:t>
            </a:fld>
            <a:endParaRPr lang="zh-CN" altLang="en-US" sz="800" dirty="0">
              <a:latin typeface="楷体" panose="02010609060101010101" pitchFamily="49" charset="-122"/>
              <a:ea typeface="楷体" panose="02010609060101010101" pitchFamily="49" charset="-122"/>
              <a:sym typeface="楷体" panose="02010609060101010101" pitchFamily="49" charset="-122"/>
            </a:endParaRPr>
          </a:p>
        </p:txBody>
      </p:sp>
      <p:sp>
        <p:nvSpPr>
          <p:cNvPr id="97" name="文本占位符 2">
            <a:extLst>
              <a:ext uri="{FF2B5EF4-FFF2-40B4-BE49-F238E27FC236}">
                <a16:creationId id="{BD8969F5-D253-6F09-9A8D-F76921E35EF1}"/>
              </a:ext>
            </a:extLst>
          </p:cNvPr>
          <p:cNvSpPr>
            <a:spLocks/>
          </p:cNvSpPr>
          <p:nvPr>
            <p:custDataLst>
              <p:tags r:id="rId48"/>
            </p:custDataLst>
          </p:nvPr>
        </p:nvSpPr>
        <p:spPr bwMode="gray">
          <a:xfrm>
            <a:off x="1376363" y="5486400"/>
            <a:ext cx="282575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7:hiddenFill>
                <a:solidFill>
                  <a:schemeClr val="bg1"/>
                </a:solidFill>
              </ns7:hiddenFill>
            </a:ext>
          </a:extLst>
        </p:spPr>
        <p:txBody>
          <a:bodyPr vert="horz" wrap="none" lIns="14288" tIns="0" rIns="14288" bIns="0" numCol="1" spcCol="0" rtlCol="0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D26BE68C-F343-43C0-8C08-87F14AFDB637}" type="datetime'''''''''''''''2''.''''''''''''''''''2''''''''''''''2''''%'">
              <a:rPr lang="en-US" altLang="en-US" sz="800" smtClean="0">
                <a:latin typeface="楷体" panose="02010609060101010101" pitchFamily="49" charset="-122"/>
                <a:ea typeface="楷体" panose="02010609060101010101" pitchFamily="49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2.33%</a:t>
            </a:fld>
            <a:endParaRPr lang="zh-CN" altLang="en-US" sz="800" dirty="0">
              <a:latin typeface="楷体" panose="02010609060101010101" pitchFamily="49" charset="-122"/>
              <a:ea typeface="楷体" panose="02010609060101010101" pitchFamily="49" charset="-122"/>
              <a:sym typeface="楷体" panose="02010609060101010101" pitchFamily="49" charset="-122"/>
            </a:endParaRPr>
          </a:p>
        </p:txBody>
      </p:sp>
      <p:sp>
        <p:nvSpPr>
          <p:cNvPr id="98" name="文本占位符 2">
            <a:extLst>
              <a:ext uri="{FF2B5EF4-FFF2-40B4-BE49-F238E27FC236}">
                <a16:creationId id="{909BDBE1-D118-B69C-703B-183C1E052B95}"/>
              </a:ext>
            </a:extLst>
          </p:cNvPr>
          <p:cNvSpPr>
            <a:spLocks/>
          </p:cNvSpPr>
          <p:nvPr>
            <p:custDataLst>
              <p:tags r:id="rId49"/>
            </p:custDataLst>
          </p:nvPr>
        </p:nvSpPr>
        <p:spPr bwMode="gray">
          <a:xfrm>
            <a:off x="1376363" y="6124575"/>
            <a:ext cx="282575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7:hiddenFill>
                <a:solidFill>
                  <a:schemeClr val="bg1"/>
                </a:solidFill>
              </ns7:hiddenFill>
            </a:ext>
          </a:extLst>
        </p:spPr>
        <p:txBody>
          <a:bodyPr vert="horz" wrap="none" lIns="14288" tIns="0" rIns="14288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E503E83F-09A0-4D0F-913F-80B8BD006824}" type="datetime'0''''''''''.''''''''''9''3''''''''''''''%'''''''''''''''''">
              <a:rPr lang="en-US" altLang="en-US" sz="80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0.55%</a:t>
            </a:fld>
            <a:endParaRPr lang="zh-CN" altLang="en-US" sz="8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  <a:sym typeface="楷体" panose="02010609060101010101" pitchFamily="49" charset="-122"/>
            </a:endParaRPr>
          </a:p>
        </p:txBody>
      </p:sp>
      <p:sp>
        <p:nvSpPr>
          <p:cNvPr id="99" name="文本占位符 2">
            <a:extLst>
              <a:ext uri="{FF2B5EF4-FFF2-40B4-BE49-F238E27FC236}">
                <a16:creationId id="{55B4E347-7D92-CA3A-5FEE-59B9F6325CED}"/>
              </a:ext>
            </a:extLst>
          </p:cNvPr>
          <p:cNvSpPr>
            <a:spLocks/>
          </p:cNvSpPr>
          <p:nvPr>
            <p:custDataLst>
              <p:tags r:id="rId50"/>
            </p:custDataLst>
          </p:nvPr>
        </p:nvSpPr>
        <p:spPr bwMode="auto">
          <a:xfrm>
            <a:off x="1384300" y="6484938"/>
            <a:ext cx="266700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7:hiddenFill>
                <a:solidFill>
                  <a:scrgbClr r="0" g="0" b="0"/>
                </a:solidFill>
              </ns7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23A85AB2-CFD2-4081-893A-431FB87E89DE}" type="datetime'''''''''''''''''''''''''''''2''''''''''5''''.''''12'">
              <a:rPr lang="zh-CN" altLang="en-US" sz="800" smtClean="0">
                <a:latin typeface="楷体" panose="02010609060101010101" pitchFamily="49" charset="-122"/>
                <a:ea typeface="楷体" panose="02010609060101010101" pitchFamily="49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66.77</a:t>
            </a:fld>
            <a:endParaRPr lang="zh-CN" altLang="en-US" sz="800" dirty="0">
              <a:latin typeface="楷体" panose="02010609060101010101" pitchFamily="49" charset="-122"/>
              <a:ea typeface="楷体" panose="02010609060101010101" pitchFamily="49" charset="-122"/>
              <a:sym typeface="楷体" panose="02010609060101010101" pitchFamily="49" charset="-122"/>
            </a:endParaRPr>
          </a:p>
        </p:txBody>
      </p:sp>
      <p:sp>
        <p:nvSpPr>
          <p:cNvPr id="100" name="文本占位符 2">
            <a:extLst>
              <a:ext uri="{FF2B5EF4-FFF2-40B4-BE49-F238E27FC236}">
                <a16:creationId id="{69CFDD38-20BC-C33A-47C4-FEAE9B906E80}"/>
              </a:ext>
            </a:extLst>
          </p:cNvPr>
          <p:cNvSpPr>
            <a:spLocks/>
          </p:cNvSpPr>
          <p:nvPr>
            <p:custDataLst>
              <p:tags r:id="rId51"/>
            </p:custDataLst>
          </p:nvPr>
        </p:nvSpPr>
        <p:spPr bwMode="gray">
          <a:xfrm>
            <a:off x="2162175" y="5465763"/>
            <a:ext cx="282575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7:hiddenFill>
                <a:solidFill>
                  <a:schemeClr val="bg1"/>
                </a:solidFill>
              </ns7:hiddenFill>
            </a:ext>
          </a:extLst>
        </p:spPr>
        <p:txBody>
          <a:bodyPr vert="horz" wrap="none" lIns="14288" tIns="0" rIns="14288" bIns="0" numCol="1" spcCol="0" rtlCol="0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FBBA7B63-A463-454F-AD9A-086F3D665CEF}" type="datetime'''''''''''''2''''''''''''.''''2''''9''''%'''''''">
              <a:rPr lang="en-US" altLang="en-US" sz="800" smtClean="0">
                <a:latin typeface="楷体" panose="02010609060101010101" pitchFamily="49" charset="-122"/>
                <a:ea typeface="楷体" panose="02010609060101010101" pitchFamily="49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8.99%</a:t>
            </a:fld>
            <a:endParaRPr lang="zh-CN" altLang="en-US" sz="800" dirty="0">
              <a:latin typeface="楷体" panose="02010609060101010101" pitchFamily="49" charset="-122"/>
              <a:ea typeface="楷体" panose="02010609060101010101" pitchFamily="49" charset="-122"/>
              <a:sym typeface="楷体" panose="02010609060101010101" pitchFamily="49" charset="-122"/>
            </a:endParaRPr>
          </a:p>
        </p:txBody>
      </p:sp>
      <p:sp>
        <p:nvSpPr>
          <p:cNvPr id="101" name="文本占位符 2">
            <a:extLst>
              <a:ext uri="{FF2B5EF4-FFF2-40B4-BE49-F238E27FC236}">
                <a16:creationId id="{FB5BEE79-B9C0-9C4E-1550-6155877EB4DE}"/>
              </a:ext>
            </a:extLst>
          </p:cNvPr>
          <p:cNvSpPr>
            <a:spLocks/>
          </p:cNvSpPr>
          <p:nvPr>
            <p:custDataLst>
              <p:tags r:id="rId52"/>
            </p:custDataLst>
          </p:nvPr>
        </p:nvSpPr>
        <p:spPr bwMode="gray">
          <a:xfrm>
            <a:off x="2162175" y="6132513"/>
            <a:ext cx="282575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7:hiddenFill>
                <a:solidFill>
                  <a:schemeClr val="accent1"/>
                </a:solidFill>
              </ns7:hiddenFill>
            </a:ext>
          </a:extLst>
        </p:spPr>
        <p:txBody>
          <a:bodyPr vert="horz" wrap="none" lIns="14288" tIns="0" rIns="14288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DBA5F628-C039-4C8F-8324-1ADC2887B4EA}" type="datetime'''''''0''''''''''''''.''''''''''9''''''0''''%'''''''''''''''">
              <a:rPr lang="en-US" altLang="en-US" sz="80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0.22%</a:t>
            </a:fld>
            <a:endParaRPr lang="zh-CN" altLang="en-US" sz="8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  <a:sym typeface="楷体" panose="02010609060101010101" pitchFamily="49" charset="-122"/>
            </a:endParaRPr>
          </a:p>
        </p:txBody>
      </p:sp>
      <p:sp>
        <p:nvSpPr>
          <p:cNvPr id="102" name="文本占位符 2">
            <a:extLst>
              <a:ext uri="{FF2B5EF4-FFF2-40B4-BE49-F238E27FC236}">
                <a16:creationId id="{A0824703-125E-24F4-12E7-2C39C138B378}"/>
              </a:ext>
            </a:extLst>
          </p:cNvPr>
          <p:cNvSpPr>
            <a:spLocks/>
          </p:cNvSpPr>
          <p:nvPr>
            <p:custDataLst>
              <p:tags r:id="rId53"/>
            </p:custDataLst>
          </p:nvPr>
        </p:nvSpPr>
        <p:spPr bwMode="auto">
          <a:xfrm>
            <a:off x="2195513" y="6484938"/>
            <a:ext cx="215900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7:hiddenFill>
                <a:solidFill>
                  <a:scrgbClr r="0" g="0" b="0"/>
                </a:solidFill>
              </ns7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C181F796-9C3A-46A2-8D9D-3D9CFA0DCA4E}" type="datetime'''''''''''''''''''''''''''2''''''''''''6.''1'''''''''">
              <a:rPr lang="zh-CN" altLang="en-US" sz="800" smtClean="0">
                <a:latin typeface="楷体" panose="02010609060101010101" pitchFamily="49" charset="-122"/>
                <a:ea typeface="楷体" panose="02010609060101010101" pitchFamily="49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33.4</a:t>
            </a:fld>
            <a:endParaRPr lang="zh-CN" altLang="en-US" sz="800" dirty="0">
              <a:latin typeface="楷体" panose="02010609060101010101" pitchFamily="49" charset="-122"/>
              <a:ea typeface="楷体" panose="02010609060101010101" pitchFamily="49" charset="-122"/>
              <a:sym typeface="楷体" panose="02010609060101010101" pitchFamily="49" charset="-122"/>
            </a:endParaRPr>
          </a:p>
        </p:txBody>
      </p:sp>
      <p:sp>
        <p:nvSpPr>
          <p:cNvPr id="103" name="文本占位符 2">
            <a:extLst>
              <a:ext uri="{FF2B5EF4-FFF2-40B4-BE49-F238E27FC236}">
                <a16:creationId id="{3898149A-59D8-E290-8D79-2CC1084F759C}"/>
              </a:ext>
            </a:extLst>
          </p:cNvPr>
          <p:cNvSpPr>
            <a:spLocks/>
          </p:cNvSpPr>
          <p:nvPr>
            <p:custDataLst>
              <p:tags r:id="rId54"/>
            </p:custDataLst>
          </p:nvPr>
        </p:nvSpPr>
        <p:spPr bwMode="gray">
          <a:xfrm>
            <a:off x="2949575" y="5357813"/>
            <a:ext cx="282575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7:hiddenFill>
                <a:solidFill>
                  <a:schemeClr val="bg1"/>
                </a:solidFill>
              </ns7:hiddenFill>
            </a:ext>
          </a:extLst>
        </p:spPr>
        <p:txBody>
          <a:bodyPr vert="horz" wrap="none" lIns="14288" tIns="0" rIns="14288" bIns="0" numCol="1" spcCol="0" rtlCol="0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3C2C57B7-80CA-4287-A5FA-30BCDA999D16}" type="datetime'''''''''''''''''''''2''''''''''''.''''''''6''7%'''">
              <a:rPr lang="en-US" altLang="en-US" sz="800" smtClean="0">
                <a:latin typeface="楷体" panose="02010609060101010101" pitchFamily="49" charset="-122"/>
                <a:ea typeface="楷体" panose="02010609060101010101" pitchFamily="49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5.66%</a:t>
            </a:fld>
            <a:endParaRPr lang="zh-CN" altLang="en-US" sz="800" dirty="0">
              <a:latin typeface="楷体" panose="02010609060101010101" pitchFamily="49" charset="-122"/>
              <a:ea typeface="楷体" panose="02010609060101010101" pitchFamily="49" charset="-122"/>
              <a:sym typeface="楷体" panose="02010609060101010101" pitchFamily="49" charset="-122"/>
            </a:endParaRPr>
          </a:p>
        </p:txBody>
      </p:sp>
      <p:sp>
        <p:nvSpPr>
          <p:cNvPr id="104" name="文本占位符 2">
            <a:extLst>
              <a:ext uri="{FF2B5EF4-FFF2-40B4-BE49-F238E27FC236}">
                <a16:creationId id="{C0D64E3F-76C1-B9AD-88A6-C208AF9284C3}"/>
              </a:ext>
            </a:extLst>
          </p:cNvPr>
          <p:cNvSpPr>
            <a:spLocks/>
          </p:cNvSpPr>
          <p:nvPr>
            <p:custDataLst>
              <p:tags r:id="rId55"/>
            </p:custDataLst>
          </p:nvPr>
        </p:nvSpPr>
        <p:spPr bwMode="gray">
          <a:xfrm>
            <a:off x="2949575" y="6067425"/>
            <a:ext cx="282575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7:hiddenFill>
                <a:solidFill>
                  <a:schemeClr val="bg1"/>
                </a:solidFill>
              </ns7:hiddenFill>
            </a:ext>
          </a:extLst>
        </p:spPr>
        <p:txBody>
          <a:bodyPr vert="horz" wrap="none" lIns="14288" tIns="0" rIns="14288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B397E85F-4676-4F57-9EEC-B012859BB968}" type="datetime'''''''''''''''''''1''.''''''''''1''''''''''2''''''''%'''''''''">
              <a:rPr lang="en-US" altLang="en-US" sz="80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7.88%</a:t>
            </a:fld>
            <a:endParaRPr lang="zh-CN" altLang="en-US" sz="8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  <a:sym typeface="楷体" panose="02010609060101010101" pitchFamily="49" charset="-122"/>
            </a:endParaRPr>
          </a:p>
        </p:txBody>
      </p:sp>
      <p:sp>
        <p:nvSpPr>
          <p:cNvPr id="126" name="文本占位符 2">
            <a:extLst>
              <a:ext uri="{FF2B5EF4-FFF2-40B4-BE49-F238E27FC236}">
                <a16:creationId id="{E3B92959-B68F-7274-E47F-F75EC2A0B0F1}"/>
              </a:ext>
            </a:extLst>
          </p:cNvPr>
          <p:cNvSpPr>
            <a:spLocks/>
          </p:cNvSpPr>
          <p:nvPr>
            <p:custDataLst>
              <p:tags r:id="rId56"/>
            </p:custDataLst>
          </p:nvPr>
        </p:nvSpPr>
        <p:spPr bwMode="auto">
          <a:xfrm>
            <a:off x="2982913" y="6484938"/>
            <a:ext cx="215900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7:hiddenFill>
                <a:solidFill>
                  <a:scrgbClr r="0" g="0" b="0"/>
                </a:solidFill>
              </ns7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6EEE2393-DB1B-4B52-88FD-7142AD7B6AB9}" type="datetime'''''''2''''''''''''''''''6''''''''''''''.''''2'''''">
              <a:rPr lang="zh-CN" altLang="en-US" sz="800" smtClean="0">
                <a:latin typeface="楷体" panose="02010609060101010101" pitchFamily="49" charset="-122"/>
                <a:ea typeface="楷体" panose="02010609060101010101" pitchFamily="49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99.1</a:t>
            </a:fld>
            <a:endParaRPr lang="zh-CN" altLang="en-US" sz="800" dirty="0">
              <a:latin typeface="楷体" panose="02010609060101010101" pitchFamily="49" charset="-122"/>
              <a:ea typeface="楷体" panose="02010609060101010101" pitchFamily="49" charset="-122"/>
              <a:sym typeface="楷体" panose="02010609060101010101" pitchFamily="49" charset="-122"/>
            </a:endParaRPr>
          </a:p>
        </p:txBody>
      </p:sp>
      <p:sp>
        <p:nvSpPr>
          <p:cNvPr id="106" name="文本占位符 2">
            <a:extLst>
              <a:ext uri="{FF2B5EF4-FFF2-40B4-BE49-F238E27FC236}">
                <a16:creationId id="{2EC8F52B-4E94-C35D-D670-CC41B3F68C2E}"/>
              </a:ext>
            </a:extLst>
          </p:cNvPr>
          <p:cNvSpPr>
            <a:spLocks/>
          </p:cNvSpPr>
          <p:nvPr>
            <p:custDataLst>
              <p:tags r:id="rId57"/>
            </p:custDataLst>
          </p:nvPr>
        </p:nvSpPr>
        <p:spPr bwMode="gray">
          <a:xfrm>
            <a:off x="3668713" y="5411788"/>
            <a:ext cx="282575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7:hiddenFill>
                <a:solidFill>
                  <a:schemeClr val="bg1"/>
                </a:solidFill>
              </ns7:hiddenFill>
            </a:ext>
          </a:extLst>
        </p:spPr>
        <p:txBody>
          <a:bodyPr vert="horz" wrap="none" lIns="14288" tIns="0" rIns="14288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BD8D9690-A4F4-48D8-952F-E67897E0B45F}" type="datetime'''''''''''''2''''''.4''''''''''''''''''''6''%'">
              <a:rPr lang="en-US" altLang="en-US" sz="800" smtClean="0">
                <a:latin typeface="楷体" panose="02010609060101010101" pitchFamily="49" charset="-122"/>
                <a:ea typeface="楷体" panose="02010609060101010101" pitchFamily="49" charset="-122"/>
              </a:rPr>
              <a:pPr/>
              <a:t>2.33%</a:t>
            </a:fld>
            <a:endParaRPr lang="zh-CN" altLang="en-US" sz="800" dirty="0">
              <a:latin typeface="楷体" panose="02010609060101010101" pitchFamily="49" charset="-122"/>
              <a:ea typeface="楷体" panose="02010609060101010101" pitchFamily="49" charset="-122"/>
              <a:sym typeface="楷体" panose="02010609060101010101" pitchFamily="49" charset="-122"/>
            </a:endParaRPr>
          </a:p>
        </p:txBody>
      </p:sp>
      <p:sp>
        <p:nvSpPr>
          <p:cNvPr id="107" name="文本占位符 2">
            <a:extLst>
              <a:ext uri="{FF2B5EF4-FFF2-40B4-BE49-F238E27FC236}">
                <a16:creationId id="{572EE8F4-0C06-07B5-74D2-5D240D7F3147}"/>
              </a:ext>
            </a:extLst>
          </p:cNvPr>
          <p:cNvSpPr>
            <a:spLocks/>
          </p:cNvSpPr>
          <p:nvPr>
            <p:custDataLst>
              <p:tags r:id="rId58"/>
            </p:custDataLst>
          </p:nvPr>
        </p:nvSpPr>
        <p:spPr bwMode="gray">
          <a:xfrm>
            <a:off x="3732213" y="6110288"/>
            <a:ext cx="282575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7:hiddenFill>
                <a:solidFill>
                  <a:schemeClr val="bg1"/>
                </a:solidFill>
              </ns7:hiddenFill>
            </a:ext>
          </a:extLst>
        </p:spPr>
        <p:txBody>
          <a:bodyPr vert="horz" wrap="none" lIns="14288" tIns="0" rIns="14288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03F5E8D0-1BED-4E66-82AA-6B43A9DDFFDF}" type="datetime'''''''''''''''''''''0''.''''''''''''''''9''''3%'''''">
              <a:rPr lang="en-US" altLang="en-US" sz="80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pPr/>
              <a:t>0.55%</a:t>
            </a:fld>
            <a:endParaRPr lang="zh-CN" altLang="en-US" sz="8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  <a:sym typeface="楷体" panose="02010609060101010101" pitchFamily="49" charset="-122"/>
            </a:endParaRPr>
          </a:p>
        </p:txBody>
      </p:sp>
      <p:sp>
        <p:nvSpPr>
          <p:cNvPr id="108" name="文本占位符 2">
            <a:extLst>
              <a:ext uri="{FF2B5EF4-FFF2-40B4-BE49-F238E27FC236}">
                <a16:creationId id="{2B7953F6-3162-A0D7-50E6-D5425E6860BC}"/>
              </a:ext>
            </a:extLst>
          </p:cNvPr>
          <p:cNvSpPr>
            <a:spLocks/>
          </p:cNvSpPr>
          <p:nvPr>
            <p:custDataLst>
              <p:tags r:id="rId59"/>
            </p:custDataLst>
          </p:nvPr>
        </p:nvSpPr>
        <p:spPr bwMode="auto">
          <a:xfrm>
            <a:off x="3768725" y="6484938"/>
            <a:ext cx="215900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7:hiddenFill>
                <a:solidFill>
                  <a:scrgbClr r="0" g="0" b="0"/>
                </a:solidFill>
              </ns7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58A2B186-6A55-4E4F-A989-A4C6D04704BF}" type="datetime'''''''''''''26''''''''.''3'''''''''''''''">
              <a:rPr lang="zh-CN" altLang="en-US" sz="800" smtClean="0">
                <a:latin typeface="楷体" panose="02010609060101010101" pitchFamily="49" charset="-122"/>
                <a:ea typeface="楷体" panose="02010609060101010101" pitchFamily="49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66.7</a:t>
            </a:fld>
            <a:endParaRPr lang="zh-CN" altLang="en-US" sz="800" dirty="0">
              <a:latin typeface="楷体" panose="02010609060101010101" pitchFamily="49" charset="-122"/>
              <a:ea typeface="楷体" panose="02010609060101010101" pitchFamily="49" charset="-122"/>
              <a:sym typeface="楷体" panose="02010609060101010101" pitchFamily="49" charset="-122"/>
            </a:endParaRPr>
          </a:p>
        </p:txBody>
      </p:sp>
      <p:cxnSp>
        <p:nvCxnSpPr>
          <p:cNvPr id="127" name="直接连接符 126">
            <a:extLst>
              <a:ext uri="{FF2B5EF4-FFF2-40B4-BE49-F238E27FC236}">
                <a16:creationId id="{90943467-82D4-12A8-EA3E-340F07F40AE8}"/>
              </a:ext>
            </a:extLst>
          </p:cNvPr>
          <p:cNvCxnSpPr/>
          <p:nvPr>
            <p:custDataLst>
              <p:tags r:id="rId60"/>
            </p:custDataLst>
          </p:nvPr>
        </p:nvCxnSpPr>
        <p:spPr bwMode="gray">
          <a:xfrm>
            <a:off x="1485900" y="4894263"/>
            <a:ext cx="190500" cy="0"/>
          </a:xfrm>
          <a:prstGeom prst="line">
            <a:avLst/>
          </a:prstGeom>
          <a:ln w="12700" cap="rnd" cmpd="sng" algn="ctr">
            <a:solidFill>
              <a:srgbClr val="1B5099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接连接符 127">
            <a:extLst>
              <a:ext uri="{FF2B5EF4-FFF2-40B4-BE49-F238E27FC236}">
                <a16:creationId id="{038CF683-7AC1-46AC-4DAA-CD13C477C0A9}"/>
              </a:ext>
            </a:extLst>
          </p:cNvPr>
          <p:cNvCxnSpPr/>
          <p:nvPr>
            <p:custDataLst>
              <p:tags r:id="rId61"/>
            </p:custDataLst>
          </p:nvPr>
        </p:nvCxnSpPr>
        <p:spPr bwMode="gray">
          <a:xfrm>
            <a:off x="2349500" y="4894263"/>
            <a:ext cx="190500" cy="0"/>
          </a:xfrm>
          <a:prstGeom prst="line">
            <a:avLst/>
          </a:prstGeom>
          <a:ln w="12700" cap="rnd" cmpd="sng" algn="ctr">
            <a:solidFill>
              <a:srgbClr val="C00000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矩形 128">
            <a:extLst>
              <a:ext uri="{FF2B5EF4-FFF2-40B4-BE49-F238E27FC236}">
                <a16:creationId id="{0380FEFE-D224-C5DC-CC77-28FC02C84E22}"/>
              </a:ext>
            </a:extLst>
          </p:cNvPr>
          <p:cNvSpPr/>
          <p:nvPr>
            <p:custDataLst>
              <p:tags r:id="rId62"/>
            </p:custDataLst>
          </p:nvPr>
        </p:nvSpPr>
        <p:spPr bwMode="auto">
          <a:xfrm>
            <a:off x="1555750" y="4868863"/>
            <a:ext cx="50800" cy="50800"/>
          </a:xfrm>
          <a:prstGeom prst="rect">
            <a:avLst/>
          </a:prstGeom>
          <a:solidFill>
            <a:srgbClr val="1B5099"/>
          </a:solidFill>
          <a:ln w="9525" cap="flat" cmpd="sng" algn="ctr">
            <a:solidFill>
              <a:srgbClr val="1B5099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" name="椭圆 129">
            <a:extLst>
              <a:ext uri="{FF2B5EF4-FFF2-40B4-BE49-F238E27FC236}">
                <a16:creationId id="{A278A519-408F-B1C9-7C6B-917AC5ABBB6D}"/>
              </a:ext>
            </a:extLst>
          </p:cNvPr>
          <p:cNvSpPr/>
          <p:nvPr>
            <p:custDataLst>
              <p:tags r:id="rId63"/>
            </p:custDataLst>
          </p:nvPr>
        </p:nvSpPr>
        <p:spPr bwMode="auto">
          <a:xfrm>
            <a:off x="2419350" y="4868863"/>
            <a:ext cx="50800" cy="50800"/>
          </a:xfrm>
          <a:prstGeom prst="ellipse">
            <a:avLst/>
          </a:prstGeom>
          <a:solidFill>
            <a:srgbClr val="C00000"/>
          </a:solidFill>
          <a:ln w="9525" cap="flat" cmpd="sng" algn="ctr">
            <a:solidFill>
              <a:srgbClr val="C00000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" name="文本占位符 2">
            <a:extLst>
              <a:ext uri="{FF2B5EF4-FFF2-40B4-BE49-F238E27FC236}">
                <a16:creationId id="{10E2E375-FC41-797A-AEE6-77A5E7AA5504}"/>
              </a:ext>
            </a:extLst>
          </p:cNvPr>
          <p:cNvSpPr>
            <a:spLocks/>
          </p:cNvSpPr>
          <p:nvPr>
            <p:custDataLst>
              <p:tags r:id="rId64"/>
            </p:custDataLst>
          </p:nvPr>
        </p:nvSpPr>
        <p:spPr bwMode="auto">
          <a:xfrm>
            <a:off x="1733550" y="4846638"/>
            <a:ext cx="508000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7:hiddenFill>
                <a:solidFill>
                  <a:scrgbClr r="0" g="0" b="0"/>
                </a:solidFill>
              </ns7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830A56A7-6721-4756-AB9D-7BE08B3427F9}" type="datetime'逾期''''''''''''''''''贷''''''款''率'''''''''''''''''''''''''">
              <a:rPr lang="zh-CN" altLang="en-US" sz="800" smtClean="0">
                <a:latin typeface="楷体" panose="02010609060101010101" pitchFamily="49" charset="-122"/>
                <a:ea typeface="楷体" panose="02010609060101010101" pitchFamily="49" charset="-122"/>
              </a:rPr>
              <a:pPr/>
              <a:t>逾期贷款率</a:t>
            </a:fld>
            <a:endParaRPr lang="zh-CN" altLang="en-US" sz="800" dirty="0">
              <a:latin typeface="楷体" panose="02010609060101010101" pitchFamily="49" charset="-122"/>
              <a:ea typeface="楷体" panose="02010609060101010101" pitchFamily="49" charset="-122"/>
              <a:sym typeface="楷体" panose="02010609060101010101" pitchFamily="49" charset="-122"/>
            </a:endParaRPr>
          </a:p>
        </p:txBody>
      </p:sp>
      <p:sp>
        <p:nvSpPr>
          <p:cNvPr id="132" name="文本占位符 2">
            <a:extLst>
              <a:ext uri="{FF2B5EF4-FFF2-40B4-BE49-F238E27FC236}">
                <a16:creationId id="{4E5BE401-0996-312D-9CE3-80E460381C14}"/>
              </a:ext>
            </a:extLst>
          </p:cNvPr>
          <p:cNvSpPr>
            <a:spLocks/>
          </p:cNvSpPr>
          <p:nvPr>
            <p:custDataLst>
              <p:tags r:id="rId65"/>
            </p:custDataLst>
          </p:nvPr>
        </p:nvSpPr>
        <p:spPr bwMode="auto">
          <a:xfrm>
            <a:off x="2597150" y="4846638"/>
            <a:ext cx="508000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7:hiddenFill>
                <a:solidFill>
                  <a:scrgbClr r="0" g="0" b="0"/>
                </a:solidFill>
              </ns7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3F5215FE-C44C-403C-9942-D2714A4ABB4F}" type="datetime'''''''''''''关''''''''''''''''''注''''贷''''''''''款''''率'''''">
              <a:rPr lang="zh-CN" altLang="en-US" sz="800" smtClean="0">
                <a:latin typeface="楷体" panose="02010609060101010101" pitchFamily="49" charset="-122"/>
                <a:ea typeface="楷体" panose="02010609060101010101" pitchFamily="49" charset="-122"/>
              </a:rPr>
              <a:pPr/>
              <a:t>关注贷款率</a:t>
            </a:fld>
            <a:endParaRPr lang="zh-CN" altLang="en-US" sz="800" dirty="0">
              <a:latin typeface="楷体" panose="02010609060101010101" pitchFamily="49" charset="-122"/>
              <a:ea typeface="楷体" panose="02010609060101010101" pitchFamily="49" charset="-122"/>
              <a:sym typeface="楷体" panose="02010609060101010101" pitchFamily="49" charset="-122"/>
            </a:endParaRPr>
          </a:p>
        </p:txBody>
      </p:sp>
    </p:spTree>
    <p:extLst>
      <p:ext uri="{BB962C8B-B14F-4D97-AF65-F5344CB8AC3E}">
        <p14:creationId val="1117876195"/>
      </p:ext>
    </p:extLst>
  </p:cSld>
  <p:clrMapOvr>
    <a:masterClrMapping/>
  </p:clrMapOvr>
</p:sld>
</file>

<file path=ppt/slides/slide10.xml><?xml version="1.0" encoding="utf-8"?>
<p:sld xmlns:a="http://schemas.openxmlformats.org/drawingml/2006/main" xmlns:a16="http://schemas.microsoft.com/office/drawing/2014/main" xmlns:mc="http://schemas.openxmlformats.org/markup-compatibility/2006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7" name="表格 196">
            <a:extLst>
              <a:ext uri="{FF2B5EF4-FFF2-40B4-BE49-F238E27FC236}">
                <a16:creationId id="{517AAD05-434C-4023-B833-D14AD066D5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829930678"/>
              </p:ext>
            </p:extLst>
          </p:nvPr>
        </p:nvGraphicFramePr>
        <p:xfrm>
          <a:off x="813020" y="923178"/>
          <a:ext cx="7886696" cy="53873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0388">
                  <a:extLst>
                    <a:ext uri="{9D8B030D-6E8A-4147-A177-3AD203B41FA5}">
                      <a16:colId val="3112425747"/>
                    </a:ext>
                  </a:extLst>
                </a:gridCol>
                <a:gridCol w="1362974">
                  <a:extLst>
                    <a:ext uri="{9D8B030D-6E8A-4147-A177-3AD203B41FA5}">
                      <a16:colId val="3021114625"/>
                    </a:ext>
                  </a:extLst>
                </a:gridCol>
                <a:gridCol w="967910">
                  <a:extLst>
                    <a:ext uri="{9D8B030D-6E8A-4147-A177-3AD203B41FA5}">
                      <a16:colId val="2515426962"/>
                    </a:ext>
                  </a:extLst>
                </a:gridCol>
                <a:gridCol w="936649">
                  <a:extLst>
                    <a:ext uri="{9D8B030D-6E8A-4147-A177-3AD203B41FA5}">
                      <a16:colId val="383457307"/>
                    </a:ext>
                  </a:extLst>
                </a:gridCol>
                <a:gridCol w="529610">
                  <a:extLst>
                    <a:ext uri="{9D8B030D-6E8A-4147-A177-3AD203B41FA5}">
                      <a16:colId val="1887563442"/>
                    </a:ext>
                  </a:extLst>
                </a:gridCol>
                <a:gridCol w="599833">
                  <a:extLst>
                    <a:ext uri="{9D8B030D-6E8A-4147-A177-3AD203B41FA5}">
                      <a16:colId val="4094074438"/>
                    </a:ext>
                  </a:extLst>
                </a:gridCol>
                <a:gridCol w="599833">
                  <a:extLst>
                    <a:ext uri="{9D8B030D-6E8A-4147-A177-3AD203B41FA5}">
                      <a16:colId val="2957501840"/>
                    </a:ext>
                  </a:extLst>
                </a:gridCol>
                <a:gridCol w="599833">
                  <a:extLst>
                    <a:ext uri="{9D8B030D-6E8A-4147-A177-3AD203B41FA5}">
                      <a16:colId val="3262516702"/>
                    </a:ext>
                  </a:extLst>
                </a:gridCol>
                <a:gridCol w="599833">
                  <a:extLst>
                    <a:ext uri="{9D8B030D-6E8A-4147-A177-3AD203B41FA5}">
                      <a16:colId val="989229209"/>
                    </a:ext>
                  </a:extLst>
                </a:gridCol>
                <a:gridCol w="599833">
                  <a:extLst>
                    <a:ext uri="{9D8B030D-6E8A-4147-A177-3AD203B41FA5}">
                      <a16:colId val="1316908009"/>
                    </a:ext>
                  </a:extLst>
                </a:gridCol>
              </a:tblGrid>
              <a:tr h="180000"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指标分类</a:t>
                      </a:r>
                      <a:endParaRPr lang="zh-CN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53A1">
                        <a:alpha val="70000"/>
                      </a:srgb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指标名称</a:t>
                      </a:r>
                      <a:endParaRPr lang="zh-CN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53A1">
                        <a:alpha val="7000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指标数据</a:t>
                      </a:r>
                      <a:endParaRPr lang="zh-CN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53A1">
                        <a:alpha val="7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指标分级</a:t>
                      </a:r>
                      <a:endParaRPr lang="zh-CN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53A1">
                        <a:alpha val="7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val="589331074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阈值</a:t>
                      </a:r>
                      <a:endParaRPr lang="en-US" altLang="zh-CN" sz="1100" b="1" u="none" strike="noStrike" dirty="0">
                        <a:solidFill>
                          <a:schemeClr val="bg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ctr" rtl="0" fontAlgn="ctr"/>
                      <a:r>
                        <a:rPr lang="zh-CN" alt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触发条件</a:t>
                      </a:r>
                      <a:endParaRPr lang="zh-CN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53A1">
                        <a:alpha val="70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我行本月</a:t>
                      </a:r>
                      <a:endParaRPr lang="zh-CN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53A1">
                        <a:alpha val="7000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本      月</a:t>
                      </a:r>
                      <a:endParaRPr lang="zh-CN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53A1">
                        <a:alpha val="7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上      月</a:t>
                      </a:r>
                      <a:endParaRPr lang="zh-CN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53A1">
                        <a:alpha val="7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val="3545345370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阈值类</a:t>
                      </a:r>
                      <a:endParaRPr lang="zh-CN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53A1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分布类</a:t>
                      </a:r>
                      <a:endParaRPr lang="zh-CN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53A1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趋势类</a:t>
                      </a:r>
                      <a:endParaRPr lang="zh-CN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53A1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阈值类</a:t>
                      </a:r>
                      <a:endParaRPr lang="zh-CN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53A1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分布类</a:t>
                      </a:r>
                      <a:endParaRPr lang="zh-CN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53A1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趋势类</a:t>
                      </a:r>
                      <a:endParaRPr lang="zh-CN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53A1">
                        <a:alpha val="70000"/>
                      </a:srgbClr>
                    </a:solidFill>
                  </a:tcPr>
                </a:tc>
                <a:extLst>
                  <a:ext uri="{0D108BD9-81ED-4DB2-BD59-A6C34878D82A}">
                    <a16:rowId val="1511986849"/>
                  </a:ext>
                </a:extLst>
              </a:tr>
              <a:tr h="306000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u="none" strike="noStrike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资本充足类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CN" altLang="en-US" sz="1100" u="none" strike="noStrike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资本充足率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u="none" strike="noStrike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&lt;</a:t>
                      </a:r>
                      <a:r>
                        <a:rPr lang="en-US" altLang="zh-CN" sz="1100" u="none" strike="noStrike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44.55%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66.7%</a:t>
                      </a:r>
                      <a:r>
                        <a:rPr lang="en-US" altLang="zh-CN" sz="1100" b="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**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u="none" strike="noStrike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　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u="none" strike="noStrike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　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val="72445450"/>
                  </a:ext>
                </a:extLst>
              </a:tr>
              <a:tr h="3060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CN" altLang="en-US" sz="1100" u="none" strike="noStrike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杠杆率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u="none" strike="noStrike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&lt;</a:t>
                      </a:r>
                      <a:r>
                        <a:rPr lang="en-US" altLang="zh-CN" sz="1100" u="none" strike="noStrike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8.9%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1.2%</a:t>
                      </a:r>
                      <a:r>
                        <a:rPr lang="en-US" altLang="zh-CN" sz="1100" b="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**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val="3974616095"/>
                  </a:ext>
                </a:extLst>
              </a:tr>
              <a:tr h="306000">
                <a:tc rowSpan="4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u="none" strike="noStrike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资产质量类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CN" altLang="en-US" sz="1100" u="none" strike="noStrike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不良贷款率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u="none" strike="noStrike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季末</a:t>
                      </a:r>
                      <a:r>
                        <a:rPr lang="en-US" altLang="zh-CN" sz="1100" u="none" strike="noStrike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&gt;3.44%*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u="none" strike="noStrike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5.66%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val="3947256860"/>
                  </a:ext>
                </a:extLst>
              </a:tr>
              <a:tr h="3060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CN" altLang="en-US" sz="1100" u="none" strike="noStrike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逾期贷款率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u="none" strike="noStrike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季末</a:t>
                      </a:r>
                      <a:r>
                        <a:rPr lang="en-US" altLang="zh-CN" sz="1100" u="none" strike="noStrike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&gt;7.88%*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u="none" strike="noStrike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9.11%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val="3365367096"/>
                  </a:ext>
                </a:extLst>
              </a:tr>
              <a:tr h="3060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CN" altLang="en-US" sz="1100" u="none" strike="noStrike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不良资产率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u="none" strike="noStrike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季末</a:t>
                      </a:r>
                      <a:r>
                        <a:rPr lang="en-US" altLang="zh-CN" sz="1100" u="none" strike="noStrike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&gt;2.33%*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0.55%</a:t>
                      </a: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val="2661060180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关注类贷款率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u="none" strike="noStrike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季末</a:t>
                      </a:r>
                      <a:r>
                        <a:rPr lang="en-US" altLang="zh-CN" sz="1100" u="none" strike="noStrike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&gt;6.77%*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0.99%</a:t>
                      </a: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val="641309340"/>
                  </a:ext>
                </a:extLst>
              </a:tr>
              <a:tr h="306000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u="none" strike="noStrike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减值准备类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CN" altLang="en-US" sz="1100" u="none" strike="noStrike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拨备覆盖率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u="none" strike="noStrike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&lt;</a:t>
                      </a:r>
                      <a:r>
                        <a:rPr lang="en-US" altLang="zh-CN" sz="1100" u="none" strike="noStrike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111%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u="none" strike="noStrike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222%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val="4129468519"/>
                  </a:ext>
                </a:extLst>
              </a:tr>
              <a:tr h="3060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CN" altLang="en-US" sz="1100" u="none" strike="noStrike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贷款拨备率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u="none" strike="noStrike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&lt;</a:t>
                      </a:r>
                      <a:r>
                        <a:rPr lang="en-US" altLang="zh-CN" sz="1100" u="none" strike="noStrike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3.4%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u="none" strike="noStrike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5.66%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val="2266604661"/>
                  </a:ext>
                </a:extLst>
              </a:tr>
              <a:tr h="306000">
                <a:tc rowSpan="2">
                  <a:txBody>
                    <a:bodyPr/>
                    <a:lstStyle/>
                    <a:p>
                      <a:pPr algn="ctr" rtl="0" fontAlgn="b"/>
                      <a:r>
                        <a:rPr lang="zh-CN" altLang="en-US" sz="1100" u="none" strike="noStrike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大额风险暴露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u="none" strike="noStrike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同业单一（或集团）客户风险暴露集中度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u="none" strike="noStrike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&gt;77%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88.9%</a:t>
                      </a:r>
                      <a:r>
                        <a:rPr lang="en-US" altLang="zh-CN" sz="1100" b="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**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val="356904760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u="none" strike="noStrike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非同业关联客户风险暴露集中度</a:t>
                      </a:r>
                      <a:endParaRPr lang="en-US" altLang="zh-CN" sz="1100" u="none" strike="noStrike" dirty="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u="none" strike="noStrike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&gt;11%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ctr" rtl="0" fontAlgn="ctr"/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2.33%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val="835886706"/>
                  </a:ext>
                </a:extLst>
              </a:tr>
              <a:tr h="306000">
                <a:tc rowSpan="2">
                  <a:txBody>
                    <a:bodyPr/>
                    <a:lstStyle/>
                    <a:p>
                      <a:pPr algn="ctr" rtl="0" fontAlgn="b"/>
                      <a:r>
                        <a:rPr lang="zh-CN" altLang="en-US" sz="1100" u="none" strike="noStrike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关联交易类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u="none" strike="noStrike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单一客户关联度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u="none" strike="noStrike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&gt;44%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5.66%</a:t>
                      </a:r>
                      <a:r>
                        <a:rPr lang="en-US" altLang="zh-CN" sz="1100" b="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**</a:t>
                      </a:r>
                      <a:endParaRPr lang="en-US" altLang="zh-CN" sz="1100" b="0" i="0" u="none" strike="noStrike" dirty="0"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val="89650384"/>
                  </a:ext>
                </a:extLst>
              </a:tr>
              <a:tr h="17425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u="none" strike="noStrike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……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u="none" strike="noStrike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……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u="none" strike="noStrike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……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……</a:t>
                      </a: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……</a:t>
                      </a: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……</a:t>
                      </a: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……</a:t>
                      </a: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……</a:t>
                      </a: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……</a:t>
                      </a: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val="736822476"/>
                  </a:ext>
                </a:extLst>
              </a:tr>
              <a:tr h="306000">
                <a:tc rowSpan="4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u="none" strike="noStrike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流动性风险类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u="none" strike="noStrike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流动性比例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u="none" strike="noStrike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&lt;</a:t>
                      </a:r>
                      <a:r>
                        <a:rPr lang="en-US" altLang="zh-CN" sz="1100" u="none" strike="noStrike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77%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u="none" strike="noStrike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88.9%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val="762781876"/>
                  </a:ext>
                </a:extLst>
              </a:tr>
              <a:tr h="3060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CN" altLang="en-US" sz="1100" u="none" strike="noStrike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流动性覆盖率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u="none" strike="noStrike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&lt;</a:t>
                      </a:r>
                      <a:r>
                        <a:rPr lang="en-US" altLang="zh-CN" sz="1100" u="none" strike="noStrike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111%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u="none" strike="noStrike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222%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val="1170743672"/>
                  </a:ext>
                </a:extLst>
              </a:tr>
              <a:tr h="3060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CN" altLang="en-US" sz="1100" b="0" i="0" u="none" strike="noStrike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净稳定资金比例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u="none" strike="noStrike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&lt;</a:t>
                      </a:r>
                      <a:r>
                        <a:rPr lang="en-US" altLang="zh-CN" sz="1100" u="none" strike="noStrike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333%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444%</a:t>
                      </a:r>
                      <a:r>
                        <a:rPr lang="en-US" altLang="zh-CN" sz="1100" b="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**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val="3832041497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u="none" strike="noStrike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全部同业负债与一级资本净额比率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u="none" strike="noStrike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&gt;555%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u="none" strike="noStrike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66%</a:t>
                      </a:r>
                      <a:r>
                        <a:rPr lang="en-US" altLang="zh-CN" sz="1100" b="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**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1100" u="none" strike="noStrike" dirty="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100" u="none" strike="noStrike" dirty="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100" u="none" strike="noStrike" dirty="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1100" u="none" strike="noStrike" dirty="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1100" u="none" strike="noStrike" dirty="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1100" u="none" strike="noStrike" dirty="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464" marR="9464" marT="9464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val="727188656"/>
                  </a:ext>
                </a:extLst>
              </a:tr>
            </a:tbl>
          </a:graphicData>
        </a:graphic>
      </p:graphicFrame>
      <p:sp>
        <p:nvSpPr>
          <p:cNvPr id="162" name="椭圆 161">
            <a:extLst>
              <a:ext uri="{FF2B5EF4-FFF2-40B4-BE49-F238E27FC236}">
                <a16:creationId id="{92C63B95-B4A8-4747-8B6D-9EA7FC12175F}"/>
              </a:ext>
            </a:extLst>
          </p:cNvPr>
          <p:cNvSpPr/>
          <p:nvPr/>
        </p:nvSpPr>
        <p:spPr>
          <a:xfrm>
            <a:off x="8364114" y="6026240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1" name="椭圆 160">
            <a:extLst>
              <a:ext uri="{FF2B5EF4-FFF2-40B4-BE49-F238E27FC236}">
                <a16:creationId id="{7D5685CD-18DB-4E48-BA8F-D5FF58C20A2D}"/>
              </a:ext>
            </a:extLst>
          </p:cNvPr>
          <p:cNvSpPr/>
          <p:nvPr/>
        </p:nvSpPr>
        <p:spPr>
          <a:xfrm>
            <a:off x="7774197" y="6046602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0" name="椭圆 159">
            <a:extLst>
              <a:ext uri="{FF2B5EF4-FFF2-40B4-BE49-F238E27FC236}">
                <a16:creationId id="{1CBB3D3C-11AA-4943-AD45-E39FE8501138}"/>
              </a:ext>
            </a:extLst>
          </p:cNvPr>
          <p:cNvSpPr/>
          <p:nvPr/>
        </p:nvSpPr>
        <p:spPr>
          <a:xfrm>
            <a:off x="7181137" y="6035653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0" name="椭圆 139">
            <a:extLst>
              <a:ext uri="{FF2B5EF4-FFF2-40B4-BE49-F238E27FC236}">
                <a16:creationId id="{91FBE2F2-F121-43E3-AE85-E0E3F3DCCD70}"/>
              </a:ext>
            </a:extLst>
          </p:cNvPr>
          <p:cNvSpPr/>
          <p:nvPr/>
        </p:nvSpPr>
        <p:spPr>
          <a:xfrm>
            <a:off x="8372493" y="3008885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9" name="椭圆 138">
            <a:extLst>
              <a:ext uri="{FF2B5EF4-FFF2-40B4-BE49-F238E27FC236}">
                <a16:creationId id="{5B9DBA10-9868-4E10-8223-53AD44614627}"/>
              </a:ext>
            </a:extLst>
          </p:cNvPr>
          <p:cNvSpPr/>
          <p:nvPr/>
        </p:nvSpPr>
        <p:spPr>
          <a:xfrm>
            <a:off x="7774197" y="3008855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椭圆 137">
            <a:extLst>
              <a:ext uri="{FF2B5EF4-FFF2-40B4-BE49-F238E27FC236}">
                <a16:creationId id="{A656A61E-4376-4A42-AE7F-EDC7D4900B38}"/>
              </a:ext>
            </a:extLst>
          </p:cNvPr>
          <p:cNvSpPr/>
          <p:nvPr/>
        </p:nvSpPr>
        <p:spPr>
          <a:xfrm>
            <a:off x="7184256" y="3008885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6" name="椭圆 135">
            <a:extLst>
              <a:ext uri="{FF2B5EF4-FFF2-40B4-BE49-F238E27FC236}">
                <a16:creationId id="{6CCAC08A-16D1-4361-8DFE-201EFE03E6F6}"/>
              </a:ext>
            </a:extLst>
          </p:cNvPr>
          <p:cNvSpPr/>
          <p:nvPr/>
        </p:nvSpPr>
        <p:spPr>
          <a:xfrm>
            <a:off x="8364114" y="5120643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椭圆 136">
            <a:extLst>
              <a:ext uri="{FF2B5EF4-FFF2-40B4-BE49-F238E27FC236}">
                <a16:creationId id="{9B7FE2CA-F3A7-4134-ADC9-C79C6F222A81}"/>
              </a:ext>
            </a:extLst>
          </p:cNvPr>
          <p:cNvSpPr/>
          <p:nvPr/>
        </p:nvSpPr>
        <p:spPr>
          <a:xfrm>
            <a:off x="7184255" y="2108862"/>
            <a:ext cx="180000" cy="180000"/>
          </a:xfrm>
          <a:prstGeom prst="ellipse">
            <a:avLst/>
          </a:prstGeom>
          <a:solidFill>
            <a:srgbClr val="FFFF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3" name="椭圆 132">
            <a:extLst>
              <a:ext uri="{FF2B5EF4-FFF2-40B4-BE49-F238E27FC236}">
                <a16:creationId id="{0A0032E4-AC60-46B5-B1BE-4569E5DB74CB}"/>
              </a:ext>
            </a:extLst>
          </p:cNvPr>
          <p:cNvSpPr/>
          <p:nvPr/>
        </p:nvSpPr>
        <p:spPr>
          <a:xfrm>
            <a:off x="8364138" y="3298180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7" name="椭圆 106">
            <a:extLst>
              <a:ext uri="{FF2B5EF4-FFF2-40B4-BE49-F238E27FC236}">
                <a16:creationId id="{145DC698-43B7-44E0-B933-6E2C49FA31FE}"/>
              </a:ext>
            </a:extLst>
          </p:cNvPr>
          <p:cNvSpPr/>
          <p:nvPr/>
        </p:nvSpPr>
        <p:spPr>
          <a:xfrm>
            <a:off x="7184255" y="2409090"/>
            <a:ext cx="180000" cy="180000"/>
          </a:xfrm>
          <a:prstGeom prst="ellipse">
            <a:avLst/>
          </a:prstGeom>
          <a:solidFill>
            <a:srgbClr val="FFFF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1" name="椭圆 130">
            <a:extLst>
              <a:ext uri="{FF2B5EF4-FFF2-40B4-BE49-F238E27FC236}">
                <a16:creationId id="{6238A8EE-4C6F-45EA-BEC4-653BE134D5B1}"/>
              </a:ext>
            </a:extLst>
          </p:cNvPr>
          <p:cNvSpPr/>
          <p:nvPr/>
        </p:nvSpPr>
        <p:spPr>
          <a:xfrm>
            <a:off x="8372493" y="2408684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8" name="椭圆 107">
            <a:extLst>
              <a:ext uri="{FF2B5EF4-FFF2-40B4-BE49-F238E27FC236}">
                <a16:creationId id="{40C45B66-5F02-4B87-A73B-1D7C7E27F780}"/>
              </a:ext>
            </a:extLst>
          </p:cNvPr>
          <p:cNvSpPr/>
          <p:nvPr/>
        </p:nvSpPr>
        <p:spPr>
          <a:xfrm>
            <a:off x="8369058" y="2117797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4" name="椭圆 113">
            <a:extLst>
              <a:ext uri="{FF2B5EF4-FFF2-40B4-BE49-F238E27FC236}">
                <a16:creationId id="{F373BB27-9639-44F6-B5EB-39008D739232}"/>
              </a:ext>
            </a:extLst>
          </p:cNvPr>
          <p:cNvSpPr/>
          <p:nvPr/>
        </p:nvSpPr>
        <p:spPr>
          <a:xfrm>
            <a:off x="8366056" y="3934817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椭圆 111">
            <a:extLst>
              <a:ext uri="{FF2B5EF4-FFF2-40B4-BE49-F238E27FC236}">
                <a16:creationId id="{9155527A-C87A-4D3F-8375-7A282EB1397A}"/>
              </a:ext>
            </a:extLst>
          </p:cNvPr>
          <p:cNvSpPr/>
          <p:nvPr/>
        </p:nvSpPr>
        <p:spPr>
          <a:xfrm>
            <a:off x="8366056" y="5708157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椭圆 97" hidden="1">
            <a:extLst>
              <a:ext uri="{FF2B5EF4-FFF2-40B4-BE49-F238E27FC236}">
                <a16:creationId id="{E691AFE5-C991-47D3-A391-DB4E03A6E9D1}"/>
              </a:ext>
            </a:extLst>
          </p:cNvPr>
          <p:cNvSpPr/>
          <p:nvPr/>
        </p:nvSpPr>
        <p:spPr>
          <a:xfrm>
            <a:off x="8442072" y="2441107"/>
            <a:ext cx="180000" cy="180000"/>
          </a:xfrm>
          <a:prstGeom prst="ellipse">
            <a:avLst/>
          </a:prstGeom>
          <a:solidFill>
            <a:srgbClr val="FFFF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" name="对象 1" hidden="1">
            <a:extLst>
              <a:ext uri="{FF2B5EF4-FFF2-40B4-BE49-F238E27FC236}">
                <a16:creationId id="{17252BDD-E711-4A1B-8A77-873D21A49D4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25588" y="1588"/>
          <a:ext cx="1588" cy="1588"/>
        </p:xfrm>
        <a:graphic>
          <a:graphicData uri="http://schemas.openxmlformats.org/presentationml/2006/ole">
            <mc:AlternateContent>
              <mc:Choice Requires="v">
                <p:oleObj name="think-cell 幻灯片" r:id="rId4" imgW="407" imgH="305" progId="TCLayout.ActiveDocument.1">
                  <p:embed/>
                </p:oleObj>
              </mc:Choice>
              <mc:Fallback>
                <p:oleObj name="think-cell 幻灯片" r:id="rId4" imgW="407" imgH="305" progId="TCLayout.ActiveDocument.1">
                  <p:embed/>
                  <p:pic>
                    <p:nvPicPr>
                      <p:cNvPr id="2" name="对象 1" hidden="1">
                        <a:extLst>
                          <a:ext uri="{FF2B5EF4-FFF2-40B4-BE49-F238E27FC236}">
                            <a16:creationId id="{17252BDD-E711-4A1B-8A77-873D21A49D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25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" name="标题 2">
            <a:extLst>
              <a:ext uri="{FF2B5EF4-FFF2-40B4-BE49-F238E27FC236}">
                <a16:creationId id="{37C9AE34-BC0E-40C5-8100-3257C84756EA}"/>
              </a:ext>
            </a:extLst>
          </p:cNvPr>
          <p:cNvSpPr txBox="1">
            <a:spLocks/>
          </p:cNvSpPr>
          <p:nvPr/>
        </p:nvSpPr>
        <p:spPr>
          <a:xfrm>
            <a:off x="748599" y="484351"/>
            <a:ext cx="7886700" cy="43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民营银行风险监测体系：</a:t>
            </a:r>
            <a:r>
              <a:rPr lang="en-US" altLang="zh-CN" dirty="0"/>
              <a:t>7,777</a:t>
            </a:r>
            <a:r>
              <a:rPr lang="zh-CN" altLang="en-US" dirty="0"/>
              <a:t>年</a:t>
            </a:r>
            <a:r>
              <a:rPr lang="en-US" altLang="zh-CN" dirty="0"/>
              <a:t>8</a:t>
            </a:r>
            <a:r>
              <a:rPr lang="zh-CN" altLang="en-US" dirty="0"/>
              <a:t>月指标红绿灯</a:t>
            </a:r>
            <a:endParaRPr lang="zh-CN" altLang="zh-CN" sz="1600" dirty="0">
              <a:highlight>
                <a:srgbClr val="FFFF00"/>
              </a:highlight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cxnSp>
        <p:nvCxnSpPr>
          <p:cNvPr id="198" name="直接连接符 197">
            <a:extLst>
              <a:ext uri="{FF2B5EF4-FFF2-40B4-BE49-F238E27FC236}">
                <a16:creationId id="{0B383AB5-492A-4F9B-836D-7F826A3981E8}"/>
              </a:ext>
            </a:extLst>
          </p:cNvPr>
          <p:cNvCxnSpPr/>
          <p:nvPr/>
        </p:nvCxnSpPr>
        <p:spPr>
          <a:xfrm>
            <a:off x="5241252" y="1281269"/>
            <a:ext cx="1692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接连接符 198">
            <a:extLst>
              <a:ext uri="{FF2B5EF4-FFF2-40B4-BE49-F238E27FC236}">
                <a16:creationId id="{44CCC662-7884-4F1F-9CA5-8455006E6C79}"/>
              </a:ext>
            </a:extLst>
          </p:cNvPr>
          <p:cNvCxnSpPr/>
          <p:nvPr/>
        </p:nvCxnSpPr>
        <p:spPr>
          <a:xfrm>
            <a:off x="7003264" y="1281269"/>
            <a:ext cx="1692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椭圆 200">
            <a:extLst>
              <a:ext uri="{FF2B5EF4-FFF2-40B4-BE49-F238E27FC236}">
                <a16:creationId id="{CE74F020-B90B-4B87-AA29-07636D0C0549}"/>
              </a:ext>
            </a:extLst>
          </p:cNvPr>
          <p:cNvSpPr/>
          <p:nvPr/>
        </p:nvSpPr>
        <p:spPr>
          <a:xfrm>
            <a:off x="6008122" y="2423107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CN" altLang="en-US" dirty="0"/>
          </a:p>
        </p:txBody>
      </p:sp>
      <p:sp>
        <p:nvSpPr>
          <p:cNvPr id="204" name="椭圆 203">
            <a:extLst>
              <a:ext uri="{FF2B5EF4-FFF2-40B4-BE49-F238E27FC236}">
                <a16:creationId id="{DFC8A308-9349-4643-B6E0-BCE78A407B0D}"/>
              </a:ext>
            </a:extLst>
          </p:cNvPr>
          <p:cNvSpPr/>
          <p:nvPr/>
        </p:nvSpPr>
        <p:spPr>
          <a:xfrm>
            <a:off x="7774197" y="2423107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7" name="椭圆 206">
            <a:extLst>
              <a:ext uri="{FF2B5EF4-FFF2-40B4-BE49-F238E27FC236}">
                <a16:creationId id="{36473601-ADB4-4D5D-897F-C562FB50E8A2}"/>
              </a:ext>
            </a:extLst>
          </p:cNvPr>
          <p:cNvSpPr/>
          <p:nvPr/>
        </p:nvSpPr>
        <p:spPr>
          <a:xfrm>
            <a:off x="6008122" y="2117500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0" name="椭圆 209">
            <a:extLst>
              <a:ext uri="{FF2B5EF4-FFF2-40B4-BE49-F238E27FC236}">
                <a16:creationId id="{ACCC3385-818C-4CD1-A4B8-0B29864BF364}"/>
              </a:ext>
            </a:extLst>
          </p:cNvPr>
          <p:cNvSpPr/>
          <p:nvPr/>
        </p:nvSpPr>
        <p:spPr>
          <a:xfrm>
            <a:off x="7774197" y="2117500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2" name="椭圆 211">
            <a:extLst>
              <a:ext uri="{FF2B5EF4-FFF2-40B4-BE49-F238E27FC236}">
                <a16:creationId id="{DD0195ED-59F3-4AA7-A02A-A49B76B17821}"/>
              </a:ext>
            </a:extLst>
          </p:cNvPr>
          <p:cNvSpPr/>
          <p:nvPr/>
        </p:nvSpPr>
        <p:spPr>
          <a:xfrm>
            <a:off x="5417188" y="1784668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3" name="椭圆 212">
            <a:extLst>
              <a:ext uri="{FF2B5EF4-FFF2-40B4-BE49-F238E27FC236}">
                <a16:creationId id="{E691AFE5-C991-47D3-A391-DB4E03A6E9D1}"/>
              </a:ext>
            </a:extLst>
          </p:cNvPr>
          <p:cNvSpPr/>
          <p:nvPr/>
        </p:nvSpPr>
        <p:spPr>
          <a:xfrm>
            <a:off x="6008122" y="1777389"/>
            <a:ext cx="180000" cy="180000"/>
          </a:xfrm>
          <a:prstGeom prst="ellipse">
            <a:avLst/>
          </a:prstGeom>
          <a:solidFill>
            <a:srgbClr val="FFFF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4" name="椭圆 213">
            <a:extLst>
              <a:ext uri="{FF2B5EF4-FFF2-40B4-BE49-F238E27FC236}">
                <a16:creationId id="{4767DAD1-9F48-4861-9AF0-B8C334FECCBD}"/>
              </a:ext>
            </a:extLst>
          </p:cNvPr>
          <p:cNvSpPr/>
          <p:nvPr/>
        </p:nvSpPr>
        <p:spPr>
          <a:xfrm>
            <a:off x="6597462" y="1777389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5" name="椭圆 214">
            <a:extLst>
              <a:ext uri="{FF2B5EF4-FFF2-40B4-BE49-F238E27FC236}">
                <a16:creationId id="{5645D131-54D4-4BD3-871F-34D9E3DD775A}"/>
              </a:ext>
            </a:extLst>
          </p:cNvPr>
          <p:cNvSpPr/>
          <p:nvPr/>
        </p:nvSpPr>
        <p:spPr>
          <a:xfrm>
            <a:off x="7184256" y="1777389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6" name="椭圆 215">
            <a:extLst>
              <a:ext uri="{FF2B5EF4-FFF2-40B4-BE49-F238E27FC236}">
                <a16:creationId id="{1B5986C9-3E43-459F-A1CA-36A5B6F2C6D2}"/>
              </a:ext>
            </a:extLst>
          </p:cNvPr>
          <p:cNvSpPr/>
          <p:nvPr/>
        </p:nvSpPr>
        <p:spPr>
          <a:xfrm>
            <a:off x="7774197" y="1777389"/>
            <a:ext cx="180000" cy="180000"/>
          </a:xfrm>
          <a:prstGeom prst="ellipse">
            <a:avLst/>
          </a:prstGeom>
          <a:solidFill>
            <a:srgbClr val="FFFF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7" name="椭圆 216">
            <a:extLst>
              <a:ext uri="{FF2B5EF4-FFF2-40B4-BE49-F238E27FC236}">
                <a16:creationId id="{97AD6E5C-2713-4DFB-8C26-CBF61FA7DD78}"/>
              </a:ext>
            </a:extLst>
          </p:cNvPr>
          <p:cNvSpPr/>
          <p:nvPr/>
        </p:nvSpPr>
        <p:spPr>
          <a:xfrm>
            <a:off x="8364139" y="1777389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8" name="椭圆 217">
            <a:extLst>
              <a:ext uri="{FF2B5EF4-FFF2-40B4-BE49-F238E27FC236}">
                <a16:creationId id="{28980BE9-41C0-4012-A3AB-8E156D368E1A}"/>
              </a:ext>
            </a:extLst>
          </p:cNvPr>
          <p:cNvSpPr/>
          <p:nvPr/>
        </p:nvSpPr>
        <p:spPr>
          <a:xfrm>
            <a:off x="5417188" y="1497660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9" name="椭圆 218">
            <a:extLst>
              <a:ext uri="{FF2B5EF4-FFF2-40B4-BE49-F238E27FC236}">
                <a16:creationId id="{4AFB8C2E-CE3E-46CD-BFAE-60ADC6C41100}"/>
              </a:ext>
            </a:extLst>
          </p:cNvPr>
          <p:cNvSpPr/>
          <p:nvPr/>
        </p:nvSpPr>
        <p:spPr>
          <a:xfrm>
            <a:off x="6008122" y="1497660"/>
            <a:ext cx="180000" cy="180000"/>
          </a:xfrm>
          <a:prstGeom prst="ellipse">
            <a:avLst/>
          </a:prstGeom>
          <a:solidFill>
            <a:srgbClr val="FFFF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0" name="椭圆 219">
            <a:extLst>
              <a:ext uri="{FF2B5EF4-FFF2-40B4-BE49-F238E27FC236}">
                <a16:creationId id="{6D9DFD00-3735-427E-B89E-F0497EEE7A35}"/>
              </a:ext>
            </a:extLst>
          </p:cNvPr>
          <p:cNvSpPr/>
          <p:nvPr/>
        </p:nvSpPr>
        <p:spPr>
          <a:xfrm>
            <a:off x="6597462" y="1497660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221" name="椭圆 220">
            <a:extLst>
              <a:ext uri="{FF2B5EF4-FFF2-40B4-BE49-F238E27FC236}">
                <a16:creationId id="{54EB940D-6DE5-4281-88D6-198BB1798B40}"/>
              </a:ext>
            </a:extLst>
          </p:cNvPr>
          <p:cNvSpPr/>
          <p:nvPr/>
        </p:nvSpPr>
        <p:spPr>
          <a:xfrm>
            <a:off x="7184256" y="1497660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FF00"/>
              </a:highlight>
            </a:endParaRPr>
          </a:p>
        </p:txBody>
      </p:sp>
      <p:sp>
        <p:nvSpPr>
          <p:cNvPr id="222" name="椭圆 221">
            <a:extLst>
              <a:ext uri="{FF2B5EF4-FFF2-40B4-BE49-F238E27FC236}">
                <a16:creationId id="{B7A2D196-F1EE-464A-AE0D-2F3B2DE6730A}"/>
              </a:ext>
            </a:extLst>
          </p:cNvPr>
          <p:cNvSpPr/>
          <p:nvPr/>
        </p:nvSpPr>
        <p:spPr>
          <a:xfrm>
            <a:off x="7774197" y="1497660"/>
            <a:ext cx="180000" cy="180000"/>
          </a:xfrm>
          <a:prstGeom prst="ellipse">
            <a:avLst/>
          </a:prstGeom>
          <a:solidFill>
            <a:srgbClr val="FFFF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3" name="椭圆 222">
            <a:extLst>
              <a:ext uri="{FF2B5EF4-FFF2-40B4-BE49-F238E27FC236}">
                <a16:creationId id="{A4D50B84-A7E8-4E66-A88A-F6D5A516679D}"/>
              </a:ext>
            </a:extLst>
          </p:cNvPr>
          <p:cNvSpPr/>
          <p:nvPr/>
        </p:nvSpPr>
        <p:spPr>
          <a:xfrm>
            <a:off x="8364139" y="1497660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224" name="椭圆 223">
            <a:extLst>
              <a:ext uri="{FF2B5EF4-FFF2-40B4-BE49-F238E27FC236}">
                <a16:creationId id="{6C5CCF56-B9F4-4E2B-A740-8E8A5FC98AA9}"/>
              </a:ext>
            </a:extLst>
          </p:cNvPr>
          <p:cNvSpPr/>
          <p:nvPr/>
        </p:nvSpPr>
        <p:spPr>
          <a:xfrm>
            <a:off x="5417188" y="3594071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5" name="椭圆 224">
            <a:extLst>
              <a:ext uri="{FF2B5EF4-FFF2-40B4-BE49-F238E27FC236}">
                <a16:creationId id="{ADAF2C2A-D64E-43ED-8C2E-72DB9252AD3F}"/>
              </a:ext>
            </a:extLst>
          </p:cNvPr>
          <p:cNvSpPr/>
          <p:nvPr/>
        </p:nvSpPr>
        <p:spPr>
          <a:xfrm>
            <a:off x="6008122" y="3594071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6" name="椭圆 225">
            <a:extLst>
              <a:ext uri="{FF2B5EF4-FFF2-40B4-BE49-F238E27FC236}">
                <a16:creationId id="{68AC086A-71E5-4D17-BD1C-EC6E19D228D9}"/>
              </a:ext>
            </a:extLst>
          </p:cNvPr>
          <p:cNvSpPr/>
          <p:nvPr/>
        </p:nvSpPr>
        <p:spPr>
          <a:xfrm>
            <a:off x="6597462" y="3594071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7" name="椭圆 226">
            <a:extLst>
              <a:ext uri="{FF2B5EF4-FFF2-40B4-BE49-F238E27FC236}">
                <a16:creationId id="{5B4592BE-E9B8-428B-AFF4-135DACBC48BB}"/>
              </a:ext>
            </a:extLst>
          </p:cNvPr>
          <p:cNvSpPr/>
          <p:nvPr/>
        </p:nvSpPr>
        <p:spPr>
          <a:xfrm>
            <a:off x="7184256" y="3594071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8" name="椭圆 227">
            <a:extLst>
              <a:ext uri="{FF2B5EF4-FFF2-40B4-BE49-F238E27FC236}">
                <a16:creationId id="{C8BB6325-ABEE-4794-8C30-8264367C9AF5}"/>
              </a:ext>
            </a:extLst>
          </p:cNvPr>
          <p:cNvSpPr/>
          <p:nvPr/>
        </p:nvSpPr>
        <p:spPr>
          <a:xfrm>
            <a:off x="7774197" y="3594071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9" name="椭圆 228">
            <a:extLst>
              <a:ext uri="{FF2B5EF4-FFF2-40B4-BE49-F238E27FC236}">
                <a16:creationId id="{B9ADA839-4286-43E9-8F1B-629163A31F40}"/>
              </a:ext>
            </a:extLst>
          </p:cNvPr>
          <p:cNvSpPr/>
          <p:nvPr/>
        </p:nvSpPr>
        <p:spPr>
          <a:xfrm>
            <a:off x="8364139" y="3594071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0" name="椭圆 229">
            <a:extLst>
              <a:ext uri="{FF2B5EF4-FFF2-40B4-BE49-F238E27FC236}">
                <a16:creationId id="{A99F4372-955E-4DCA-9C16-E415544D7523}"/>
              </a:ext>
            </a:extLst>
          </p:cNvPr>
          <p:cNvSpPr/>
          <p:nvPr/>
        </p:nvSpPr>
        <p:spPr>
          <a:xfrm>
            <a:off x="5417188" y="3297090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1" name="椭圆 230">
            <a:extLst>
              <a:ext uri="{FF2B5EF4-FFF2-40B4-BE49-F238E27FC236}">
                <a16:creationId id="{94B8F919-A2FC-4305-89D6-967F04A928AF}"/>
              </a:ext>
            </a:extLst>
          </p:cNvPr>
          <p:cNvSpPr/>
          <p:nvPr/>
        </p:nvSpPr>
        <p:spPr>
          <a:xfrm>
            <a:off x="6008122" y="3297090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3" name="椭圆 232">
            <a:extLst>
              <a:ext uri="{FF2B5EF4-FFF2-40B4-BE49-F238E27FC236}">
                <a16:creationId id="{5A546A5C-EBFE-4980-AA8A-C8F1D48469DD}"/>
              </a:ext>
            </a:extLst>
          </p:cNvPr>
          <p:cNvSpPr/>
          <p:nvPr/>
        </p:nvSpPr>
        <p:spPr>
          <a:xfrm>
            <a:off x="7184256" y="3297090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4" name="椭圆 233">
            <a:extLst>
              <a:ext uri="{FF2B5EF4-FFF2-40B4-BE49-F238E27FC236}">
                <a16:creationId id="{856969D0-D681-41B2-9808-0AF54C5BCCF2}"/>
              </a:ext>
            </a:extLst>
          </p:cNvPr>
          <p:cNvSpPr/>
          <p:nvPr/>
        </p:nvSpPr>
        <p:spPr>
          <a:xfrm>
            <a:off x="7774197" y="3297090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7" name="椭圆 236">
            <a:extLst>
              <a:ext uri="{FF2B5EF4-FFF2-40B4-BE49-F238E27FC236}">
                <a16:creationId id="{763AED71-E8F6-4877-800A-3F5F7A2B9A9C}"/>
              </a:ext>
            </a:extLst>
          </p:cNvPr>
          <p:cNvSpPr/>
          <p:nvPr/>
        </p:nvSpPr>
        <p:spPr>
          <a:xfrm>
            <a:off x="6008122" y="2721296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8" name="椭圆 237">
            <a:extLst>
              <a:ext uri="{FF2B5EF4-FFF2-40B4-BE49-F238E27FC236}">
                <a16:creationId id="{52B8AA66-79CB-4E76-8BDE-763B24C0330E}"/>
              </a:ext>
            </a:extLst>
          </p:cNvPr>
          <p:cNvSpPr/>
          <p:nvPr/>
        </p:nvSpPr>
        <p:spPr>
          <a:xfrm>
            <a:off x="6597462" y="2721296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40" name="椭圆 239">
            <a:extLst>
              <a:ext uri="{FF2B5EF4-FFF2-40B4-BE49-F238E27FC236}">
                <a16:creationId id="{B0768B1C-90A6-41A0-85D9-145C98079BB0}"/>
              </a:ext>
            </a:extLst>
          </p:cNvPr>
          <p:cNvSpPr/>
          <p:nvPr/>
        </p:nvSpPr>
        <p:spPr>
          <a:xfrm>
            <a:off x="7774197" y="2721296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1" name="椭圆 240">
            <a:extLst>
              <a:ext uri="{FF2B5EF4-FFF2-40B4-BE49-F238E27FC236}">
                <a16:creationId id="{669C080D-6910-42DF-BDFB-9D7796522E2F}"/>
              </a:ext>
            </a:extLst>
          </p:cNvPr>
          <p:cNvSpPr/>
          <p:nvPr/>
        </p:nvSpPr>
        <p:spPr>
          <a:xfrm>
            <a:off x="8364139" y="2721296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42" name="椭圆 241">
            <a:extLst>
              <a:ext uri="{FF2B5EF4-FFF2-40B4-BE49-F238E27FC236}">
                <a16:creationId id="{6E25EB39-1818-4562-A181-A0D99087C858}"/>
              </a:ext>
            </a:extLst>
          </p:cNvPr>
          <p:cNvSpPr/>
          <p:nvPr/>
        </p:nvSpPr>
        <p:spPr>
          <a:xfrm>
            <a:off x="5417188" y="4602197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3" name="椭圆 242">
            <a:extLst>
              <a:ext uri="{FF2B5EF4-FFF2-40B4-BE49-F238E27FC236}">
                <a16:creationId id="{1FB3CF02-DC25-44F3-9DD7-C23BA31A0C4E}"/>
              </a:ext>
            </a:extLst>
          </p:cNvPr>
          <p:cNvSpPr/>
          <p:nvPr/>
        </p:nvSpPr>
        <p:spPr>
          <a:xfrm>
            <a:off x="6007877" y="4603432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4" name="椭圆 243">
            <a:extLst>
              <a:ext uri="{FF2B5EF4-FFF2-40B4-BE49-F238E27FC236}">
                <a16:creationId id="{93359127-424B-44B9-B3BE-730AD5BA53BC}"/>
              </a:ext>
            </a:extLst>
          </p:cNvPr>
          <p:cNvSpPr/>
          <p:nvPr/>
        </p:nvSpPr>
        <p:spPr>
          <a:xfrm>
            <a:off x="6594814" y="4598838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5" name="椭圆 244">
            <a:extLst>
              <a:ext uri="{FF2B5EF4-FFF2-40B4-BE49-F238E27FC236}">
                <a16:creationId id="{E99852D8-4261-47C2-BE3F-51AED5A083A2}"/>
              </a:ext>
            </a:extLst>
          </p:cNvPr>
          <p:cNvSpPr/>
          <p:nvPr/>
        </p:nvSpPr>
        <p:spPr>
          <a:xfrm>
            <a:off x="7191241" y="4603868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6" name="椭圆 245">
            <a:extLst>
              <a:ext uri="{FF2B5EF4-FFF2-40B4-BE49-F238E27FC236}">
                <a16:creationId id="{EDC553E4-6016-4D71-BD81-7F92F3135E29}"/>
              </a:ext>
            </a:extLst>
          </p:cNvPr>
          <p:cNvSpPr/>
          <p:nvPr/>
        </p:nvSpPr>
        <p:spPr>
          <a:xfrm>
            <a:off x="7774197" y="4598838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7" name="椭圆 246">
            <a:extLst>
              <a:ext uri="{FF2B5EF4-FFF2-40B4-BE49-F238E27FC236}">
                <a16:creationId id="{8FE0BAF9-E3A2-402D-9159-8CA6C5061C1F}"/>
              </a:ext>
            </a:extLst>
          </p:cNvPr>
          <p:cNvSpPr/>
          <p:nvPr/>
        </p:nvSpPr>
        <p:spPr>
          <a:xfrm>
            <a:off x="8357153" y="4598838"/>
            <a:ext cx="180000" cy="180000"/>
          </a:xfrm>
          <a:prstGeom prst="ellipse">
            <a:avLst/>
          </a:prstGeom>
          <a:solidFill>
            <a:srgbClr val="FFFF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8" name="椭圆 247">
            <a:extLst>
              <a:ext uri="{FF2B5EF4-FFF2-40B4-BE49-F238E27FC236}">
                <a16:creationId id="{2DC4550C-F207-4A3C-81CD-2D3EA9B43CAA}"/>
              </a:ext>
            </a:extLst>
          </p:cNvPr>
          <p:cNvSpPr/>
          <p:nvPr/>
        </p:nvSpPr>
        <p:spPr>
          <a:xfrm>
            <a:off x="5417188" y="3934817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49" name="椭圆 248">
            <a:extLst>
              <a:ext uri="{FF2B5EF4-FFF2-40B4-BE49-F238E27FC236}">
                <a16:creationId id="{891E01A8-E83E-4E97-9345-E7B53101E2F5}"/>
              </a:ext>
            </a:extLst>
          </p:cNvPr>
          <p:cNvSpPr/>
          <p:nvPr/>
        </p:nvSpPr>
        <p:spPr>
          <a:xfrm>
            <a:off x="6008122" y="3934817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1" name="椭圆 250">
            <a:extLst>
              <a:ext uri="{FF2B5EF4-FFF2-40B4-BE49-F238E27FC236}">
                <a16:creationId id="{2B9C6C25-DCAF-4AA4-AE74-A145247DD056}"/>
              </a:ext>
            </a:extLst>
          </p:cNvPr>
          <p:cNvSpPr/>
          <p:nvPr/>
        </p:nvSpPr>
        <p:spPr>
          <a:xfrm>
            <a:off x="7184256" y="3934817"/>
            <a:ext cx="180000" cy="180000"/>
          </a:xfrm>
          <a:prstGeom prst="ellipse">
            <a:avLst/>
          </a:prstGeom>
          <a:solidFill>
            <a:srgbClr val="FFFF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52" name="椭圆 251">
            <a:extLst>
              <a:ext uri="{FF2B5EF4-FFF2-40B4-BE49-F238E27FC236}">
                <a16:creationId id="{D5B59774-5D2C-4D62-9435-BC02D18DECD3}"/>
              </a:ext>
            </a:extLst>
          </p:cNvPr>
          <p:cNvSpPr/>
          <p:nvPr/>
        </p:nvSpPr>
        <p:spPr>
          <a:xfrm>
            <a:off x="7774197" y="3934817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4" name="椭圆 253">
            <a:extLst>
              <a:ext uri="{FF2B5EF4-FFF2-40B4-BE49-F238E27FC236}">
                <a16:creationId id="{E46048C8-7089-4A82-9313-01E270E3402F}"/>
              </a:ext>
            </a:extLst>
          </p:cNvPr>
          <p:cNvSpPr/>
          <p:nvPr/>
        </p:nvSpPr>
        <p:spPr>
          <a:xfrm>
            <a:off x="5417188" y="5714817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5" name="椭圆 254">
            <a:extLst>
              <a:ext uri="{FF2B5EF4-FFF2-40B4-BE49-F238E27FC236}">
                <a16:creationId id="{1B15481F-4D30-4BC1-8016-38A46E6FD7A8}"/>
              </a:ext>
            </a:extLst>
          </p:cNvPr>
          <p:cNvSpPr/>
          <p:nvPr/>
        </p:nvSpPr>
        <p:spPr>
          <a:xfrm>
            <a:off x="6008122" y="5714817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7" name="椭圆 256">
            <a:extLst>
              <a:ext uri="{FF2B5EF4-FFF2-40B4-BE49-F238E27FC236}">
                <a16:creationId id="{827DA6C0-7760-4150-AA94-08A87036669F}"/>
              </a:ext>
            </a:extLst>
          </p:cNvPr>
          <p:cNvSpPr/>
          <p:nvPr/>
        </p:nvSpPr>
        <p:spPr>
          <a:xfrm>
            <a:off x="7184256" y="5721477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8" name="椭圆 257">
            <a:extLst>
              <a:ext uri="{FF2B5EF4-FFF2-40B4-BE49-F238E27FC236}">
                <a16:creationId id="{6C4A792D-6579-4A33-A4E0-995DD3EE13AE}"/>
              </a:ext>
            </a:extLst>
          </p:cNvPr>
          <p:cNvSpPr/>
          <p:nvPr/>
        </p:nvSpPr>
        <p:spPr>
          <a:xfrm>
            <a:off x="7774197" y="5721477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0" name="椭圆 259">
            <a:extLst>
              <a:ext uri="{FF2B5EF4-FFF2-40B4-BE49-F238E27FC236}">
                <a16:creationId id="{059A89BD-E289-412B-ABDC-E5478E956AE4}"/>
              </a:ext>
            </a:extLst>
          </p:cNvPr>
          <p:cNvSpPr/>
          <p:nvPr/>
        </p:nvSpPr>
        <p:spPr>
          <a:xfrm>
            <a:off x="5417188" y="5415870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1" name="椭圆 260">
            <a:extLst>
              <a:ext uri="{FF2B5EF4-FFF2-40B4-BE49-F238E27FC236}">
                <a16:creationId id="{7E24F30D-CBD6-427A-8331-BF27D12EF4C3}"/>
              </a:ext>
            </a:extLst>
          </p:cNvPr>
          <p:cNvSpPr/>
          <p:nvPr/>
        </p:nvSpPr>
        <p:spPr>
          <a:xfrm>
            <a:off x="6008122" y="5415870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2" name="椭圆 261">
            <a:extLst>
              <a:ext uri="{FF2B5EF4-FFF2-40B4-BE49-F238E27FC236}">
                <a16:creationId id="{0E48ADA0-FB02-4793-9FA8-1849BBDFD223}"/>
              </a:ext>
            </a:extLst>
          </p:cNvPr>
          <p:cNvSpPr/>
          <p:nvPr/>
        </p:nvSpPr>
        <p:spPr>
          <a:xfrm>
            <a:off x="6597462" y="5415870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3" name="椭圆 262">
            <a:extLst>
              <a:ext uri="{FF2B5EF4-FFF2-40B4-BE49-F238E27FC236}">
                <a16:creationId id="{7B37362E-F875-4388-B14F-8F93AE8DC53A}"/>
              </a:ext>
            </a:extLst>
          </p:cNvPr>
          <p:cNvSpPr/>
          <p:nvPr/>
        </p:nvSpPr>
        <p:spPr>
          <a:xfrm>
            <a:off x="7184256" y="5415870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4" name="椭圆 263">
            <a:extLst>
              <a:ext uri="{FF2B5EF4-FFF2-40B4-BE49-F238E27FC236}">
                <a16:creationId id="{26B6DBF9-CA3E-4ACC-9484-EF6AB1CD77C3}"/>
              </a:ext>
            </a:extLst>
          </p:cNvPr>
          <p:cNvSpPr/>
          <p:nvPr/>
        </p:nvSpPr>
        <p:spPr>
          <a:xfrm>
            <a:off x="7774197" y="5415870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5" name="椭圆 264">
            <a:extLst>
              <a:ext uri="{FF2B5EF4-FFF2-40B4-BE49-F238E27FC236}">
                <a16:creationId id="{39C0524C-7B24-47DD-A645-90A91AB893AB}"/>
              </a:ext>
            </a:extLst>
          </p:cNvPr>
          <p:cNvSpPr/>
          <p:nvPr/>
        </p:nvSpPr>
        <p:spPr>
          <a:xfrm>
            <a:off x="8364139" y="5415870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6" name="椭圆 265">
            <a:extLst>
              <a:ext uri="{FF2B5EF4-FFF2-40B4-BE49-F238E27FC236}">
                <a16:creationId id="{6AE06EE5-890E-496D-A711-845A0777551A}"/>
              </a:ext>
            </a:extLst>
          </p:cNvPr>
          <p:cNvSpPr/>
          <p:nvPr/>
        </p:nvSpPr>
        <p:spPr>
          <a:xfrm>
            <a:off x="5417188" y="5119584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67" name="椭圆 266">
            <a:extLst>
              <a:ext uri="{FF2B5EF4-FFF2-40B4-BE49-F238E27FC236}">
                <a16:creationId id="{9155527A-C87A-4D3F-8375-7A282EB1397A}"/>
              </a:ext>
            </a:extLst>
          </p:cNvPr>
          <p:cNvSpPr/>
          <p:nvPr/>
        </p:nvSpPr>
        <p:spPr>
          <a:xfrm>
            <a:off x="6008122" y="5119584"/>
            <a:ext cx="180000" cy="180000"/>
          </a:xfrm>
          <a:prstGeom prst="ellipse">
            <a:avLst/>
          </a:prstGeom>
          <a:solidFill>
            <a:srgbClr val="FFFF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9" name="椭圆 268">
            <a:extLst>
              <a:ext uri="{FF2B5EF4-FFF2-40B4-BE49-F238E27FC236}">
                <a16:creationId id="{A425806C-316C-4E3F-BB78-F62B314729D2}"/>
              </a:ext>
            </a:extLst>
          </p:cNvPr>
          <p:cNvSpPr/>
          <p:nvPr/>
        </p:nvSpPr>
        <p:spPr>
          <a:xfrm>
            <a:off x="7184256" y="5118890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0" name="椭圆 269">
            <a:extLst>
              <a:ext uri="{FF2B5EF4-FFF2-40B4-BE49-F238E27FC236}">
                <a16:creationId id="{80266D81-DB27-490A-9E15-0C39AA5F7640}"/>
              </a:ext>
            </a:extLst>
          </p:cNvPr>
          <p:cNvSpPr/>
          <p:nvPr/>
        </p:nvSpPr>
        <p:spPr>
          <a:xfrm>
            <a:off x="7774197" y="5118890"/>
            <a:ext cx="180000" cy="180000"/>
          </a:xfrm>
          <a:prstGeom prst="ellipse">
            <a:avLst/>
          </a:prstGeom>
          <a:solidFill>
            <a:srgbClr val="FFFF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3" name="文本框 272">
            <a:extLst>
              <a:ext uri="{FF2B5EF4-FFF2-40B4-BE49-F238E27FC236}">
                <a16:creationId id="{25242F40-45F1-4A8E-867B-1C19191C0EF7}"/>
              </a:ext>
            </a:extLst>
          </p:cNvPr>
          <p:cNvSpPr txBox="1"/>
          <p:nvPr/>
        </p:nvSpPr>
        <p:spPr>
          <a:xfrm>
            <a:off x="8951522" y="719685"/>
            <a:ext cx="3130044" cy="1750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rgbClr val="DB1B27"/>
              </a:buClr>
              <a:buFont typeface="Wingdings" panose="05000000000000000000" pitchFamily="2" charset="2"/>
              <a:buChar char="p"/>
            </a:pPr>
            <a:r>
              <a:rPr lang="zh-CN" altLang="en-US" sz="1050" b="1" dirty="0">
                <a:latin typeface="楷体" panose="02010609060101010101" pitchFamily="49" charset="-122"/>
                <a:ea typeface="楷体" panose="02010609060101010101" pitchFamily="49" charset="-122"/>
              </a:rPr>
              <a:t>红灯</a:t>
            </a:r>
            <a:r>
              <a:rPr lang="zh-CN" altLang="en-US" sz="1050" dirty="0">
                <a:latin typeface="楷体" panose="02010609060101010101" pitchFamily="49" charset="-122"/>
                <a:ea typeface="楷体" panose="02010609060101010101" pitchFamily="49" charset="-122"/>
              </a:rPr>
              <a:t>：评估为不达标的指标，需及时与监管沟通并确定优化改进方案。</a:t>
            </a:r>
          </a:p>
          <a:p>
            <a:pPr marL="171450" indent="-171450">
              <a:lnSpc>
                <a:spcPct val="150000"/>
              </a:lnSpc>
              <a:buClr>
                <a:srgbClr val="DB1B27"/>
              </a:buClr>
              <a:buFont typeface="Wingdings" panose="05000000000000000000" pitchFamily="2" charset="2"/>
              <a:buChar char="p"/>
            </a:pPr>
            <a:r>
              <a:rPr lang="zh-CN" altLang="en-US" sz="1050" b="1" dirty="0">
                <a:latin typeface="楷体" panose="02010609060101010101" pitchFamily="49" charset="-122"/>
                <a:ea typeface="楷体" panose="02010609060101010101" pitchFamily="49" charset="-122"/>
              </a:rPr>
              <a:t>黄灯</a:t>
            </a:r>
            <a:r>
              <a:rPr lang="zh-CN" altLang="en-US" sz="1050" dirty="0">
                <a:latin typeface="楷体" panose="02010609060101010101" pitchFamily="49" charset="-122"/>
                <a:ea typeface="楷体" panose="02010609060101010101" pitchFamily="49" charset="-122"/>
              </a:rPr>
              <a:t>：评估为需关注的指标（超过各职能部门评估确定的差异化管理限额、连续</a:t>
            </a:r>
            <a:r>
              <a:rPr lang="en-US" altLang="zh-CN" sz="1050" dirty="0">
                <a:latin typeface="楷体" panose="02010609060101010101" pitchFamily="49" charset="-122"/>
                <a:ea typeface="楷体" panose="02010609060101010101" pitchFamily="49" charset="-122"/>
              </a:rPr>
              <a:t>9</a:t>
            </a:r>
            <a:r>
              <a:rPr lang="zh-CN" altLang="en-US" sz="1050" dirty="0">
                <a:latin typeface="楷体" panose="02010609060101010101" pitchFamily="49" charset="-122"/>
                <a:ea typeface="楷体" panose="02010609060101010101" pitchFamily="49" charset="-122"/>
              </a:rPr>
              <a:t>个月</a:t>
            </a:r>
            <a:r>
              <a:rPr lang="en-US" altLang="zh-CN" sz="1050" dirty="0">
                <a:latin typeface="楷体" panose="02010609060101010101" pitchFamily="49" charset="-122"/>
                <a:ea typeface="楷体" panose="02010609060101010101" pitchFamily="49" charset="-122"/>
              </a:rPr>
              <a:t>/1</a:t>
            </a:r>
            <a:r>
              <a:rPr lang="zh-CN" altLang="en-US" sz="1050" dirty="0">
                <a:latin typeface="楷体" panose="02010609060101010101" pitchFamily="49" charset="-122"/>
                <a:ea typeface="楷体" panose="02010609060101010101" pitchFamily="49" charset="-122"/>
              </a:rPr>
              <a:t>季度变差），需做好筹划及优化工作。</a:t>
            </a:r>
            <a:endParaRPr lang="en-US" altLang="zh-CN" sz="105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buClr>
                <a:srgbClr val="DB1B27"/>
              </a:buClr>
            </a:pPr>
            <a:endParaRPr lang="en-US" altLang="zh-CN" sz="1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buClr>
                <a:srgbClr val="DB1B27"/>
              </a:buClr>
            </a:pPr>
            <a:endParaRPr lang="en-US" altLang="zh-CN" sz="11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5" name="椭圆 104">
            <a:extLst>
              <a:ext uri="{FF2B5EF4-FFF2-40B4-BE49-F238E27FC236}">
                <a16:creationId id="{763AED71-E8F6-4877-800A-3F5F7A2B9A9C}"/>
              </a:ext>
            </a:extLst>
          </p:cNvPr>
          <p:cNvSpPr/>
          <p:nvPr/>
        </p:nvSpPr>
        <p:spPr>
          <a:xfrm>
            <a:off x="5417188" y="2729001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103" name="椭圆 102">
            <a:extLst>
              <a:ext uri="{FF2B5EF4-FFF2-40B4-BE49-F238E27FC236}">
                <a16:creationId id="{763AED71-E8F6-4877-800A-3F5F7A2B9A9C}"/>
              </a:ext>
            </a:extLst>
          </p:cNvPr>
          <p:cNvSpPr/>
          <p:nvPr/>
        </p:nvSpPr>
        <p:spPr>
          <a:xfrm>
            <a:off x="7184256" y="2722310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2" name="椭圆 121">
            <a:extLst>
              <a:ext uri="{FF2B5EF4-FFF2-40B4-BE49-F238E27FC236}">
                <a16:creationId id="{9155527A-C87A-4D3F-8375-7A282EB1397A}"/>
              </a:ext>
            </a:extLst>
          </p:cNvPr>
          <p:cNvSpPr/>
          <p:nvPr/>
        </p:nvSpPr>
        <p:spPr>
          <a:xfrm>
            <a:off x="6597462" y="5714817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113" name="椭圆 112">
            <a:extLst>
              <a:ext uri="{FF2B5EF4-FFF2-40B4-BE49-F238E27FC236}">
                <a16:creationId id="{DED2407A-8C37-44AE-A2B5-60C1C5557155}"/>
              </a:ext>
            </a:extLst>
          </p:cNvPr>
          <p:cNvSpPr/>
          <p:nvPr/>
        </p:nvSpPr>
        <p:spPr>
          <a:xfrm>
            <a:off x="6597462" y="3934817"/>
            <a:ext cx="180000" cy="180000"/>
          </a:xfrm>
          <a:prstGeom prst="ellipse">
            <a:avLst/>
          </a:prstGeom>
          <a:solidFill>
            <a:srgbClr val="FFFF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9" name="椭圆 128">
            <a:extLst>
              <a:ext uri="{FF2B5EF4-FFF2-40B4-BE49-F238E27FC236}">
                <a16:creationId id="{EF7275C3-3646-46A9-8A81-2E5A90765D35}"/>
              </a:ext>
            </a:extLst>
          </p:cNvPr>
          <p:cNvSpPr/>
          <p:nvPr/>
        </p:nvSpPr>
        <p:spPr>
          <a:xfrm>
            <a:off x="6597672" y="3299302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134" name="椭圆 133">
            <a:extLst>
              <a:ext uri="{FF2B5EF4-FFF2-40B4-BE49-F238E27FC236}">
                <a16:creationId id="{2380F16E-E641-4A1C-8220-C32FD2802C42}"/>
              </a:ext>
            </a:extLst>
          </p:cNvPr>
          <p:cNvSpPr/>
          <p:nvPr/>
        </p:nvSpPr>
        <p:spPr>
          <a:xfrm>
            <a:off x="6597462" y="5119584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5" name="椭圆 134">
            <a:extLst>
              <a:ext uri="{FF2B5EF4-FFF2-40B4-BE49-F238E27FC236}">
                <a16:creationId id="{FD74E1B9-0B3B-4FDF-A0EB-4AF66B9C4DE4}"/>
              </a:ext>
            </a:extLst>
          </p:cNvPr>
          <p:cNvSpPr/>
          <p:nvPr/>
        </p:nvSpPr>
        <p:spPr>
          <a:xfrm>
            <a:off x="5417188" y="2123888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  <a:highlight>
                <a:srgbClr val="FF0000"/>
              </a:highlight>
            </a:endParaRPr>
          </a:p>
        </p:txBody>
      </p:sp>
      <p:sp>
        <p:nvSpPr>
          <p:cNvPr id="141" name="椭圆 140">
            <a:extLst>
              <a:ext uri="{FF2B5EF4-FFF2-40B4-BE49-F238E27FC236}">
                <a16:creationId id="{D945BA02-B700-4EE2-8E24-5D40578C1F54}"/>
              </a:ext>
            </a:extLst>
          </p:cNvPr>
          <p:cNvSpPr/>
          <p:nvPr/>
        </p:nvSpPr>
        <p:spPr>
          <a:xfrm>
            <a:off x="6597462" y="3010082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2" name="椭圆 141">
            <a:extLst>
              <a:ext uri="{FF2B5EF4-FFF2-40B4-BE49-F238E27FC236}">
                <a16:creationId id="{28F2DAD2-C3A2-4A59-8A57-D10E1C2C0D0D}"/>
              </a:ext>
            </a:extLst>
          </p:cNvPr>
          <p:cNvSpPr/>
          <p:nvPr/>
        </p:nvSpPr>
        <p:spPr>
          <a:xfrm>
            <a:off x="6008122" y="3010082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" name="椭圆 142">
            <a:extLst>
              <a:ext uri="{FF2B5EF4-FFF2-40B4-BE49-F238E27FC236}">
                <a16:creationId id="{5FD8C98D-79C2-47D1-AACA-A76B3BD962E8}"/>
              </a:ext>
            </a:extLst>
          </p:cNvPr>
          <p:cNvSpPr/>
          <p:nvPr/>
        </p:nvSpPr>
        <p:spPr>
          <a:xfrm>
            <a:off x="6597462" y="2108862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  <a:highlight>
                <a:srgbClr val="FF0000"/>
              </a:highlight>
            </a:endParaRPr>
          </a:p>
        </p:txBody>
      </p:sp>
      <p:sp>
        <p:nvSpPr>
          <p:cNvPr id="144" name="椭圆 143">
            <a:extLst>
              <a:ext uri="{FF2B5EF4-FFF2-40B4-BE49-F238E27FC236}">
                <a16:creationId id="{DC225CF5-7504-443F-9A01-F01723BA0F5B}"/>
              </a:ext>
            </a:extLst>
          </p:cNvPr>
          <p:cNvSpPr/>
          <p:nvPr/>
        </p:nvSpPr>
        <p:spPr>
          <a:xfrm>
            <a:off x="5417188" y="2418405"/>
            <a:ext cx="180000" cy="180000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  <a:highlight>
                <a:srgbClr val="FF0000"/>
              </a:highlight>
            </a:endParaRPr>
          </a:p>
        </p:txBody>
      </p:sp>
      <p:sp>
        <p:nvSpPr>
          <p:cNvPr id="145" name="椭圆 144">
            <a:extLst>
              <a:ext uri="{FF2B5EF4-FFF2-40B4-BE49-F238E27FC236}">
                <a16:creationId id="{5CE21861-E4C4-47D1-9697-351F04D9CD7C}"/>
              </a:ext>
            </a:extLst>
          </p:cNvPr>
          <p:cNvSpPr/>
          <p:nvPr/>
        </p:nvSpPr>
        <p:spPr>
          <a:xfrm>
            <a:off x="6597462" y="2421760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  <a:highlight>
                <a:srgbClr val="FF0000"/>
              </a:highlight>
            </a:endParaRPr>
          </a:p>
        </p:txBody>
      </p:sp>
      <p:sp>
        <p:nvSpPr>
          <p:cNvPr id="109" name="椭圆 108">
            <a:extLst>
              <a:ext uri="{FF2B5EF4-FFF2-40B4-BE49-F238E27FC236}">
                <a16:creationId id="{2D7A42B4-F63F-4231-803F-CD1081866356}"/>
              </a:ext>
            </a:extLst>
          </p:cNvPr>
          <p:cNvSpPr/>
          <p:nvPr/>
        </p:nvSpPr>
        <p:spPr>
          <a:xfrm>
            <a:off x="5417188" y="3010082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5" name="文本框 114">
            <a:extLst>
              <a:ext uri="{FF2B5EF4-FFF2-40B4-BE49-F238E27FC236}">
                <a16:creationId id="{4F342FBE-8A27-4504-B22F-A93B6126165C}"/>
              </a:ext>
            </a:extLst>
          </p:cNvPr>
          <p:cNvSpPr txBox="1"/>
          <p:nvPr/>
        </p:nvSpPr>
        <p:spPr>
          <a:xfrm>
            <a:off x="1176411" y="6329050"/>
            <a:ext cx="942975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DB1B27"/>
              </a:buClr>
            </a:pPr>
            <a:r>
              <a:rPr lang="zh-CN" altLang="en-US" sz="1100" b="1" dirty="0">
                <a:latin typeface="楷体" panose="02010609060101010101" pitchFamily="49" charset="-122"/>
                <a:ea typeface="楷体" panose="02010609060101010101" pitchFamily="49" charset="-122"/>
              </a:rPr>
              <a:t>备注</a:t>
            </a:r>
            <a:r>
              <a:rPr lang="zh-CN" altLang="en-US" sz="1100" dirty="0"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en-US" altLang="zh-CN" sz="11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11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1100" dirty="0">
                <a:latin typeface="楷体" panose="02010609060101010101" pitchFamily="49" charset="-122"/>
                <a:ea typeface="楷体" panose="02010609060101010101" pitchFamily="49" charset="-122"/>
              </a:rPr>
              <a:t>*</a:t>
            </a:r>
            <a:r>
              <a:rPr lang="en-US" altLang="zh-CN" sz="11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*</a:t>
            </a:r>
            <a:r>
              <a:rPr lang="en-US" altLang="zh-CN" sz="1100" dirty="0">
                <a:latin typeface="楷体" panose="02010609060101010101" pitchFamily="49" charset="-122"/>
                <a:ea typeface="楷体" panose="02010609060101010101" pitchFamily="49" charset="-122"/>
              </a:rPr>
              <a:t>: </a:t>
            </a:r>
            <a:r>
              <a:rPr lang="zh-CN" altLang="en-US" sz="1100" dirty="0">
                <a:latin typeface="楷体" panose="02010609060101010101" pitchFamily="49" charset="-122"/>
                <a:ea typeface="楷体" panose="02010609060101010101" pitchFamily="49" charset="-122"/>
              </a:rPr>
              <a:t>该指标为上季度末辖内银行业金融机构平均值（季度阈值）。</a:t>
            </a:r>
            <a:endParaRPr lang="en-US" altLang="zh-CN" sz="11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buClr>
                <a:srgbClr val="DB1B27"/>
              </a:buClr>
            </a:pPr>
            <a:r>
              <a:rPr lang="en-US" altLang="zh-CN" sz="1100" dirty="0">
                <a:latin typeface="楷体" panose="02010609060101010101" pitchFamily="49" charset="-122"/>
                <a:ea typeface="楷体" panose="02010609060101010101" pitchFamily="49" charset="-122"/>
              </a:rPr>
              <a:t>      3</a:t>
            </a:r>
            <a:r>
              <a:rPr lang="zh-CN" altLang="en-US" sz="11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1100" dirty="0">
                <a:latin typeface="楷体" panose="02010609060101010101" pitchFamily="49" charset="-122"/>
                <a:ea typeface="楷体" panose="02010609060101010101" pitchFamily="49" charset="-122"/>
              </a:rPr>
              <a:t>**</a:t>
            </a:r>
            <a:r>
              <a:rPr lang="en-US" altLang="zh-CN" sz="11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*</a:t>
            </a:r>
            <a:r>
              <a:rPr lang="en-US" altLang="zh-CN" sz="1100" dirty="0">
                <a:latin typeface="楷体" panose="02010609060101010101" pitchFamily="49" charset="-122"/>
                <a:ea typeface="楷体" panose="02010609060101010101" pitchFamily="49" charset="-122"/>
              </a:rPr>
              <a:t>: </a:t>
            </a:r>
            <a:r>
              <a:rPr lang="zh-CN" altLang="en-US" sz="1100" dirty="0">
                <a:latin typeface="楷体" panose="02010609060101010101" pitchFamily="49" charset="-122"/>
                <a:ea typeface="楷体" panose="02010609060101010101" pitchFamily="49" charset="-122"/>
              </a:rPr>
              <a:t>该指标为初算值。</a:t>
            </a:r>
            <a:endParaRPr lang="en-US" altLang="zh-CN" sz="11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9" name="椭圆 118">
            <a:extLst>
              <a:ext uri="{FF2B5EF4-FFF2-40B4-BE49-F238E27FC236}">
                <a16:creationId id="{4DBFC2D8-2E68-4A43-92D0-97BB85A8F6DA}"/>
              </a:ext>
            </a:extLst>
          </p:cNvPr>
          <p:cNvSpPr/>
          <p:nvPr/>
        </p:nvSpPr>
        <p:spPr>
          <a:xfrm>
            <a:off x="9023145" y="795298"/>
            <a:ext cx="180000" cy="180000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0" name="椭圆 119">
            <a:extLst>
              <a:ext uri="{FF2B5EF4-FFF2-40B4-BE49-F238E27FC236}">
                <a16:creationId id="{61F98FED-E4B5-4526-BAF2-B16EDBEA2FD1}"/>
              </a:ext>
            </a:extLst>
          </p:cNvPr>
          <p:cNvSpPr/>
          <p:nvPr/>
        </p:nvSpPr>
        <p:spPr>
          <a:xfrm>
            <a:off x="9016888" y="1295999"/>
            <a:ext cx="180000" cy="180000"/>
          </a:xfrm>
          <a:prstGeom prst="ellipse">
            <a:avLst/>
          </a:prstGeom>
          <a:solidFill>
            <a:srgbClr val="FFFF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椭圆 155">
            <a:extLst>
              <a:ext uri="{FF2B5EF4-FFF2-40B4-BE49-F238E27FC236}">
                <a16:creationId id="{D5D03EC6-EC49-4B85-A46A-074FD52DE0FD}"/>
              </a:ext>
            </a:extLst>
          </p:cNvPr>
          <p:cNvSpPr/>
          <p:nvPr/>
        </p:nvSpPr>
        <p:spPr>
          <a:xfrm>
            <a:off x="5417188" y="6036119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8" name="椭圆 157">
            <a:extLst>
              <a:ext uri="{FF2B5EF4-FFF2-40B4-BE49-F238E27FC236}">
                <a16:creationId id="{B6D737E4-889A-4F16-92C4-8C7AE443CC88}"/>
              </a:ext>
            </a:extLst>
          </p:cNvPr>
          <p:cNvSpPr/>
          <p:nvPr/>
        </p:nvSpPr>
        <p:spPr>
          <a:xfrm>
            <a:off x="6025106" y="6037343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9" name="椭圆 158">
            <a:extLst>
              <a:ext uri="{FF2B5EF4-FFF2-40B4-BE49-F238E27FC236}">
                <a16:creationId id="{EDF21B17-4B7B-4D0E-8E90-64C8E89B7647}"/>
              </a:ext>
            </a:extLst>
          </p:cNvPr>
          <p:cNvSpPr/>
          <p:nvPr/>
        </p:nvSpPr>
        <p:spPr>
          <a:xfrm>
            <a:off x="6594814" y="6039840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文本框 123">
            <a:extLst>
              <a:ext uri="{FF2B5EF4-FFF2-40B4-BE49-F238E27FC236}">
                <a16:creationId id="{D1691CCE-7612-42EF-AD69-13B6675143AE}"/>
              </a:ext>
            </a:extLst>
          </p:cNvPr>
          <p:cNvSpPr txBox="1"/>
          <p:nvPr/>
        </p:nvSpPr>
        <p:spPr>
          <a:xfrm>
            <a:off x="9071841" y="1957389"/>
            <a:ext cx="3068655" cy="2849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>
                <a:srgbClr val="DB1B27"/>
              </a:buClr>
            </a:pPr>
            <a:r>
              <a:rPr lang="zh-CN" altLang="en-US" sz="1100" b="1" dirty="0">
                <a:latin typeface="楷体" panose="02010609060101010101" pitchFamily="49" charset="-122"/>
                <a:ea typeface="楷体" panose="02010609060101010101" pitchFamily="49" charset="-122"/>
              </a:rPr>
              <a:t>需关注或不达标指标的应对措施</a:t>
            </a:r>
            <a:endParaRPr lang="en-US" altLang="zh-CN" sz="11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buClr>
                <a:srgbClr val="DB1B27"/>
              </a:buClr>
            </a:pPr>
            <a:r>
              <a:rPr lang="zh-CN" altLang="en-US" sz="1000" b="1" dirty="0">
                <a:latin typeface="楷体" panose="02010609060101010101" pitchFamily="49" charset="-122"/>
                <a:ea typeface="楷体" panose="02010609060101010101" pitchFamily="49" charset="-122"/>
              </a:rPr>
              <a:t>资本充足类（分布类）</a:t>
            </a:r>
            <a:r>
              <a:rPr lang="zh-CN" altLang="en-US" sz="1000" dirty="0"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endParaRPr lang="en-US" altLang="zh-CN" sz="1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buClr>
                <a:srgbClr val="DB1B27"/>
              </a:buClr>
            </a:pPr>
            <a:r>
              <a:rPr lang="zh-CN" altLang="en-US" sz="1000" dirty="0">
                <a:latin typeface="楷体" panose="02010609060101010101" pitchFamily="49" charset="-122"/>
                <a:ea typeface="楷体" panose="02010609060101010101" pitchFamily="49" charset="-122"/>
              </a:rPr>
              <a:t>继续优化资产组合，增加低资本占用资产，保持风险加权资产增速与资本积累速度相匹配，保持资本充足率平稳。</a:t>
            </a:r>
            <a:endParaRPr lang="en-US" altLang="zh-CN" sz="1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buClr>
                <a:srgbClr val="DB1B27"/>
              </a:buClr>
            </a:pPr>
            <a:r>
              <a:rPr lang="zh-CN" altLang="en-US" sz="1000" b="1" dirty="0">
                <a:latin typeface="楷体" panose="02010609060101010101" pitchFamily="49" charset="-122"/>
                <a:ea typeface="楷体" panose="02010609060101010101" pitchFamily="49" charset="-122"/>
              </a:rPr>
              <a:t>资产质量类（阈值类）</a:t>
            </a:r>
            <a:r>
              <a:rPr lang="zh-CN" altLang="en-US" sz="1000" dirty="0">
                <a:latin typeface="楷体" panose="02010609060101010101" pitchFamily="49" charset="-122"/>
                <a:ea typeface="楷体" panose="02010609060101010101" pitchFamily="49" charset="-122"/>
              </a:rPr>
              <a:t>：加强全行不良生成情况监测，对相关产品采用严控准入、加强催收、应核尽核的方式优化指标。</a:t>
            </a:r>
            <a:endParaRPr lang="en-US" altLang="zh-CN" sz="1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buClr>
                <a:srgbClr val="DB1B27"/>
              </a:buClr>
            </a:pPr>
            <a:r>
              <a:rPr lang="zh-CN" altLang="en-US" sz="1000" b="1" dirty="0">
                <a:latin typeface="楷体" panose="02010609060101010101" pitchFamily="49" charset="-122"/>
                <a:ea typeface="楷体" panose="02010609060101010101" pitchFamily="49" charset="-122"/>
              </a:rPr>
              <a:t>流动性风险（分布类）：</a:t>
            </a:r>
            <a:r>
              <a:rPr lang="zh-CN" altLang="en-US" sz="1000" dirty="0">
                <a:latin typeface="楷体" panose="02010609060101010101" pitchFamily="49" charset="-122"/>
                <a:ea typeface="楷体" panose="02010609060101010101" pitchFamily="49" charset="-122"/>
              </a:rPr>
              <a:t>将通过适度吸收同业负债、优化负债期限结构、提升流动性资产配置规模，提升流动性比例。</a:t>
            </a:r>
            <a:endParaRPr lang="en-US" altLang="zh-CN" sz="1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buClr>
                <a:srgbClr val="DB1B27"/>
              </a:buClr>
            </a:pPr>
            <a:endParaRPr lang="en-US" altLang="zh-CN" sz="1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箭头: 上 95">
            <a:extLst>
              <a:ext uri="{FF2B5EF4-FFF2-40B4-BE49-F238E27FC236}">
                <a16:creationId id="{32A47CFF-D325-7DE7-9778-3A0D9A193BCF}"/>
              </a:ext>
            </a:extLst>
          </p:cNvPr>
          <p:cNvSpPr/>
          <p:nvPr/>
        </p:nvSpPr>
        <p:spPr>
          <a:xfrm>
            <a:off x="4240527" y="2135500"/>
            <a:ext cx="72000" cy="162000"/>
          </a:xfrm>
          <a:prstGeom prst="upArrow">
            <a:avLst/>
          </a:prstGeom>
          <a:solidFill>
            <a:srgbClr val="2653A1">
              <a:alpha val="8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箭头: 上 95">
            <a:extLst>
              <a:ext uri="{FF2B5EF4-FFF2-40B4-BE49-F238E27FC236}">
                <a16:creationId id="{8109C0D4-A900-AA27-FF19-4B70B141BDF1}"/>
              </a:ext>
            </a:extLst>
          </p:cNvPr>
          <p:cNvSpPr/>
          <p:nvPr/>
        </p:nvSpPr>
        <p:spPr>
          <a:xfrm>
            <a:off x="4246277" y="2747001"/>
            <a:ext cx="66931" cy="162000"/>
          </a:xfrm>
          <a:prstGeom prst="upArrow">
            <a:avLst/>
          </a:prstGeom>
          <a:solidFill>
            <a:srgbClr val="2653A1">
              <a:alpha val="8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箭头: 下 92">
            <a:extLst>
              <a:ext uri="{FF2B5EF4-FFF2-40B4-BE49-F238E27FC236}">
                <a16:creationId id="{CCF6ABC9-9B76-4E65-9DBE-E39A2F3B41FA}"/>
              </a:ext>
            </a:extLst>
          </p:cNvPr>
          <p:cNvSpPr/>
          <p:nvPr/>
        </p:nvSpPr>
        <p:spPr>
          <a:xfrm>
            <a:off x="4244871" y="3041665"/>
            <a:ext cx="72000" cy="162000"/>
          </a:xfrm>
          <a:prstGeom prst="downArrow">
            <a:avLst/>
          </a:prstGeom>
          <a:solidFill>
            <a:srgbClr val="2653A1">
              <a:alpha val="8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4" name="箭头: 下 92">
            <a:extLst>
              <a:ext uri="{FF2B5EF4-FFF2-40B4-BE49-F238E27FC236}">
                <a16:creationId id="{1A9FE808-E8C2-4B65-9675-412D13AFC9A9}"/>
              </a:ext>
            </a:extLst>
          </p:cNvPr>
          <p:cNvSpPr/>
          <p:nvPr/>
        </p:nvSpPr>
        <p:spPr>
          <a:xfrm>
            <a:off x="5061237" y="6066189"/>
            <a:ext cx="72000" cy="162000"/>
          </a:xfrm>
          <a:prstGeom prst="downArrow">
            <a:avLst/>
          </a:prstGeom>
          <a:solidFill>
            <a:srgbClr val="2653A1">
              <a:alpha val="8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椭圆 115">
            <a:extLst>
              <a:ext uri="{FF2B5EF4-FFF2-40B4-BE49-F238E27FC236}">
                <a16:creationId id="{BEFFEA40-CC14-4A44-9072-52BC185AF75C}"/>
              </a:ext>
            </a:extLst>
          </p:cNvPr>
          <p:cNvSpPr/>
          <p:nvPr/>
        </p:nvSpPr>
        <p:spPr>
          <a:xfrm>
            <a:off x="7181137" y="4234187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7" name="椭圆 116">
            <a:extLst>
              <a:ext uri="{FF2B5EF4-FFF2-40B4-BE49-F238E27FC236}">
                <a16:creationId id="{B05867FF-22B3-4CB5-A8E5-C246653CC8FC}"/>
              </a:ext>
            </a:extLst>
          </p:cNvPr>
          <p:cNvSpPr/>
          <p:nvPr/>
        </p:nvSpPr>
        <p:spPr>
          <a:xfrm>
            <a:off x="7774197" y="4234187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6" name="椭圆 125">
            <a:extLst>
              <a:ext uri="{FF2B5EF4-FFF2-40B4-BE49-F238E27FC236}">
                <a16:creationId id="{6A827C97-6429-49E1-948A-691DC9E0A709}"/>
              </a:ext>
            </a:extLst>
          </p:cNvPr>
          <p:cNvSpPr/>
          <p:nvPr/>
        </p:nvSpPr>
        <p:spPr>
          <a:xfrm>
            <a:off x="6008116" y="4234187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8" name="椭圆 127">
            <a:extLst>
              <a:ext uri="{FF2B5EF4-FFF2-40B4-BE49-F238E27FC236}">
                <a16:creationId id="{8987729D-D045-4A97-B2AA-DA08DB462C37}"/>
              </a:ext>
            </a:extLst>
          </p:cNvPr>
          <p:cNvSpPr/>
          <p:nvPr/>
        </p:nvSpPr>
        <p:spPr>
          <a:xfrm>
            <a:off x="5421418" y="4234187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0" name="椭圆 129">
            <a:extLst>
              <a:ext uri="{FF2B5EF4-FFF2-40B4-BE49-F238E27FC236}">
                <a16:creationId id="{CDEC53E5-32DD-4BBC-A42C-581675ACDA26}"/>
              </a:ext>
            </a:extLst>
          </p:cNvPr>
          <p:cNvSpPr/>
          <p:nvPr/>
        </p:nvSpPr>
        <p:spPr>
          <a:xfrm>
            <a:off x="6594439" y="4233764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  <a:highlight>
                <a:srgbClr val="FF0000"/>
              </a:highlight>
            </a:endParaRPr>
          </a:p>
        </p:txBody>
      </p:sp>
      <p:sp>
        <p:nvSpPr>
          <p:cNvPr id="147" name="箭头: 下 92">
            <a:extLst>
              <a:ext uri="{FF2B5EF4-FFF2-40B4-BE49-F238E27FC236}">
                <a16:creationId id="{B7646BBD-C917-4BC3-BD7A-331A7A5B0CB5}"/>
              </a:ext>
            </a:extLst>
          </p:cNvPr>
          <p:cNvSpPr/>
          <p:nvPr/>
        </p:nvSpPr>
        <p:spPr>
          <a:xfrm>
            <a:off x="5051392" y="3361546"/>
            <a:ext cx="72000" cy="162000"/>
          </a:xfrm>
          <a:prstGeom prst="downArrow">
            <a:avLst/>
          </a:prstGeom>
          <a:solidFill>
            <a:srgbClr val="2653A1">
              <a:alpha val="8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6" name="椭圆 145">
            <a:extLst>
              <a:ext uri="{FF2B5EF4-FFF2-40B4-BE49-F238E27FC236}">
                <a16:creationId id="{5463C484-E215-454C-999C-B48B0A21C0EC}"/>
              </a:ext>
            </a:extLst>
          </p:cNvPr>
          <p:cNvSpPr/>
          <p:nvPr/>
        </p:nvSpPr>
        <p:spPr>
          <a:xfrm>
            <a:off x="8364114" y="4244597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2" name="矩形 271">
            <a:extLst>
              <a:ext uri="{FF2B5EF4-FFF2-40B4-BE49-F238E27FC236}">
                <a16:creationId id="{8D0BA948-CD26-47E0-85B5-0653607E7258}"/>
              </a:ext>
            </a:extLst>
          </p:cNvPr>
          <p:cNvSpPr/>
          <p:nvPr/>
        </p:nvSpPr>
        <p:spPr>
          <a:xfrm>
            <a:off x="6933131" y="1464476"/>
            <a:ext cx="1762133" cy="4852865"/>
          </a:xfrm>
          <a:prstGeom prst="rect">
            <a:avLst/>
          </a:prstGeom>
          <a:solidFill>
            <a:schemeClr val="bg1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9" name="箭头: 下 92">
            <a:extLst>
              <a:ext uri="{FF2B5EF4-FFF2-40B4-BE49-F238E27FC236}">
                <a16:creationId id="{478BDA53-7E00-4C91-B6CF-83A4A57E4CB8}"/>
              </a:ext>
            </a:extLst>
          </p:cNvPr>
          <p:cNvSpPr/>
          <p:nvPr/>
        </p:nvSpPr>
        <p:spPr>
          <a:xfrm>
            <a:off x="4240527" y="2462281"/>
            <a:ext cx="72000" cy="162000"/>
          </a:xfrm>
          <a:prstGeom prst="downArrow">
            <a:avLst/>
          </a:prstGeom>
          <a:solidFill>
            <a:srgbClr val="2653A1">
              <a:alpha val="8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0" name="箭头: 上 95">
            <a:extLst>
              <a:ext uri="{FF2B5EF4-FFF2-40B4-BE49-F238E27FC236}">
                <a16:creationId id="{AF0125D5-81C4-4A64-B08B-7A9443B44107}"/>
              </a:ext>
            </a:extLst>
          </p:cNvPr>
          <p:cNvSpPr/>
          <p:nvPr/>
        </p:nvSpPr>
        <p:spPr>
          <a:xfrm>
            <a:off x="5057637" y="4241584"/>
            <a:ext cx="72000" cy="162000"/>
          </a:xfrm>
          <a:prstGeom prst="upArrow">
            <a:avLst/>
          </a:prstGeom>
          <a:solidFill>
            <a:srgbClr val="2653A1">
              <a:alpha val="8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1" name="箭头: 下 92">
            <a:extLst>
              <a:ext uri="{FF2B5EF4-FFF2-40B4-BE49-F238E27FC236}">
                <a16:creationId id="{6E053F34-68CF-4E44-B951-9E2BFBFC9010}"/>
              </a:ext>
            </a:extLst>
          </p:cNvPr>
          <p:cNvSpPr/>
          <p:nvPr/>
        </p:nvSpPr>
        <p:spPr>
          <a:xfrm>
            <a:off x="5058133" y="4664771"/>
            <a:ext cx="72000" cy="162000"/>
          </a:xfrm>
          <a:prstGeom prst="downArrow">
            <a:avLst/>
          </a:prstGeom>
          <a:solidFill>
            <a:srgbClr val="2653A1">
              <a:alpha val="8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箭头: 上 95">
            <a:extLst>
              <a:ext uri="{FF2B5EF4-FFF2-40B4-BE49-F238E27FC236}">
                <a16:creationId id="{E3D72A33-E063-44FB-B734-944DCABA7C7D}"/>
              </a:ext>
            </a:extLst>
          </p:cNvPr>
          <p:cNvSpPr/>
          <p:nvPr/>
        </p:nvSpPr>
        <p:spPr>
          <a:xfrm>
            <a:off x="5036175" y="1546102"/>
            <a:ext cx="72000" cy="162000"/>
          </a:xfrm>
          <a:prstGeom prst="upArrow">
            <a:avLst/>
          </a:prstGeom>
          <a:solidFill>
            <a:srgbClr val="2653A1">
              <a:alpha val="8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箭头: 上 95">
            <a:extLst>
              <a:ext uri="{FF2B5EF4-FFF2-40B4-BE49-F238E27FC236}">
                <a16:creationId id="{45E07FEC-437B-4022-9347-1ACA65431CD9}"/>
              </a:ext>
            </a:extLst>
          </p:cNvPr>
          <p:cNvSpPr/>
          <p:nvPr/>
        </p:nvSpPr>
        <p:spPr>
          <a:xfrm>
            <a:off x="5047381" y="2772861"/>
            <a:ext cx="72000" cy="162000"/>
          </a:xfrm>
          <a:prstGeom prst="upArrow">
            <a:avLst/>
          </a:prstGeom>
          <a:solidFill>
            <a:srgbClr val="2653A1">
              <a:alpha val="8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8" name="箭头: 上 95">
            <a:extLst>
              <a:ext uri="{FF2B5EF4-FFF2-40B4-BE49-F238E27FC236}">
                <a16:creationId id="{C3D46197-DB7F-46CC-86D8-75FCE0627C6B}"/>
              </a:ext>
            </a:extLst>
          </p:cNvPr>
          <p:cNvSpPr/>
          <p:nvPr/>
        </p:nvSpPr>
        <p:spPr>
          <a:xfrm>
            <a:off x="5054953" y="5129346"/>
            <a:ext cx="72000" cy="162000"/>
          </a:xfrm>
          <a:prstGeom prst="upArrow">
            <a:avLst/>
          </a:prstGeom>
          <a:solidFill>
            <a:srgbClr val="2653A1">
              <a:alpha val="8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2" name="箭头: 上 95">
            <a:extLst>
              <a:ext uri="{FF2B5EF4-FFF2-40B4-BE49-F238E27FC236}">
                <a16:creationId id="{C49FF08B-9323-4922-A632-34E45B9DDDF1}"/>
              </a:ext>
            </a:extLst>
          </p:cNvPr>
          <p:cNvSpPr/>
          <p:nvPr/>
        </p:nvSpPr>
        <p:spPr>
          <a:xfrm>
            <a:off x="5057637" y="5415870"/>
            <a:ext cx="72000" cy="162000"/>
          </a:xfrm>
          <a:prstGeom prst="upArrow">
            <a:avLst/>
          </a:prstGeom>
          <a:solidFill>
            <a:srgbClr val="2653A1">
              <a:alpha val="8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6" name="箭头: 上 95">
            <a:extLst>
              <a:ext uri="{FF2B5EF4-FFF2-40B4-BE49-F238E27FC236}">
                <a16:creationId id="{D00AE697-B448-41E0-8290-8A9E48ADF522}"/>
              </a:ext>
            </a:extLst>
          </p:cNvPr>
          <p:cNvSpPr/>
          <p:nvPr/>
        </p:nvSpPr>
        <p:spPr>
          <a:xfrm>
            <a:off x="5057637" y="5748765"/>
            <a:ext cx="72000" cy="162000"/>
          </a:xfrm>
          <a:prstGeom prst="upArrow">
            <a:avLst/>
          </a:prstGeom>
          <a:solidFill>
            <a:srgbClr val="2653A1">
              <a:alpha val="8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1" name="箭头: 下 92">
            <a:extLst>
              <a:ext uri="{FF2B5EF4-FFF2-40B4-BE49-F238E27FC236}">
                <a16:creationId id="{27DB8D28-D8F0-43E7-88BA-50BEFC52539A}"/>
              </a:ext>
            </a:extLst>
          </p:cNvPr>
          <p:cNvSpPr/>
          <p:nvPr/>
        </p:nvSpPr>
        <p:spPr>
          <a:xfrm>
            <a:off x="5047381" y="2170300"/>
            <a:ext cx="72000" cy="162000"/>
          </a:xfrm>
          <a:prstGeom prst="downArrow">
            <a:avLst/>
          </a:prstGeom>
          <a:solidFill>
            <a:srgbClr val="2653A1">
              <a:alpha val="8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3" name="箭头: 下 92">
            <a:extLst>
              <a:ext uri="{FF2B5EF4-FFF2-40B4-BE49-F238E27FC236}">
                <a16:creationId id="{7D26133F-0844-4810-9866-FEC2F18A088B}"/>
              </a:ext>
            </a:extLst>
          </p:cNvPr>
          <p:cNvSpPr/>
          <p:nvPr/>
        </p:nvSpPr>
        <p:spPr>
          <a:xfrm>
            <a:off x="5057818" y="2475230"/>
            <a:ext cx="72000" cy="162000"/>
          </a:xfrm>
          <a:prstGeom prst="downArrow">
            <a:avLst/>
          </a:prstGeom>
          <a:solidFill>
            <a:srgbClr val="2653A1">
              <a:alpha val="8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7" name="箭头: 下 92">
            <a:extLst>
              <a:ext uri="{FF2B5EF4-FFF2-40B4-BE49-F238E27FC236}">
                <a16:creationId id="{937F54D8-2C38-4B73-ACD1-FEE335B55941}"/>
              </a:ext>
            </a:extLst>
          </p:cNvPr>
          <p:cNvSpPr/>
          <p:nvPr/>
        </p:nvSpPr>
        <p:spPr>
          <a:xfrm>
            <a:off x="5051392" y="3039259"/>
            <a:ext cx="72000" cy="162000"/>
          </a:xfrm>
          <a:prstGeom prst="downArrow">
            <a:avLst/>
          </a:prstGeom>
          <a:solidFill>
            <a:srgbClr val="2653A1">
              <a:alpha val="8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3" name="箭头: 下 92">
            <a:extLst>
              <a:ext uri="{FF2B5EF4-FFF2-40B4-BE49-F238E27FC236}">
                <a16:creationId id="{420D0359-F2A3-4960-A639-C1D79E33059A}"/>
              </a:ext>
            </a:extLst>
          </p:cNvPr>
          <p:cNvSpPr/>
          <p:nvPr/>
        </p:nvSpPr>
        <p:spPr>
          <a:xfrm>
            <a:off x="5053012" y="3657348"/>
            <a:ext cx="72000" cy="162000"/>
          </a:xfrm>
          <a:prstGeom prst="downArrow">
            <a:avLst/>
          </a:prstGeom>
          <a:solidFill>
            <a:srgbClr val="2653A1">
              <a:alpha val="8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5" name="箭头: 下 92">
            <a:extLst>
              <a:ext uri="{FF2B5EF4-FFF2-40B4-BE49-F238E27FC236}">
                <a16:creationId id="{A43BE8D2-DC5A-4455-BAEF-1CF9C6A6470E}"/>
              </a:ext>
            </a:extLst>
          </p:cNvPr>
          <p:cNvSpPr/>
          <p:nvPr/>
        </p:nvSpPr>
        <p:spPr>
          <a:xfrm>
            <a:off x="5053452" y="3975239"/>
            <a:ext cx="72000" cy="162000"/>
          </a:xfrm>
          <a:prstGeom prst="downArrow">
            <a:avLst/>
          </a:prstGeom>
          <a:solidFill>
            <a:srgbClr val="2653A1">
              <a:alpha val="8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5" name="箭头: 上 95">
            <a:extLst>
              <a:ext uri="{FF2B5EF4-FFF2-40B4-BE49-F238E27FC236}">
                <a16:creationId id="{B2F4ED39-EA71-4DBF-9AD3-AC7F047AC470}"/>
              </a:ext>
            </a:extLst>
          </p:cNvPr>
          <p:cNvSpPr/>
          <p:nvPr/>
        </p:nvSpPr>
        <p:spPr>
          <a:xfrm>
            <a:off x="5043755" y="1855811"/>
            <a:ext cx="72000" cy="162000"/>
          </a:xfrm>
          <a:prstGeom prst="upArrow">
            <a:avLst/>
          </a:prstGeom>
          <a:solidFill>
            <a:srgbClr val="2653A1">
              <a:alpha val="8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val="2800820395"/>
      </p:ext>
    </p:extLst>
  </p:cSld>
  <p:clrMapOvr>
    <a:masterClrMapping/>
  </p:clrMapOvr>
</p:sld>
</file>

<file path=ppt/slides/slide11.xml><?xml version="1.0" encoding="utf-8"?>
<p:sld xmlns:a="http://schemas.openxmlformats.org/drawingml/2006/main" xmlns:a16="http://schemas.microsoft.com/office/drawing/2014/main" xmlns:mc="http://schemas.openxmlformats.org/markup-compatibility/2006" xmlns:ns5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>
            <a:extLst>
              <a:ext uri="{FF2B5EF4-FFF2-40B4-BE49-F238E27FC236}">
                <a16:creationId id="{9C642556-9BB3-4E73-8CF1-6B09E5F8C282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25588" y="1588"/>
          <a:ext cx="1588" cy="1588"/>
        </p:xfrm>
        <a:graphic>
          <a:graphicData uri="http://schemas.openxmlformats.org/presentationml/2006/ole">
            <mc:AlternateContent>
              <mc:Choice Requires="v">
                <p:oleObj name="think-cell 幻灯片" r:id="rId8" imgW="572" imgH="429" progId="TCLayout.ActiveDocument.1">
                  <p:embed/>
                </p:oleObj>
              </mc:Choice>
              <mc:Fallback>
                <p:oleObj name="think-cell 幻灯片" r:id="rId8" imgW="572" imgH="429" progId="TCLayout.ActiveDocument.1">
                  <p:embed/>
                  <p:pic>
                    <p:nvPicPr>
                      <p:cNvPr id="3" name="对象 2" hidden="1">
                        <a:extLst>
                          <a:ext uri="{FF2B5EF4-FFF2-40B4-BE49-F238E27FC236}">
                            <a16:creationId id="{9C642556-9BB3-4E73-8CF1-6B09E5F8C2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25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WordArt 293"/>
          <p:cNvSpPr>
            <a:spLocks noChangeArrowheads="1" noChangeShapeType="1" noTextEdit="1"/>
          </p:cNvSpPr>
          <p:nvPr/>
        </p:nvSpPr>
        <p:spPr bwMode="auto">
          <a:xfrm>
            <a:off x="2114637" y="2092798"/>
            <a:ext cx="2016224" cy="951042"/>
          </a:xfrm>
          <a:prstGeom prst="rect">
            <a:avLst/>
          </a:prstGeom>
          <a:extLst>
            <a:ext uri="{91240B29-F687-4F45-9708-019B960494DF}">
              <ns5:hiddenLine w="9525">
                <a:solidFill>
                  <a:srgbClr val="000000"/>
                </a:solidFill>
                <a:round/>
                <a:headEnd/>
                <a:tailEnd/>
              </ns5:hiddenLine>
            </a:ext>
          </a:extLst>
        </p:spPr>
        <p:txBody>
          <a:bodyPr wrap="none" fromWordArt="1" anchor="ctr"/>
          <a:lstStyle/>
          <a:p>
            <a:pPr algn="ctr"/>
            <a:r>
              <a:rPr lang="zh-CN" altLang="en-US" sz="4000" b="1" kern="10" spc="700" dirty="0">
                <a:latin typeface="微软雅黑" pitchFamily="34" charset="-122"/>
                <a:ea typeface="微软雅黑" pitchFamily="34" charset="-122"/>
              </a:rPr>
              <a:t>目录</a:t>
            </a:r>
          </a:p>
        </p:txBody>
      </p:sp>
      <p:sp>
        <p:nvSpPr>
          <p:cNvPr id="5" name="WordArt 294"/>
          <p:cNvSpPr>
            <a:spLocks noChangeArrowheads="1" noChangeShapeType="1" noTextEdit="1"/>
          </p:cNvSpPr>
          <p:nvPr/>
        </p:nvSpPr>
        <p:spPr bwMode="auto">
          <a:xfrm>
            <a:off x="2475781" y="3267030"/>
            <a:ext cx="2232368" cy="498982"/>
          </a:xfrm>
          <a:prstGeom prst="rect">
            <a:avLst/>
          </a:prstGeom>
          <a:extLst>
            <a:ext uri="{91240B29-F687-4F45-9708-019B960494DF}">
              <ns5:hiddenLine w="9525">
                <a:solidFill>
                  <a:srgbClr val="000000"/>
                </a:solidFill>
                <a:round/>
                <a:headEnd/>
                <a:tailEnd/>
              </ns5:hiddenLine>
            </a:ext>
          </a:extLst>
        </p:spPr>
        <p:txBody>
          <a:bodyPr wrap="none" fromWordArt="1" anchor="ctr"/>
          <a:lstStyle/>
          <a:p>
            <a:pPr algn="ctr"/>
            <a:r>
              <a:rPr lang="en-US" altLang="zh-CN" sz="2800" b="1" kern="10" dirty="0">
                <a:latin typeface="微软雅黑" pitchFamily="34" charset="-122"/>
                <a:ea typeface="微软雅黑" pitchFamily="34" charset="-122"/>
              </a:rPr>
              <a:t>CONTENTS</a:t>
            </a:r>
            <a:endParaRPr lang="zh-CN" altLang="en-US" sz="2800" b="1" kern="1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MH_Entry_2">
            <a:hlinkClick r:id="rId10" action="ppaction://hlinksldjump"/>
          </p:cNvPr>
          <p:cNvSpPr/>
          <p:nvPr>
            <p:custDataLst>
              <p:tags r:id="rId2"/>
            </p:custDataLst>
          </p:nvPr>
        </p:nvSpPr>
        <p:spPr>
          <a:xfrm>
            <a:off x="6210431" y="2297191"/>
            <a:ext cx="3097359" cy="436133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0 w 2520280"/>
              <a:gd name="connsiteY7" fmla="*/ 0 h 1872208"/>
              <a:gd name="connsiteX0" fmla="*/ 0 w 2520280"/>
              <a:gd name="connsiteY0" fmla="*/ 1872208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0 h 1872208"/>
              <a:gd name="connsiteX5" fmla="*/ 2520280 w 2520280"/>
              <a:gd name="connsiteY5" fmla="*/ 0 h 1872208"/>
              <a:gd name="connsiteX6" fmla="*/ 0 w 2520280"/>
              <a:gd name="connsiteY6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2520280 w 2520280"/>
              <a:gd name="connsiteY4" fmla="*/ 0 h 1872208"/>
              <a:gd name="connsiteX5" fmla="*/ 0 w 2520280"/>
              <a:gd name="connsiteY5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34255 w 2520280"/>
              <a:gd name="connsiteY4" fmla="*/ 0 h 1872208"/>
              <a:gd name="connsiteX5" fmla="*/ 0 w 2520280"/>
              <a:gd name="connsiteY5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917 w 2520280"/>
              <a:gd name="connsiteY4" fmla="*/ 6036 h 1872208"/>
              <a:gd name="connsiteX5" fmla="*/ 0 w 2520280"/>
              <a:gd name="connsiteY5" fmla="*/ 0 h 1872208"/>
              <a:gd name="connsiteX0" fmla="*/ 0 w 2520280"/>
              <a:gd name="connsiteY0" fmla="*/ 1890314 h 1890314"/>
              <a:gd name="connsiteX1" fmla="*/ 2520280 w 2520280"/>
              <a:gd name="connsiteY1" fmla="*/ 1890314 h 1890314"/>
              <a:gd name="connsiteX2" fmla="*/ 0 w 2520280"/>
              <a:gd name="connsiteY2" fmla="*/ 1890314 h 1890314"/>
              <a:gd name="connsiteX3" fmla="*/ 0 w 2520280"/>
              <a:gd name="connsiteY3" fmla="*/ 18106 h 1890314"/>
              <a:gd name="connsiteX4" fmla="*/ 53304 w 2520280"/>
              <a:gd name="connsiteY4" fmla="*/ 0 h 1890314"/>
              <a:gd name="connsiteX5" fmla="*/ 0 w 2520280"/>
              <a:gd name="connsiteY5" fmla="*/ 18106 h 1890314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916 w 2520280"/>
              <a:gd name="connsiteY4" fmla="*/ 0 h 1872208"/>
              <a:gd name="connsiteX5" fmla="*/ 0 w 2520280"/>
              <a:gd name="connsiteY5" fmla="*/ 0 h 187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/>
          <a:ln w="12700" cap="sq" cmpd="sng" algn="ctr">
            <a:solidFill>
              <a:srgbClr val="B2B2B2"/>
            </a:solidFill>
            <a:prstDash val="dash"/>
            <a:bevel/>
          </a:ln>
          <a:effectLst/>
        </p:spPr>
        <p:txBody>
          <a:bodyPr rot="0" spcFirstLastPara="0" vertOverflow="overflow" horzOverflow="overflow" vert="horz" wrap="square" lIns="108000" tIns="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 kern="0" dirty="0">
                <a:solidFill>
                  <a:schemeClr val="bg2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经营简况（微众银行）</a:t>
            </a:r>
          </a:p>
        </p:txBody>
      </p:sp>
      <p:sp>
        <p:nvSpPr>
          <p:cNvPr id="9" name="MH_Number_1">
            <a:hlinkClick r:id="rId10" action="ppaction://hlinksldjump"/>
          </p:cNvPr>
          <p:cNvSpPr/>
          <p:nvPr>
            <p:custDataLst>
              <p:tags r:id="rId3"/>
            </p:custDataLst>
          </p:nvPr>
        </p:nvSpPr>
        <p:spPr>
          <a:xfrm>
            <a:off x="5420126" y="2310864"/>
            <a:ext cx="526870" cy="435640"/>
          </a:xfrm>
          <a:custGeom>
            <a:avLst/>
            <a:gdLst>
              <a:gd name="connsiteX0" fmla="*/ 93305 w 373220"/>
              <a:gd name="connsiteY0" fmla="*/ 0 h 323217"/>
              <a:gd name="connsiteX1" fmla="*/ 279915 w 373220"/>
              <a:gd name="connsiteY1" fmla="*/ 0 h 323217"/>
              <a:gd name="connsiteX2" fmla="*/ 373220 w 373220"/>
              <a:gd name="connsiteY2" fmla="*/ 161609 h 323217"/>
              <a:gd name="connsiteX3" fmla="*/ 279915 w 373220"/>
              <a:gd name="connsiteY3" fmla="*/ 323217 h 323217"/>
              <a:gd name="connsiteX4" fmla="*/ 93306 w 373220"/>
              <a:gd name="connsiteY4" fmla="*/ 323216 h 323217"/>
              <a:gd name="connsiteX5" fmla="*/ 0 w 373220"/>
              <a:gd name="connsiteY5" fmla="*/ 161608 h 323217"/>
              <a:gd name="connsiteX6" fmla="*/ 93305 w 373220"/>
              <a:gd name="connsiteY6" fmla="*/ 0 h 3232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73220" h="323217">
                <a:moveTo>
                  <a:pt x="93305" y="0"/>
                </a:moveTo>
                <a:lnTo>
                  <a:pt x="279915" y="0"/>
                </a:lnTo>
                <a:lnTo>
                  <a:pt x="373220" y="161609"/>
                </a:lnTo>
                <a:lnTo>
                  <a:pt x="279915" y="323217"/>
                </a:lnTo>
                <a:lnTo>
                  <a:pt x="93306" y="323216"/>
                </a:lnTo>
                <a:lnTo>
                  <a:pt x="0" y="161608"/>
                </a:lnTo>
                <a:lnTo>
                  <a:pt x="93305" y="0"/>
                </a:lnTo>
                <a:close/>
              </a:path>
            </a:pathLst>
          </a:custGeom>
          <a:noFill/>
          <a:ln w="25400" cap="flat" cmpd="sng" algn="ctr">
            <a:solidFill>
              <a:srgbClr val="4F81BD"/>
            </a:solidFill>
            <a:prstDash val="solid"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defRPr/>
            </a:pPr>
            <a:r>
              <a:rPr lang="en-US" altLang="zh-CN" sz="2400" b="1" kern="0" dirty="0">
                <a:solidFill>
                  <a:srgbClr val="4F81BD">
                    <a:lumMod val="75000"/>
                  </a:srgbClr>
                </a:solidFill>
                <a:latin typeface="Calibri"/>
                <a:ea typeface="Alt Matey" pitchFamily="2" charset="0"/>
                <a:cs typeface="Arial" panose="020B0604020202020204" pitchFamily="34" charset="0"/>
              </a:rPr>
              <a:t>4</a:t>
            </a:r>
            <a:endParaRPr lang="zh-CN" altLang="en-US" sz="2400" b="1" kern="0" dirty="0">
              <a:solidFill>
                <a:srgbClr val="4F81BD">
                  <a:lumMod val="75000"/>
                </a:srgbClr>
              </a:solidFill>
              <a:latin typeface="Calibri"/>
              <a:ea typeface="Alt Matey" pitchFamily="2" charset="0"/>
              <a:cs typeface="Arial" panose="020B0604020202020204" pitchFamily="34" charset="0"/>
            </a:endParaRPr>
          </a:p>
        </p:txBody>
      </p:sp>
      <p:sp>
        <p:nvSpPr>
          <p:cNvPr id="2" name="MH_Number_1">
            <a:hlinkClick r:id="rId10" action="ppaction://hlinksldjump"/>
            <a:extLst>
              <a:ext uri="{FF2B5EF4-FFF2-40B4-BE49-F238E27FC236}">
                <a16:creationId id="{C6CA3E15-B7F7-9FEE-A885-930AC12326D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946996" y="3183669"/>
            <a:ext cx="526870" cy="435640"/>
          </a:xfrm>
          <a:custGeom>
            <a:avLst/>
            <a:gdLst>
              <a:gd name="connsiteX0" fmla="*/ 93305 w 373220"/>
              <a:gd name="connsiteY0" fmla="*/ 0 h 323217"/>
              <a:gd name="connsiteX1" fmla="*/ 279915 w 373220"/>
              <a:gd name="connsiteY1" fmla="*/ 0 h 323217"/>
              <a:gd name="connsiteX2" fmla="*/ 373220 w 373220"/>
              <a:gd name="connsiteY2" fmla="*/ 161609 h 323217"/>
              <a:gd name="connsiteX3" fmla="*/ 279915 w 373220"/>
              <a:gd name="connsiteY3" fmla="*/ 323217 h 323217"/>
              <a:gd name="connsiteX4" fmla="*/ 93306 w 373220"/>
              <a:gd name="connsiteY4" fmla="*/ 323216 h 323217"/>
              <a:gd name="connsiteX5" fmla="*/ 0 w 373220"/>
              <a:gd name="connsiteY5" fmla="*/ 161608 h 323217"/>
              <a:gd name="connsiteX6" fmla="*/ 93305 w 373220"/>
              <a:gd name="connsiteY6" fmla="*/ 0 h 3232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73220" h="323217">
                <a:moveTo>
                  <a:pt x="93305" y="0"/>
                </a:moveTo>
                <a:lnTo>
                  <a:pt x="279915" y="0"/>
                </a:lnTo>
                <a:lnTo>
                  <a:pt x="373220" y="161609"/>
                </a:lnTo>
                <a:lnTo>
                  <a:pt x="279915" y="323217"/>
                </a:lnTo>
                <a:lnTo>
                  <a:pt x="93306" y="323216"/>
                </a:lnTo>
                <a:lnTo>
                  <a:pt x="0" y="161608"/>
                </a:lnTo>
                <a:lnTo>
                  <a:pt x="93305" y="0"/>
                </a:lnTo>
                <a:close/>
              </a:path>
            </a:pathLst>
          </a:custGeom>
          <a:noFill/>
          <a:ln w="25400" cap="flat" cmpd="sng" algn="ctr">
            <a:solidFill>
              <a:srgbClr val="4F81BD"/>
            </a:solidFill>
            <a:prstDash val="solid"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defRPr/>
            </a:pPr>
            <a:r>
              <a:rPr lang="en-US" altLang="zh-CN" sz="2400" b="1" kern="0" dirty="0">
                <a:solidFill>
                  <a:srgbClr val="4F81BD">
                    <a:lumMod val="75000"/>
                  </a:srgbClr>
                </a:solidFill>
                <a:latin typeface="Calibri"/>
                <a:ea typeface="Alt Matey" pitchFamily="2" charset="0"/>
                <a:cs typeface="Arial" panose="020B0604020202020204" pitchFamily="34" charset="0"/>
              </a:rPr>
              <a:t>5</a:t>
            </a:r>
            <a:endParaRPr lang="zh-CN" altLang="en-US" sz="2400" b="1" kern="0" dirty="0">
              <a:solidFill>
                <a:srgbClr val="4F81BD">
                  <a:lumMod val="75000"/>
                </a:srgbClr>
              </a:solidFill>
              <a:latin typeface="Calibri"/>
              <a:ea typeface="Alt Matey" pitchFamily="2" charset="0"/>
              <a:cs typeface="Arial" panose="020B0604020202020204" pitchFamily="34" charset="0"/>
            </a:endParaRPr>
          </a:p>
        </p:txBody>
      </p:sp>
      <p:sp>
        <p:nvSpPr>
          <p:cNvPr id="10" name="MH_Entry_2">
            <a:hlinkClick r:id="rId10" action="ppaction://hlinksldjump"/>
            <a:extLst>
              <a:ext uri="{FF2B5EF4-FFF2-40B4-BE49-F238E27FC236}">
                <a16:creationId id="{D1736BC0-5267-90B9-A2E2-B35EDE53AAB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662708" y="3167932"/>
            <a:ext cx="2812842" cy="436133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0 w 2520280"/>
              <a:gd name="connsiteY7" fmla="*/ 0 h 1872208"/>
              <a:gd name="connsiteX0" fmla="*/ 0 w 2520280"/>
              <a:gd name="connsiteY0" fmla="*/ 1872208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0 h 1872208"/>
              <a:gd name="connsiteX5" fmla="*/ 2520280 w 2520280"/>
              <a:gd name="connsiteY5" fmla="*/ 0 h 1872208"/>
              <a:gd name="connsiteX6" fmla="*/ 0 w 2520280"/>
              <a:gd name="connsiteY6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2520280 w 2520280"/>
              <a:gd name="connsiteY4" fmla="*/ 0 h 1872208"/>
              <a:gd name="connsiteX5" fmla="*/ 0 w 2520280"/>
              <a:gd name="connsiteY5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34255 w 2520280"/>
              <a:gd name="connsiteY4" fmla="*/ 0 h 1872208"/>
              <a:gd name="connsiteX5" fmla="*/ 0 w 2520280"/>
              <a:gd name="connsiteY5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917 w 2520280"/>
              <a:gd name="connsiteY4" fmla="*/ 6036 h 1872208"/>
              <a:gd name="connsiteX5" fmla="*/ 0 w 2520280"/>
              <a:gd name="connsiteY5" fmla="*/ 0 h 1872208"/>
              <a:gd name="connsiteX0" fmla="*/ 0 w 2520280"/>
              <a:gd name="connsiteY0" fmla="*/ 1890314 h 1890314"/>
              <a:gd name="connsiteX1" fmla="*/ 2520280 w 2520280"/>
              <a:gd name="connsiteY1" fmla="*/ 1890314 h 1890314"/>
              <a:gd name="connsiteX2" fmla="*/ 0 w 2520280"/>
              <a:gd name="connsiteY2" fmla="*/ 1890314 h 1890314"/>
              <a:gd name="connsiteX3" fmla="*/ 0 w 2520280"/>
              <a:gd name="connsiteY3" fmla="*/ 18106 h 1890314"/>
              <a:gd name="connsiteX4" fmla="*/ 53304 w 2520280"/>
              <a:gd name="connsiteY4" fmla="*/ 0 h 1890314"/>
              <a:gd name="connsiteX5" fmla="*/ 0 w 2520280"/>
              <a:gd name="connsiteY5" fmla="*/ 18106 h 1890314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916 w 2520280"/>
              <a:gd name="connsiteY4" fmla="*/ 0 h 1872208"/>
              <a:gd name="connsiteX5" fmla="*/ 0 w 2520280"/>
              <a:gd name="connsiteY5" fmla="*/ 0 h 187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/>
          <a:ln w="12700" cap="sq" cmpd="sng" algn="ctr">
            <a:solidFill>
              <a:srgbClr val="B2B2B2"/>
            </a:solidFill>
            <a:prstDash val="dash"/>
            <a:bevel/>
          </a:ln>
          <a:effectLst/>
        </p:spPr>
        <p:txBody>
          <a:bodyPr rot="0" spcFirstLastPara="0" vertOverflow="overflow" horzOverflow="overflow" vert="horz" wrap="square" lIns="108000" tIns="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 kern="0" dirty="0">
                <a:latin typeface="微软雅黑" pitchFamily="34" charset="-122"/>
                <a:ea typeface="微软雅黑" pitchFamily="34" charset="-122"/>
              </a:rPr>
              <a:t>经营简况（集团口径）</a:t>
            </a:r>
          </a:p>
        </p:txBody>
      </p:sp>
    </p:spTree>
    <p:extLst>
      <p:ext uri="{BB962C8B-B14F-4D97-AF65-F5344CB8AC3E}">
        <p14:creationId val="57740305"/>
      </p:ext>
    </p:extLst>
  </p:cSld>
  <p:clrMapOvr>
    <a:masterClrMapping/>
  </p:clrMapOvr>
</p:sld>
</file>

<file path=ppt/slides/slide12.xml><?xml version="1.0" encoding="utf-8"?>
<p:sld xmlns:a="http://schemas.openxmlformats.org/drawingml/2006/main" xmlns:a16="http://schemas.microsoft.com/office/drawing/2014/main" xmlns:mc="http://schemas.openxmlformats.org/markup-compatibility/2006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id="{07E37053-E152-21DB-DEE9-07999F2C3A4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val="36218738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>
              <mc:Choice Requires="v">
                <p:oleObj name="think-cell 幻灯片" r:id="rId3" imgW="426" imgH="426" progId="TCLayout.ActiveDocument.1">
                  <p:embed/>
                </p:oleObj>
              </mc:Choice>
              <mc:Fallback>
                <p:oleObj name="think-cell 幻灯片" r:id="rId3" imgW="426" imgH="42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id="{07E37053-E152-21DB-DEE9-07999F2C3A4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id="{022DC7AE-B37F-CDF0-B874-1C760B3EC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91440"/>
          <a:lstStyle/>
          <a:p>
            <a:r>
              <a:rPr lang="en-US" altLang="zh-CN" dirty="0"/>
              <a:t>66</a:t>
            </a:r>
            <a:r>
              <a:rPr lang="zh-CN" altLang="en-US" dirty="0"/>
              <a:t>年</a:t>
            </a:r>
            <a:r>
              <a:rPr lang="en-US" altLang="zh-CN" dirty="0"/>
              <a:t>7</a:t>
            </a:r>
            <a:r>
              <a:rPr lang="zh-CN" altLang="en-US" dirty="0"/>
              <a:t>月微众集团利润简表</a:t>
            </a:r>
          </a:p>
        </p:txBody>
      </p:sp>
      <p:sp>
        <p:nvSpPr>
          <p:cNvPr id="6" name="灯片编号占位符 6">
            <a:extLst>
              <a:ext uri="{FF2B5EF4-FFF2-40B4-BE49-F238E27FC236}">
                <a16:creationId id="{E4D6595A-16BD-0A42-007D-F5CC79978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2857" y="6413502"/>
            <a:ext cx="2743200" cy="365125"/>
          </a:xfrm>
        </p:spPr>
        <p:txBody>
          <a:bodyPr/>
          <a:lstStyle/>
          <a:p>
            <a:fld id="{71C962F8-67CB-43C0-8F4B-53AB2EE0A60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88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id="{1FE87F83-69B1-C88B-FE32-5628D60DBD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3840033488"/>
              </p:ext>
            </p:extLst>
          </p:nvPr>
        </p:nvGraphicFramePr>
        <p:xfrm>
          <a:off x="2552328" y="1503272"/>
          <a:ext cx="6909274" cy="4115820"/>
        </p:xfrm>
        <a:graphic>
          <a:graphicData uri="http://schemas.openxmlformats.org/drawingml/2006/table">
            <a:tbl>
              <a:tblPr/>
              <a:tblGrid>
                <a:gridCol w="2452486">
                  <a:extLst>
                    <a:ext uri="{9D8B030D-6E8A-4147-A177-3AD203B41FA5}">
                      <a16:colId val="2352054845"/>
                    </a:ext>
                  </a:extLst>
                </a:gridCol>
                <a:gridCol w="1328394">
                  <a:extLst>
                    <a:ext uri="{9D8B030D-6E8A-4147-A177-3AD203B41FA5}">
                      <a16:colId val="1603071547"/>
                    </a:ext>
                  </a:extLst>
                </a:gridCol>
                <a:gridCol w="1328394">
                  <a:extLst>
                    <a:ext uri="{9D8B030D-6E8A-4147-A177-3AD203B41FA5}">
                      <a16:colId val="2880216635"/>
                    </a:ext>
                  </a:extLst>
                </a:gridCol>
                <a:gridCol w="1800000">
                  <a:extLst>
                    <a:ext uri="{9D8B030D-6E8A-4147-A177-3AD203B41FA5}">
                      <a16:colId val="2466360102"/>
                    </a:ext>
                  </a:extLst>
                </a:gridCol>
              </a:tblGrid>
              <a:tr h="551820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项目（万元）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集团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其中：微众银行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其中：微众科技及其子公司</a:t>
                      </a:r>
                      <a:endParaRPr lang="zh-CN" altLang="en-US" sz="1000" b="1" i="0" u="none" strike="noStrike" baseline="30000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extLst>
                  <a:ext uri="{0D108BD9-81ED-4DB2-BD59-A6C34878D82A}">
                    <a16:rowId val="360665404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营业收入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  </a:t>
                      </a: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999,999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       </a:t>
                      </a: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111,111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                   </a:t>
                      </a: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2,222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val="120419361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利息净收入</a:t>
                      </a:r>
                    </a:p>
                  </a:txBody>
                  <a:tcPr marL="11430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  </a:t>
                      </a: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333,333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       </a:t>
                      </a: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444,444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                     </a:t>
                      </a: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555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val="253040486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手续费及佣金净收入</a:t>
                      </a:r>
                    </a:p>
                  </a:txBody>
                  <a:tcPr marL="11430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  </a:t>
                      </a: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666,666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       </a:t>
                      </a: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777,777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                  </a:t>
                      </a: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-88.99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val="53821852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其他营业收入</a:t>
                      </a:r>
                    </a:p>
                  </a:txBody>
                  <a:tcPr marL="11430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   </a:t>
                      </a: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11,111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        </a:t>
                      </a: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22,222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                   </a:t>
                      </a: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3,333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val="23956446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减：营业支出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  </a:t>
                      </a: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444,444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       </a:t>
                      </a: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555,555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                   </a:t>
                      </a: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6,666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val="266269111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其中：业务及管理费</a:t>
                      </a:r>
                    </a:p>
                  </a:txBody>
                  <a:tcPr marL="11430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  </a:t>
                      </a: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777,777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       </a:t>
                      </a: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888,888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                   </a:t>
                      </a: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9,999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val="261430654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拨备前营业利润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  </a:t>
                      </a: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111,111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       </a:t>
                      </a: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222,222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                    </a:t>
                      </a: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-333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val="45763177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减：资产减值损失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  </a:t>
                      </a: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444,444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       </a:t>
                      </a: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555,555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                    </a:t>
                      </a: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0.77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val="261537608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利润总额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  </a:t>
                      </a: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888,888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       </a:t>
                      </a: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999,999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                    </a:t>
                      </a: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-111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val="304656898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减：所得税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   </a:t>
                      </a: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22,222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        </a:t>
                      </a: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33,333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                     </a:t>
                      </a: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444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val="27933292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净利润</a:t>
                      </a:r>
                      <a:endParaRPr lang="zh-CN" altLang="en-US" sz="1000" b="1" i="0" u="none" strike="noStrike" baseline="30000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  </a:t>
                      </a: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555,555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       </a:t>
                      </a: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666,666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                    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-777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val="28016861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val="3040372484"/>
      </p:ext>
    </p:extLst>
  </p:cSld>
  <p:clrMapOvr>
    <a:masterClrMapping/>
  </p:clrMapOvr>
</p:sld>
</file>

<file path=ppt/slides/slide13.xml><?xml version="1.0" encoding="utf-8"?>
<p:sld xmlns:a="http://schemas.openxmlformats.org/drawingml/2006/main" xmlns:a16="http://schemas.microsoft.com/office/drawing/2014/main" xmlns:mc="http://schemas.openxmlformats.org/markup-compatibility/2006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对象 5" hidden="1">
            <a:extLst>
              <a:ext uri="{FF2B5EF4-FFF2-40B4-BE49-F238E27FC236}">
                <a16:creationId id="{8017ADD5-94F7-4C06-B36A-5CE9D1D38CF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25588" y="1588"/>
          <a:ext cx="1588" cy="1588"/>
        </p:xfrm>
        <a:graphic>
          <a:graphicData uri="http://schemas.openxmlformats.org/presentationml/2006/ole">
            <mc:AlternateContent>
              <mc:Choice Requires="v">
                <p:oleObj name="think-cell 幻灯片" r:id="rId4" imgW="572" imgH="429" progId="TCLayout.ActiveDocument.1">
                  <p:embed/>
                </p:oleObj>
              </mc:Choice>
              <mc:Fallback>
                <p:oleObj name="think-cell 幻灯片" r:id="rId4" imgW="572" imgH="429" progId="TCLayout.ActiveDocument.1">
                  <p:embed/>
                  <p:pic>
                    <p:nvPicPr>
                      <p:cNvPr id="6" name="对象 5" hidden="1">
                        <a:extLst>
                          <a:ext uri="{FF2B5EF4-FFF2-40B4-BE49-F238E27FC236}">
                            <a16:creationId id="{8017ADD5-94F7-4C06-B36A-5CE9D1D38C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25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6985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谢谢</a:t>
            </a:r>
            <a:b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Thanks</a:t>
            </a:r>
            <a:endParaRPr 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32687&quot;&gt;&lt;version val=&quot;38580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1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8&quot;&gt;&lt;elem m_fUsage=&quot;7.45315850018514591824E+00&quot;&gt;&lt;m_msothmcolidx val=&quot;0&quot;/&gt;&lt;m_rgb r=&quot;C0&quot; g=&quot;00&quot; b=&quot;00&quot;/&gt;&lt;/elem&gt;&lt;elem m_fUsage=&quot;1.27572184983027336891E+00&quot;&gt;&lt;m_msothmcolidx val=&quot;0&quot;/&gt;&lt;m_rgb r=&quot;1B&quot; g=&quot;50&quot; b=&quot;99&quot;/&gt;&lt;/elem&gt;&lt;elem m_fUsage=&quot;5.97077708075463564619E-01&quot;&gt;&lt;m_msothmcolidx val=&quot;0&quot;/&gt;&lt;m_rgb r=&quot;4D&quot; g=&quot;8B&quot; b=&quot;DF&quot;/&gt;&lt;/elem&gt;&lt;elem m_fUsage=&quot;4.78296900000000080322E-01&quot;&gt;&lt;m_msothmcolidx val=&quot;0&quot;/&gt;&lt;m_rgb r=&quot;BE&quot; g=&quot;00&quot; b=&quot;00&quot;/&gt;&lt;/elem&gt;&lt;elem m_fUsage=&quot;1.81208787900697776418E-01&quot;&gt;&lt;m_msothmcolidx val=&quot;0&quot;/&gt;&lt;m_rgb r=&quot;1B&quot; g=&quot;50&quot; b=&quot;97&quot;/&gt;&lt;/elem&gt;&lt;elem m_fUsage=&quot;4.63839768658810824853E-03&quot;&gt;&lt;m_msothmcolidx val=&quot;0&quot;/&gt;&lt;m_rgb r=&quot;01&quot; g=&quot;4A&quot; b=&quot;81&quot;/&gt;&lt;/elem&gt;&lt;elem m_fUsage=&quot;4.46171281597410821634E-03&quot;&gt;&lt;m_msothmcolidx val=&quot;0&quot;/&gt;&lt;m_rgb r=&quot;FC&quot; g=&quot;A7&quot; b=&quot;BD&quot;/&gt;&lt;/elem&gt;&lt;elem m_fUsage=&quot;2.73892744995341301181E-03&quot;&gt;&lt;m_msothmcolidx val=&quot;0&quot;/&gt;&lt;m_rgb r=&quot;FD&quot; g=&quot;BE&quot; b=&quot;D3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113172306"/>
  <p:tag name="MH_LIBRARY" val="CONTENTS"/>
  <p:tag name="MH_TYPE" val="ENTRY"/>
  <p:tag name="ID" val="545262"/>
  <p:tag name="MH_ORDER" val="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113172306"/>
  <p:tag name="MH_LIBRARY" val="CONTENTS"/>
  <p:tag name="MH_TYPE" val="NUMBER"/>
  <p:tag name="ID" val="545262"/>
  <p:tag name="MH_ORDER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113172306"/>
  <p:tag name="MH_LIBRARY" val="CONTENTS"/>
  <p:tag name="MH_TYPE" val="NUMBER"/>
  <p:tag name="ID" val="545262"/>
  <p:tag name="MH_ORDER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113172306"/>
  <p:tag name="MH_LIBRARY" val="CONTENTS"/>
  <p:tag name="MH_TYPE" val="ENTRY"/>
  <p:tag name="ID" val="545262"/>
  <p:tag name="MH_ORDER" val="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GIvClIyXnee0WTC4SMpxQ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nUhnnT0RdCF4Hi765VzUQ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52.zXuzD.kAfpmsT9FkECg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KBJvm67OG7fWXUUxBGjk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adsZCvtdTGdFCkmpTsIw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dklyOFw3bKK9lbIumW8BQ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4xM2CrQywLBTcy6u9Dpqw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AkCO74RzuNjuuLsGOORjw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uEdkbtpZjYRZsHvOnU7pg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9SCqmU82o0.Pbi5_eeB6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9RuWDogEnGJXJGwgmy4tA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4DNS0E4kDf5VEBJp_mM7Q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Qi5ZoZ4FOoMqjg.QLnJX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3_caJthdi7g883hoTc7I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dryKHUAvdYH8IstUzMylw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M22VguLzp6rfWfe7dCL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niOI3fE1au7jicxuK1Nw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.d9XGz5q3hDOIOmNoT5ZQ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FmG1Wgn5qTWqtRRysjDCA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Yx9vR3RmWuW56ZBl.9tsw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BCghLWKgTOBTKe2M_vKyQ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I7EHF8eZWJOnuXnvO4_ng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pkc9R.uDi24fdcotH6jh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olwySsgb980MF6M81AD8Q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5WtGX88FglqnxuD8GKvpQ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NVEqt4d9oskVRbN0Xz2eg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GiSUuz2QPXXEq.Z.Xusyw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5kxcjSytPAfe8Uo0SFooGQ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b_Uos6fDz.tNNDn1kzNSQ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SI1geYEAsjFO5uIZLRGD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wQN9AvzFbYzOtlMiA7nJ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GTCPkEI5MyIgm3E2gY8zw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wj8Pcj9IolHWFmGy2OV4A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c7Mg7yl_RG9Gh2VxAGUhA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BPIP4iEV1xS7RUaTSNOGw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oqmEZx3aZ8xbYdnAfLdWA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j19O.SPFRnDiGLM2mDlow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uacJRKkSMTHKmYEyMp3sg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VKxjraW3ugeFJLxZKDErA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N13Qs10VcgCAs9tEHUbWg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0xnowoTe7kyqxr5E3uJnQ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wnDdh2SMIT8vcnfSH8OtQ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1Px4l_V1yl6oyMy7dySFg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QMpCxuNNQGDKLVm0iGNZQ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GIvClIyXnee0WTC4SMpxQ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5oJaOYBBxLIGLNHJcCKe9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hkRopI8b.g.u..gZy7fCA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PHpakREzf2zq4qHGhEhdQ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R6bn3nOhCnZtPzEmA1.hQ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1mbNsZQNrO_wQjbvfOJCQ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l6UYKuO8GBirrKzI89AaQ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jjm0SgDzOkeGyD1PtY3Ww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LsEiUq31i2ZXor9zD5i3A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Tk0Yw3d3e9.9qOg.LHj1w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RfMqTa4htHtuW4eQz7Nxg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qRCU.Ro2ni_bLTwl0smJg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eh7U7In63CemS7ScY27uA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5Uczh_7u8YTI3u0UMvfiw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LoiZNwCHFMFB9d_DGtStQ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XtOGQnoOQNMjAh4k_hoCg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JhyqaOi.iFF7UkdSyh5WQ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f3Fo_kEUrFKQUvNcvMNZA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bTm.axOijuN5Y34wE_Xfw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ZB55O1tSILeb8A3cv.qqA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78RsX0S.b1ZX5OtSKx.nA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SGzepP3mdnRuaSh35M4HQ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LRIN21AKfykXeCW6pLXFw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9eBBfFLd6OTjuXtXNzAPg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7xSWV2g016Ma8yGBBRSLg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3O6fjXk2mgHPpDQJTiKzw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Zf2FtKqakzqRFmxPTjspQ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wAz4GZ_NMFCjCmlbcO5WQ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LsEiUq31i2ZXor9zD5i3A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ryP0L4ahGkvHvcYmF_lIQ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GRyRob1wkUtib.cUSCXrw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hsWCM1UWgJZK52Y7horXQ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4BKe0DWuairwWvMfZ9a7A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3ySk_NYmv9FaTNhbdHaeQ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9kGTedANzQebCzUHiSu4Q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HO5XpjEGqfb5DZuv3alUA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S8obwD8IriokResDluHJQ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LsEiUq31i2ZXor9zD5i3A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LsEiUq31i2ZXor9zD5i3A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Cx0XjytgeY9p2RxPE04mA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1smz67iRF_fkRoSyDj7QQ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M.d64sch_9AKf9NEtFxiQ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hB_bbbizIW8DSUFWqAKng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LsEiUq31i2ZXor9zD5i3A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vj3SuucBJPe7jTLk.6hRw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YtIZ6w9D4cFU8P5yiOuvQ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I86REVOg2e.YuYhlqtVNQ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nCDv_Adq6Ui8hsl7eX0wQ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LsEiUq31i2ZXor9zD5i3A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VDe4iNfdUuzGeERL8rKpg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VDe4iNfdUuzGeERL8rKpg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4SePJkPDUaz0Py7sX0sFw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_yO1mwGQXWhjmB0p.vl7A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XyCv30KM48sv.KiwtwryQ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rFbAxYO6uxok_9e5Peakg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lAGZRhocHFyUHB2f7NrYw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EJ7rkV0EMgErNv_qgtkVA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4rrztidRqHx69qb7t.Byw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92MY1lmFq5ozXyLeO0omw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oYIV4qujqO4uOqK2omc3w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AfI7bwXTq4nGBXu6emoEQ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.52G0O9ZycwMMkYIhqPng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g6z0cv2.dXBhLzluihL6A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0jsDE2DJ6CRhEnMSyioAw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_EobmG3xRc6uTkfFxwyQ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PX3BbL5FkenOdSQ2A9ZNw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hEUk0qjNwnHOqZwhnXqJA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2TsQimT5Kndm2yFH0ah1Q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6JaS0X09W5pTZKIe6wu7w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senaqMMlA9LoLlh1Dr6ug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8b2LcszRJYv8C4ik64orQ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0kwrKiaazG2yBtYygWieA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ItiCqipo47pxCxjl4pvZg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z9AwoIBJEgCov0KewXyhw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UqKrCJo2S3Uve2mtIBAhw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XlcDt.gVKvO51hZE3QSAg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oFDznC5hAup.cVqqNOQYQ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l3uhU7E2jVk48627Vj41A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G6xXvJWxmctUH8Rz_SUYA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5WsMOzJS1mab2tuEtqXQg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MeD9BpS0xh9LuiKEIVF_A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6nBxMMblDpK3klc3DdVXA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Q.eSYRdjwM0N06y_xAbng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qMchia2NdBPp7SHrRM1Aw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zYm1iY_8RpfvIRl2zIOuw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QF8Al7zqq_mrRRMqMebBQ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ZuYqi2DzSdG9aOJ_CRD4A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s69nzcIDVkM0WMfzF6BVQ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xGMT87TIErmxSeDBHXqHg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VzZ0qZTpdrxQKq3rraG8w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KiFnOi14WB0Ml8.hw_mWg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HOk.RL7HvLQi1ZAI.by.A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iKxuqFwsGruYxFjEtUsRg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PLZYqczzx6MR2bN2RBy5Q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ck032x66qNA5Gv0cIDEvQ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eOjQePSb4pdL2SFC2rWow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Eg5E.ji64FhaCo9.kvQfg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lceznebWRkMyZyNVP5MJA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Ea8.6Ji.05RyUqwLl3zGw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jFQDTl1GyPz7GlhsK1Ssw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YZcRmFTweSArUn5rKLo4g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MA4HqUI2Uxg0hxJUaaSRQ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XgsSks.RKAWzx_e4SOp7g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pKF_1P72.TFdhGxCSdd9Q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iIqNm_CBEtNj9dRrOGmmQ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pXgbERerAs.N9YhMAf.LQ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MUDesqdGQcDcGvKD_kEmg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cv.RrMjXhsNh6BXLmTvbA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40vztl5HCc8bOjJLtOiug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hWpZzqkzkajWpyRPKBn4w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V470vjhNB_Y95uDwADReQ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Hm6YL9qjouaPQpRgu8RlA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yAubz.QIOBiCpDPfSYrAw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hS56OseyCoT5mgiVtSOgA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qiSZ_a6l5FTtELdjeruyQ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EVm6rlI70eOOFUT91C23A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113172306"/>
  <p:tag name="MH_LIBRARY" val="CONTENTS"/>
  <p:tag name="MH_TYPE" val="ENTRY"/>
  <p:tag name="ID" val="545262"/>
  <p:tag name="MH_ORDER" val="2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113172306"/>
  <p:tag name="MH_LIBRARY" val="CONTENTS"/>
  <p:tag name="MH_TYPE" val="NUMBER"/>
  <p:tag name="ID" val="545262"/>
  <p:tag name="MH_ORDER" val="1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113172306"/>
  <p:tag name="MH_LIBRARY" val="CONTENTS"/>
  <p:tag name="MH_TYPE" val="NUMBER"/>
  <p:tag name="ID" val="545262"/>
  <p:tag name="MH_ORDER" val="1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113172306"/>
  <p:tag name="MH_LIBRARY" val="CONTENTS"/>
  <p:tag name="MH_TYPE" val="ENTRY"/>
  <p:tag name="ID" val="545262"/>
  <p:tag name="MH_ORDER" val="2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?>
<Relationships xmlns="http://schemas.openxmlformats.org/package/2006/relationships">
  <Relationship Id="rId1" Type="http://schemas.microsoft.com/office/2011/relationships/webextension" Target="webextension1.xml"/>
</Relationships>
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FEF38F5-63D6-48B4-AC19-8CC3749945AF}">
  <we:reference id="254fc7e0-2c42-41db-adb9-0fd4f3454885" version="1.0.0.0" store="\\oacopilot.weoa.com\OACopilot" storeType="Filesystem"/>
  <we:alternateReferences/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85242</TotalTime>
  <Words>2949</Words>
  <Application>Microsoft Office PowerPoint</Application>
  <PresentationFormat>宽屏</PresentationFormat>
  <Paragraphs>1066</Paragraphs>
  <Slides>13</Slides>
  <Notes>10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等线</vt:lpstr>
      <vt:lpstr>等线 Light</vt:lpstr>
      <vt:lpstr>KaiTi</vt:lpstr>
      <vt:lpstr>KaiTi</vt:lpstr>
      <vt:lpstr>微软雅黑</vt:lpstr>
      <vt:lpstr>Arial</vt:lpstr>
      <vt:lpstr>Calibri</vt:lpstr>
      <vt:lpstr>Wingdings</vt:lpstr>
      <vt:lpstr>Office 主题​​</vt:lpstr>
      <vt:lpstr>think-cell 幻灯片</vt:lpstr>
      <vt:lpstr>2026年一季度经营简报</vt:lpstr>
      <vt:lpstr>PowerPoint 演示文稿</vt:lpstr>
      <vt:lpstr>经营概要</vt:lpstr>
      <vt:lpstr>客户</vt:lpstr>
      <vt:lpstr>业务</vt:lpstr>
      <vt:lpstr>B/S</vt:lpstr>
      <vt:lpstr>P&amp;L</vt:lpstr>
      <vt:lpstr>P&amp;L-业务及管理费</vt:lpstr>
      <vt:lpstr>PowerPoint 演示文稿</vt:lpstr>
      <vt:lpstr>PowerPoint 演示文稿</vt:lpstr>
      <vt:lpstr>PowerPoint 演示文稿</vt:lpstr>
      <vt:lpstr>26年3月微众集团利润简表</vt:lpstr>
      <vt:lpstr>谢谢 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2024年经营简报</dc:title>
  <dc:creator>陈良煜</dc:creator>
  <cp:lastModifiedBy>陈良煜</cp:lastModifiedBy>
  <cp:revision>1384</cp:revision>
  <dcterms:created xsi:type="dcterms:W3CDTF">2022-04-15T08:54:54Z</dcterms:created>
  <dcterms:modified xsi:type="dcterms:W3CDTF">2026-04-09T03:28:37Z</dcterms:modified>
</cp:coreProperties>
</file>