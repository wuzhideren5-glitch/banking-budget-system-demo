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7F196-55FB-78FC-218B-9E001778B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4DE79A-45C5-9C17-5F91-B44484DEE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019D4-B175-8AA8-5196-0F7155CB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66290-1BB8-1248-BFA6-82719080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53793-7FEB-8D46-BE99-51176FC0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1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02D19-CC10-C7FE-965C-0308507B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48996-BB09-6946-676C-77A42F7E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D28C0-4561-4B19-8EBA-0D04D934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B44E4-F871-688C-A89E-2568C8CA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E6A1D-ABF7-FFF9-38F4-608FD6B5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57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797E6-197B-8A32-1F34-E0760660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F0508-F374-C821-9798-517108C6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54D78-A898-BE9B-CB42-E3C6FF5D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397726-E5E4-8772-0CE0-0FA638CF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6B27A-4E78-D974-4EA3-7E50F65C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77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3B1DA-D1DF-C26F-6A7B-8F4DBD58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F98D4F-EAC6-0AA3-FC8F-27B907CEC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A08A78-3EC4-0C59-70CA-880A4459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7FAFE6-3AE1-8CF3-16E3-CECC051C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A23EF9-D49E-2CC3-B201-951DA097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BD12BF-0280-DA22-B4EF-FB97DEAC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32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F6073-2356-5FA4-EBF5-0218D48E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8AE746-8C96-05B9-48AC-2662FC7E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012C64-26DC-912B-2901-805CE79F4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479117-27A8-5DFA-0C4F-B605A9066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F6F1C7-4425-5CE6-2EFB-3C48941D1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C560D7-58D7-ECFA-F9DC-FE3A5E3C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70DFDB-F075-BC38-E1E6-F46EB7F9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7A8CD9-C0FD-9242-18A6-007FF80D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63535-A175-2CEA-6EE9-BECA4BD3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D5199D-5237-513E-EF67-F35C957E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C2E662-F804-7222-14C3-49559677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AD849D-4DD5-0B98-CB26-75886DE3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03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FF7CB5-D51B-0E75-2673-2F5D81ED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319FD1-3B03-13F0-65FE-2AF731FE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01F76D-66DE-56A7-BB2B-F1C0842F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2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545FF-15C9-9F25-0810-A9A49B9C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19420-7929-8C24-CE24-7C3BBB92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9A456F-0851-ED03-4178-54C805113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3999E-98EA-CBE9-8D53-E7E10769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6BFD17-B406-676E-438E-7D61D3DD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FE6174-29AB-22C2-E449-9AE5C39F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12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03A18-677B-6F33-ECAA-67800F07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82C0F4-DA66-510C-42D1-5CD7D9E8F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02991-E3C0-B28A-BBA8-CD4DB2C57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56FD3F-7940-80F1-742D-F7C72FB1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1D0B8-8449-7D68-C0B4-A6914969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B8FBEA-7F07-27A7-6008-6FA1E746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62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C1A2D-B5AA-479D-1380-ACFEB7C6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163CFF-BA94-FB9B-1258-A90EB1041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63F261-58F9-AFC4-292B-DDAF3683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44C64-4B61-FCF4-3533-9DBB8D1B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748B6-9693-D23E-A103-2F077B17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9D4F28-C69C-BE91-27C7-EF191CC2E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54BB51-B43B-953F-1EFC-D13CF20CD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421075-1B6C-446E-CDC7-1ED0EB7E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47833-17C9-A5C4-944C-AED1DACA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AE6E10-FD66-0F32-E654-EA818F79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66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A00D0D-453C-8917-EDEB-4AC1A8B7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3C4FE4-CB38-5F4E-E45D-401F2F5A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3B8EC-B2E2-BED8-0868-C7F80EDF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3F09C-ADA2-4C10-9C76-3E8AE15794E8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1101C-7161-B441-81C4-7903E9A28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70894-B8E8-F86E-994D-7100A2F17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25A42-74D8-4790-B443-29CEF06AD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79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744E-B335-211C-2EE1-6FE65AF2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F8240B-C803-0224-0ED3-A326F683BF49}"/>
              </a:ext>
            </a:extLst>
          </p:cNvPr>
          <p:cNvSpPr/>
          <p:nvPr/>
        </p:nvSpPr>
        <p:spPr>
          <a:xfrm>
            <a:off x="3056431" y="743448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数据录入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00C9AE-35A1-C43C-269C-014C4A79FAF7}"/>
              </a:ext>
            </a:extLst>
          </p:cNvPr>
          <p:cNvSpPr/>
          <p:nvPr/>
        </p:nvSpPr>
        <p:spPr>
          <a:xfrm>
            <a:off x="4113278" y="1286352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全行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27FF83-31A2-8CD5-B9D2-FFF1116B4848}"/>
              </a:ext>
            </a:extLst>
          </p:cNvPr>
          <p:cNvSpPr/>
          <p:nvPr/>
        </p:nvSpPr>
        <p:spPr>
          <a:xfrm>
            <a:off x="2359286" y="1286352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产品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0682D1-65CC-AEA0-46B0-232C1281170A}"/>
              </a:ext>
            </a:extLst>
          </p:cNvPr>
          <p:cNvSpPr/>
          <p:nvPr/>
        </p:nvSpPr>
        <p:spPr>
          <a:xfrm>
            <a:off x="1594213" y="1868659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实际月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5A488E-98F4-6FAD-2FD4-A4A94C64A2FF}"/>
              </a:ext>
            </a:extLst>
          </p:cNvPr>
          <p:cNvSpPr/>
          <p:nvPr/>
        </p:nvSpPr>
        <p:spPr>
          <a:xfrm>
            <a:off x="3118831" y="1868659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预测月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57CFF5-ACE4-50CF-1509-85F3B6FD214A}"/>
              </a:ext>
            </a:extLst>
          </p:cNvPr>
          <p:cNvSpPr/>
          <p:nvPr/>
        </p:nvSpPr>
        <p:spPr>
          <a:xfrm>
            <a:off x="2082996" y="241785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手工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C787D5-FEF4-1CEB-C071-4B2452A619D2}"/>
              </a:ext>
            </a:extLst>
          </p:cNvPr>
          <p:cNvSpPr/>
          <p:nvPr/>
        </p:nvSpPr>
        <p:spPr>
          <a:xfrm>
            <a:off x="1047161" y="241785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管会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6E11D6-A1B9-D358-F3A9-3EF81C8FC9DC}"/>
              </a:ext>
            </a:extLst>
          </p:cNvPr>
          <p:cNvSpPr/>
          <p:nvPr/>
        </p:nvSpPr>
        <p:spPr>
          <a:xfrm>
            <a:off x="3118831" y="241785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业务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C7BDADB-BBAD-47C4-FC7E-D0BCA49C370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314213" y="1646352"/>
            <a:ext cx="405073" cy="222307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8C8FE8-E272-7F58-7929-4E934B6C69B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3079286" y="1103448"/>
            <a:ext cx="517145" cy="16937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EC4B8DD-4A8F-7027-A8E8-571070B5510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719286" y="1646352"/>
            <a:ext cx="399545" cy="222307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DA473EB-D5E2-C05D-F876-4D67170D23AD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4473278" y="2232347"/>
            <a:ext cx="0" cy="185506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8479327-ACB7-6275-1344-C871505DA2FC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473278" y="1646351"/>
            <a:ext cx="0" cy="22415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5135FBF-35DA-B50A-952E-0D2E30BEC58F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3478831" y="2239238"/>
            <a:ext cx="5528" cy="17861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F484521-A98A-FF15-24FB-93F732F0954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954213" y="2228659"/>
            <a:ext cx="128783" cy="18919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33DA6B2-C7E3-EF0B-0006-15C8578E8EBB}"/>
              </a:ext>
            </a:extLst>
          </p:cNvPr>
          <p:cNvCxnSpPr>
            <a:cxnSpLocks/>
          </p:cNvCxnSpPr>
          <p:nvPr/>
        </p:nvCxnSpPr>
        <p:spPr>
          <a:xfrm flipH="1">
            <a:off x="1767161" y="2228659"/>
            <a:ext cx="167272" cy="18919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CA60753D-5A4A-D3AD-A2B9-33F369D9225A}"/>
              </a:ext>
            </a:extLst>
          </p:cNvPr>
          <p:cNvSpPr/>
          <p:nvPr/>
        </p:nvSpPr>
        <p:spPr>
          <a:xfrm>
            <a:off x="4113278" y="187050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年度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B89345-EEF2-F5F0-791E-A339296F58B1}"/>
              </a:ext>
            </a:extLst>
          </p:cNvPr>
          <p:cNvSpPr/>
          <p:nvPr/>
        </p:nvSpPr>
        <p:spPr>
          <a:xfrm>
            <a:off x="4113278" y="241785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业务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4F5DB1-7E56-FD7E-8764-F624BFFE27C6}"/>
              </a:ext>
            </a:extLst>
          </p:cNvPr>
          <p:cNvCxnSpPr>
            <a:cxnSpLocks/>
            <a:stCxn id="2" idx="3"/>
            <a:endCxn id="55" idx="1"/>
          </p:cNvCxnSpPr>
          <p:nvPr/>
        </p:nvCxnSpPr>
        <p:spPr>
          <a:xfrm>
            <a:off x="4136431" y="923448"/>
            <a:ext cx="1416847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7EDF93F-A5A4-B36C-858A-2F32D3A68255}"/>
              </a:ext>
            </a:extLst>
          </p:cNvPr>
          <p:cNvCxnSpPr>
            <a:cxnSpLocks/>
            <a:stCxn id="89" idx="2"/>
            <a:endCxn id="58" idx="0"/>
          </p:cNvCxnSpPr>
          <p:nvPr/>
        </p:nvCxnSpPr>
        <p:spPr>
          <a:xfrm flipH="1">
            <a:off x="5553278" y="1793803"/>
            <a:ext cx="539065" cy="235836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F2D5E22-C80E-8A3D-47AF-41646D1B4255}"/>
              </a:ext>
            </a:extLst>
          </p:cNvPr>
          <p:cNvCxnSpPr>
            <a:cxnSpLocks/>
            <a:stCxn id="89" idx="2"/>
            <a:endCxn id="60" idx="0"/>
          </p:cNvCxnSpPr>
          <p:nvPr/>
        </p:nvCxnSpPr>
        <p:spPr>
          <a:xfrm>
            <a:off x="6092343" y="1793803"/>
            <a:ext cx="540935" cy="235836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E636060-FB06-5320-AC4E-5F4C65F68EAC}"/>
              </a:ext>
            </a:extLst>
          </p:cNvPr>
          <p:cNvCxnSpPr>
            <a:cxnSpLocks/>
            <a:stCxn id="123" idx="2"/>
            <a:endCxn id="125" idx="0"/>
          </p:cNvCxnSpPr>
          <p:nvPr/>
        </p:nvCxnSpPr>
        <p:spPr>
          <a:xfrm flipH="1">
            <a:off x="2739512" y="5231871"/>
            <a:ext cx="842358" cy="24354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791DAFE-10FA-2DAC-A082-9B222543E430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596431" y="1103448"/>
            <a:ext cx="516847" cy="185506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BBB5EAAE-9146-94D8-3419-E9731957A122}"/>
              </a:ext>
            </a:extLst>
          </p:cNvPr>
          <p:cNvSpPr/>
          <p:nvPr/>
        </p:nvSpPr>
        <p:spPr>
          <a:xfrm>
            <a:off x="5553278" y="743448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产品月度数据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（公式计算型）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EA1703E-22E9-7909-3ED2-DD6A37B996BD}"/>
              </a:ext>
            </a:extLst>
          </p:cNvPr>
          <p:cNvSpPr/>
          <p:nvPr/>
        </p:nvSpPr>
        <p:spPr>
          <a:xfrm>
            <a:off x="5193278" y="2029639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取产品内指标计算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6D9DCE4-9CEC-167A-85DE-071652F6CA9B}"/>
              </a:ext>
            </a:extLst>
          </p:cNvPr>
          <p:cNvSpPr/>
          <p:nvPr/>
        </p:nvSpPr>
        <p:spPr>
          <a:xfrm>
            <a:off x="6273278" y="2029639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取跨产品指标计算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82ABF78-EE5C-CA33-C4ED-4A8807A26D83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7745828" y="1103448"/>
            <a:ext cx="935" cy="76521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56C26AD-602E-3FF1-8A5A-FF162D556538}"/>
              </a:ext>
            </a:extLst>
          </p:cNvPr>
          <p:cNvCxnSpPr>
            <a:cxnSpLocks/>
            <a:stCxn id="55" idx="3"/>
            <a:endCxn id="68" idx="1"/>
          </p:cNvCxnSpPr>
          <p:nvPr/>
        </p:nvCxnSpPr>
        <p:spPr>
          <a:xfrm>
            <a:off x="6633278" y="923448"/>
            <a:ext cx="572550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7CB750D4-D89B-18A3-5B93-CC77E946908E}"/>
              </a:ext>
            </a:extLst>
          </p:cNvPr>
          <p:cNvSpPr/>
          <p:nvPr/>
        </p:nvSpPr>
        <p:spPr>
          <a:xfrm>
            <a:off x="7205828" y="743448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产品月度数据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（层级汇总型）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688E9F9-9AA5-770D-46A7-8EF26098530B}"/>
              </a:ext>
            </a:extLst>
          </p:cNvPr>
          <p:cNvSpPr/>
          <p:nvPr/>
        </p:nvSpPr>
        <p:spPr>
          <a:xfrm>
            <a:off x="7386763" y="1868659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设定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指标层级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9141F64-ED7C-D059-0615-99F9F7D9EAB3}"/>
              </a:ext>
            </a:extLst>
          </p:cNvPr>
          <p:cNvCxnSpPr>
            <a:cxnSpLocks/>
            <a:stCxn id="85" idx="2"/>
            <a:endCxn id="125" idx="0"/>
          </p:cNvCxnSpPr>
          <p:nvPr/>
        </p:nvCxnSpPr>
        <p:spPr>
          <a:xfrm>
            <a:off x="1871410" y="5231871"/>
            <a:ext cx="868102" cy="24354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4684B09-2BD0-F5F5-BE5F-A5516A97E725}"/>
              </a:ext>
            </a:extLst>
          </p:cNvPr>
          <p:cNvCxnSpPr>
            <a:cxnSpLocks/>
            <a:stCxn id="55" idx="2"/>
            <a:endCxn id="89" idx="0"/>
          </p:cNvCxnSpPr>
          <p:nvPr/>
        </p:nvCxnSpPr>
        <p:spPr>
          <a:xfrm flipH="1">
            <a:off x="6092343" y="1103448"/>
            <a:ext cx="935" cy="33035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10E6D6F-098E-F724-5527-6C92F32E54A7}"/>
              </a:ext>
            </a:extLst>
          </p:cNvPr>
          <p:cNvCxnSpPr>
            <a:cxnSpLocks/>
            <a:stCxn id="68" idx="3"/>
            <a:endCxn id="97" idx="1"/>
          </p:cNvCxnSpPr>
          <p:nvPr/>
        </p:nvCxnSpPr>
        <p:spPr>
          <a:xfrm>
            <a:off x="8285828" y="923448"/>
            <a:ext cx="765428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4202E50-4FDE-668C-C8CD-13A94667C577}"/>
              </a:ext>
            </a:extLst>
          </p:cNvPr>
          <p:cNvCxnSpPr>
            <a:cxnSpLocks/>
            <a:stCxn id="97" idx="2"/>
            <a:endCxn id="91" idx="0"/>
          </p:cNvCxnSpPr>
          <p:nvPr/>
        </p:nvCxnSpPr>
        <p:spPr>
          <a:xfrm>
            <a:off x="9591256" y="1103448"/>
            <a:ext cx="673638" cy="543223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1DEC07A4-B102-2822-1648-2F5057E2BF5D}"/>
              </a:ext>
            </a:extLst>
          </p:cNvPr>
          <p:cNvCxnSpPr>
            <a:cxnSpLocks/>
            <a:stCxn id="97" idx="2"/>
            <a:endCxn id="93" idx="0"/>
          </p:cNvCxnSpPr>
          <p:nvPr/>
        </p:nvCxnSpPr>
        <p:spPr>
          <a:xfrm flipH="1">
            <a:off x="9005828" y="1103448"/>
            <a:ext cx="585428" cy="542903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DD750E3E-8B8F-18E3-1592-085E4305274C}"/>
              </a:ext>
            </a:extLst>
          </p:cNvPr>
          <p:cNvSpPr/>
          <p:nvPr/>
        </p:nvSpPr>
        <p:spPr>
          <a:xfrm>
            <a:off x="1151410" y="4511871"/>
            <a:ext cx="1440000" cy="72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产品</a:t>
            </a:r>
            <a:r>
              <a:rPr lang="en-US" altLang="zh-CN" sz="1000" dirty="0">
                <a:solidFill>
                  <a:schemeClr val="tx1"/>
                </a:solidFill>
              </a:rPr>
              <a:t>-</a:t>
            </a:r>
            <a:r>
              <a:rPr lang="zh-CN" altLang="en-US" sz="1000" dirty="0">
                <a:solidFill>
                  <a:schemeClr val="tx1"/>
                </a:solidFill>
              </a:rPr>
              <a:t>群</a:t>
            </a:r>
            <a:r>
              <a:rPr lang="en-US" altLang="zh-CN" sz="1000" dirty="0">
                <a:solidFill>
                  <a:schemeClr val="tx1"/>
                </a:solidFill>
              </a:rPr>
              <a:t>-</a:t>
            </a:r>
            <a:r>
              <a:rPr lang="zh-CN" altLang="en-US" sz="1000" dirty="0">
                <a:solidFill>
                  <a:schemeClr val="tx1"/>
                </a:solidFill>
              </a:rPr>
              <a:t>全行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机构层级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8D40E52-2E3D-B910-04F5-23BD11CFD22D}"/>
              </a:ext>
            </a:extLst>
          </p:cNvPr>
          <p:cNvSpPr/>
          <p:nvPr/>
        </p:nvSpPr>
        <p:spPr>
          <a:xfrm>
            <a:off x="2174679" y="3933194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机构汇总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（群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全行）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40A2AC3-24CB-12DF-816A-8BDA0C47A526}"/>
              </a:ext>
            </a:extLst>
          </p:cNvPr>
          <p:cNvSpPr/>
          <p:nvPr/>
        </p:nvSpPr>
        <p:spPr>
          <a:xfrm>
            <a:off x="5732343" y="1433803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配置公式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47EA1C0-0EE6-2CB3-1A2B-6E77EDE46F93}"/>
              </a:ext>
            </a:extLst>
          </p:cNvPr>
          <p:cNvSpPr/>
          <p:nvPr/>
        </p:nvSpPr>
        <p:spPr>
          <a:xfrm>
            <a:off x="9724894" y="1646671"/>
            <a:ext cx="1080000" cy="72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公式计算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比率指标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3E57165-4152-35A3-B383-5B6921C23398}"/>
              </a:ext>
            </a:extLst>
          </p:cNvPr>
          <p:cNvSpPr/>
          <p:nvPr/>
        </p:nvSpPr>
        <p:spPr>
          <a:xfrm>
            <a:off x="8465828" y="1646351"/>
            <a:ext cx="1080000" cy="72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设定规则计算</a:t>
            </a:r>
            <a:r>
              <a:rPr lang="zh-CN" altLang="en-US" sz="1000" dirty="0">
                <a:solidFill>
                  <a:schemeClr val="tx1"/>
                </a:solidFill>
              </a:rPr>
              <a:t>：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</a:rPr>
              <a:t>年末时点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</a:rPr>
              <a:t>年日均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</a:rPr>
              <a:t>全年损益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BAE2534-4783-3697-0549-99EE0AA63792}"/>
              </a:ext>
            </a:extLst>
          </p:cNvPr>
          <p:cNvSpPr/>
          <p:nvPr/>
        </p:nvSpPr>
        <p:spPr>
          <a:xfrm>
            <a:off x="9051256" y="743448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产品年度数据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F8046869-1D19-DA26-0246-4725768BC99B}"/>
              </a:ext>
            </a:extLst>
          </p:cNvPr>
          <p:cNvSpPr txBox="1"/>
          <p:nvPr/>
        </p:nvSpPr>
        <p:spPr>
          <a:xfrm>
            <a:off x="6130841" y="3713822"/>
            <a:ext cx="1513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/>
              <a:t>产品、群、全行指标</a:t>
            </a:r>
            <a:endParaRPr lang="en-US" altLang="zh-CN" sz="1000" dirty="0"/>
          </a:p>
          <a:p>
            <a:pPr algn="ctr"/>
            <a:r>
              <a:rPr lang="zh-CN" altLang="en-US" sz="1000" dirty="0"/>
              <a:t>月度、年度数据</a:t>
            </a:r>
            <a:endParaRPr lang="en-US" altLang="zh-CN" sz="1000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12E2882-C508-F7BE-0653-554E85575FDA}"/>
              </a:ext>
            </a:extLst>
          </p:cNvPr>
          <p:cNvSpPr/>
          <p:nvPr/>
        </p:nvSpPr>
        <p:spPr>
          <a:xfrm>
            <a:off x="2861870" y="4511871"/>
            <a:ext cx="1440000" cy="72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指标代码识别同指标：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</a:rPr>
              <a:t>产品</a:t>
            </a:r>
            <a:r>
              <a:rPr lang="en-US" altLang="zh-CN" sz="1000" dirty="0">
                <a:solidFill>
                  <a:schemeClr val="tx1"/>
                </a:solidFill>
              </a:rPr>
              <a:t>-</a:t>
            </a:r>
            <a:r>
              <a:rPr lang="zh-CN" altLang="en-US" sz="1000" dirty="0">
                <a:solidFill>
                  <a:schemeClr val="tx1"/>
                </a:solidFill>
              </a:rPr>
              <a:t>指标表格管理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或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</a:rPr>
              <a:t>指标</a:t>
            </a:r>
            <a:r>
              <a:rPr lang="en-US" altLang="zh-CN" sz="1000" dirty="0">
                <a:solidFill>
                  <a:schemeClr val="tx1"/>
                </a:solidFill>
              </a:rPr>
              <a:t>-</a:t>
            </a:r>
            <a:r>
              <a:rPr lang="zh-CN" altLang="en-US" sz="1000" dirty="0">
                <a:solidFill>
                  <a:schemeClr val="tx1"/>
                </a:solidFill>
              </a:rPr>
              <a:t>产品树状管理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511F81B-1CF6-9A1A-A37C-575F3A2F32FB}"/>
              </a:ext>
            </a:extLst>
          </p:cNvPr>
          <p:cNvSpPr/>
          <p:nvPr/>
        </p:nvSpPr>
        <p:spPr>
          <a:xfrm>
            <a:off x="2199512" y="5475416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月度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年度数据汇总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2316577A-A23D-77BF-4220-A1800D32A542}"/>
              </a:ext>
            </a:extLst>
          </p:cNvPr>
          <p:cNvCxnSpPr>
            <a:cxnSpLocks/>
            <a:stCxn id="159" idx="2"/>
            <a:endCxn id="163" idx="0"/>
          </p:cNvCxnSpPr>
          <p:nvPr/>
        </p:nvCxnSpPr>
        <p:spPr>
          <a:xfrm>
            <a:off x="8432189" y="4293194"/>
            <a:ext cx="540000" cy="44117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6C771245-46FB-4FC0-89E8-853194095F14}"/>
              </a:ext>
            </a:extLst>
          </p:cNvPr>
          <p:cNvCxnSpPr>
            <a:cxnSpLocks/>
            <a:stCxn id="144" idx="3"/>
            <a:endCxn id="159" idx="1"/>
          </p:cNvCxnSpPr>
          <p:nvPr/>
        </p:nvCxnSpPr>
        <p:spPr>
          <a:xfrm>
            <a:off x="5922257" y="4113194"/>
            <a:ext cx="1969932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4D96F88A-D51E-6253-6B2C-66752057AED3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2714679" y="4293194"/>
            <a:ext cx="147191" cy="21636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9324B74B-DC38-5273-94AF-E2DF7C1148B0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2567488" y="4293194"/>
            <a:ext cx="147191" cy="21636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矩形 143">
            <a:extLst>
              <a:ext uri="{FF2B5EF4-FFF2-40B4-BE49-F238E27FC236}">
                <a16:creationId xmlns:a16="http://schemas.microsoft.com/office/drawing/2014/main" id="{0B613E22-99BD-E8F3-E2E0-24CC59D2C9AD}"/>
              </a:ext>
            </a:extLst>
          </p:cNvPr>
          <p:cNvSpPr/>
          <p:nvPr/>
        </p:nvSpPr>
        <p:spPr>
          <a:xfrm>
            <a:off x="4842257" y="3933194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群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全行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比率指标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EDF21199-69D7-6380-02D1-3485B8979767}"/>
              </a:ext>
            </a:extLst>
          </p:cNvPr>
          <p:cNvCxnSpPr>
            <a:cxnSpLocks/>
            <a:stCxn id="87" idx="3"/>
            <a:endCxn id="144" idx="1"/>
          </p:cNvCxnSpPr>
          <p:nvPr/>
        </p:nvCxnSpPr>
        <p:spPr>
          <a:xfrm>
            <a:off x="3254679" y="4113194"/>
            <a:ext cx="1587578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8452BFCB-94E3-A528-A8C2-84C3EC545A8B}"/>
              </a:ext>
            </a:extLst>
          </p:cNvPr>
          <p:cNvCxnSpPr>
            <a:cxnSpLocks/>
            <a:stCxn id="144" idx="2"/>
            <a:endCxn id="150" idx="0"/>
          </p:cNvCxnSpPr>
          <p:nvPr/>
        </p:nvCxnSpPr>
        <p:spPr>
          <a:xfrm>
            <a:off x="5382257" y="4293194"/>
            <a:ext cx="0" cy="44117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59144193-EDD8-0D71-76FD-7334BEE66755}"/>
              </a:ext>
            </a:extLst>
          </p:cNvPr>
          <p:cNvSpPr/>
          <p:nvPr/>
        </p:nvSpPr>
        <p:spPr>
          <a:xfrm>
            <a:off x="5022257" y="4734372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公式计算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7A4E9581-0A4D-9310-2ED5-B3D91B713203}"/>
              </a:ext>
            </a:extLst>
          </p:cNvPr>
          <p:cNvSpPr/>
          <p:nvPr/>
        </p:nvSpPr>
        <p:spPr>
          <a:xfrm>
            <a:off x="7892189" y="3933194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数据输出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0917E180-8FAE-AA3A-7748-CFBCACCAC49D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 flipH="1">
            <a:off x="7968549" y="4293194"/>
            <a:ext cx="463640" cy="44117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618FE592-80E3-2167-BAC0-35A889BF038A}"/>
              </a:ext>
            </a:extLst>
          </p:cNvPr>
          <p:cNvSpPr/>
          <p:nvPr/>
        </p:nvSpPr>
        <p:spPr>
          <a:xfrm>
            <a:off x="7608549" y="4734372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固定报表输出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6AB6FC4-DABF-708C-9BCA-CB6F5D35A80C}"/>
              </a:ext>
            </a:extLst>
          </p:cNvPr>
          <p:cNvSpPr/>
          <p:nvPr/>
        </p:nvSpPr>
        <p:spPr>
          <a:xfrm>
            <a:off x="8612189" y="4734372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灵活查询</a:t>
            </a:r>
          </a:p>
        </p:txBody>
      </p: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4C0A472A-BF94-D797-B493-13D1FC1393BB}"/>
              </a:ext>
            </a:extLst>
          </p:cNvPr>
          <p:cNvCxnSpPr>
            <a:stCxn id="97" idx="3"/>
          </p:cNvCxnSpPr>
          <p:nvPr/>
        </p:nvCxnSpPr>
        <p:spPr>
          <a:xfrm>
            <a:off x="10131256" y="923448"/>
            <a:ext cx="1227910" cy="2484000"/>
          </a:xfrm>
          <a:prstGeom prst="bentConnector2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A6966B0-8286-F824-1BE6-7714DDF85A02}"/>
              </a:ext>
            </a:extLst>
          </p:cNvPr>
          <p:cNvCxnSpPr>
            <a:cxnSpLocks/>
          </p:cNvCxnSpPr>
          <p:nvPr/>
        </p:nvCxnSpPr>
        <p:spPr>
          <a:xfrm flipH="1">
            <a:off x="2714679" y="3400017"/>
            <a:ext cx="8644487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168052FE-1C31-5EC4-05F0-C7C6514565B6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2714679" y="3397702"/>
            <a:ext cx="0" cy="53549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2071E8C-1A0A-11CE-1AB5-612D90F39126}"/>
              </a:ext>
            </a:extLst>
          </p:cNvPr>
          <p:cNvSpPr txBox="1"/>
          <p:nvPr/>
        </p:nvSpPr>
        <p:spPr>
          <a:xfrm>
            <a:off x="443651" y="359985"/>
            <a:ext cx="1365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n-ea"/>
              </a:rPr>
              <a:t>数据流</a:t>
            </a:r>
          </a:p>
        </p:txBody>
      </p:sp>
    </p:spTree>
    <p:extLst>
      <p:ext uri="{BB962C8B-B14F-4D97-AF65-F5344CB8AC3E}">
        <p14:creationId xmlns:p14="http://schemas.microsoft.com/office/powerpoint/2010/main" val="255546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674E-2A6F-6A7F-3FD0-99E28CF6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E8B9A9-5E15-9AB9-5A82-B75B100AA56A}"/>
              </a:ext>
            </a:extLst>
          </p:cNvPr>
          <p:cNvSpPr txBox="1"/>
          <p:nvPr/>
        </p:nvSpPr>
        <p:spPr>
          <a:xfrm>
            <a:off x="443651" y="359985"/>
            <a:ext cx="1365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n-ea"/>
              </a:rPr>
              <a:t>工作流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0A797EC-FBF8-F091-80CA-FE93A026ED22}"/>
              </a:ext>
            </a:extLst>
          </p:cNvPr>
          <p:cNvCxnSpPr>
            <a:cxnSpLocks/>
            <a:stCxn id="72" idx="3"/>
            <a:endCxn id="136" idx="1"/>
          </p:cNvCxnSpPr>
          <p:nvPr/>
        </p:nvCxnSpPr>
        <p:spPr>
          <a:xfrm>
            <a:off x="2651327" y="2183138"/>
            <a:ext cx="79591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0E3D4F38-66FA-5424-1190-49498CAB9A5C}"/>
              </a:ext>
            </a:extLst>
          </p:cNvPr>
          <p:cNvSpPr/>
          <p:nvPr/>
        </p:nvSpPr>
        <p:spPr>
          <a:xfrm>
            <a:off x="3442750" y="4678985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机构及产品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0B1404-8BC4-8025-3F6D-CFA1BA4342E6}"/>
              </a:ext>
            </a:extLst>
          </p:cNvPr>
          <p:cNvSpPr/>
          <p:nvPr/>
        </p:nvSpPr>
        <p:spPr>
          <a:xfrm>
            <a:off x="1931327" y="4678985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配置维护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2D74E5C-04B1-E1A0-2225-C84BF72D06A6}"/>
              </a:ext>
            </a:extLst>
          </p:cNvPr>
          <p:cNvSpPr/>
          <p:nvPr/>
        </p:nvSpPr>
        <p:spPr>
          <a:xfrm>
            <a:off x="1931327" y="3787036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事实录入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0034CE1-5682-EEE7-0AE2-FF22912B8E92}"/>
              </a:ext>
            </a:extLst>
          </p:cNvPr>
          <p:cNvSpPr/>
          <p:nvPr/>
        </p:nvSpPr>
        <p:spPr>
          <a:xfrm>
            <a:off x="1931327" y="2895087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跑批计算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80D06EA-42F6-35FA-74F5-2B721583E0C5}"/>
              </a:ext>
            </a:extLst>
          </p:cNvPr>
          <p:cNvSpPr/>
          <p:nvPr/>
        </p:nvSpPr>
        <p:spPr>
          <a:xfrm>
            <a:off x="1931327" y="2003138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输出查询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B99398E-BF4F-A0C6-65E8-C637316B6360}"/>
              </a:ext>
            </a:extLst>
          </p:cNvPr>
          <p:cNvSpPr/>
          <p:nvPr/>
        </p:nvSpPr>
        <p:spPr>
          <a:xfrm>
            <a:off x="4552175" y="4678985"/>
            <a:ext cx="108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指标管理结构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（指标树或表）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90D7FA3-82CE-B112-54AB-E62E3899C624}"/>
              </a:ext>
            </a:extLst>
          </p:cNvPr>
          <p:cNvSpPr/>
          <p:nvPr/>
        </p:nvSpPr>
        <p:spPr>
          <a:xfrm>
            <a:off x="7851025" y="4678985"/>
            <a:ext cx="1331612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>
                <a:solidFill>
                  <a:schemeClr val="tx1"/>
                </a:solidFill>
              </a:rPr>
              <a:t>指标维度：时间维度、机构及产品维度</a:t>
            </a:r>
            <a:r>
              <a:rPr lang="en-US" altLang="zh-CN" sz="1000" dirty="0">
                <a:solidFill>
                  <a:schemeClr val="tx1"/>
                </a:solidFill>
              </a:rPr>
              <a:t>……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CD4E550-1867-FF32-74C4-FBC744A12708}"/>
              </a:ext>
            </a:extLst>
          </p:cNvPr>
          <p:cNvSpPr/>
          <p:nvPr/>
        </p:nvSpPr>
        <p:spPr>
          <a:xfrm>
            <a:off x="3446740" y="5570934"/>
            <a:ext cx="90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数据库</a:t>
            </a:r>
            <a:r>
              <a:rPr lang="en-US" altLang="zh-CN" sz="1000" dirty="0">
                <a:solidFill>
                  <a:schemeClr val="tx1"/>
                </a:solidFill>
              </a:rPr>
              <a:t>SDB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D762A70-522E-B3FD-007E-9F62BC15FF06}"/>
              </a:ext>
            </a:extLst>
          </p:cNvPr>
          <p:cNvSpPr/>
          <p:nvPr/>
        </p:nvSpPr>
        <p:spPr>
          <a:xfrm>
            <a:off x="1931327" y="5570934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系统底层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6106D16-1903-BED1-B1C1-0C57376DFD57}"/>
              </a:ext>
            </a:extLst>
          </p:cNvPr>
          <p:cNvSpPr/>
          <p:nvPr/>
        </p:nvSpPr>
        <p:spPr>
          <a:xfrm>
            <a:off x="5112406" y="5570934"/>
            <a:ext cx="90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Python</a:t>
            </a:r>
            <a:r>
              <a:rPr lang="zh-CN" altLang="en-US" sz="1000" dirty="0">
                <a:solidFill>
                  <a:schemeClr val="tx1"/>
                </a:solidFill>
              </a:rPr>
              <a:t>脚本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分析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计算</a:t>
            </a: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4142CE56-CFF2-4C89-546D-43D8952C2F21}"/>
              </a:ext>
            </a:extLst>
          </p:cNvPr>
          <p:cNvCxnSpPr>
            <a:cxnSpLocks/>
            <a:stCxn id="70" idx="3"/>
            <a:endCxn id="118" idx="1"/>
          </p:cNvCxnSpPr>
          <p:nvPr/>
        </p:nvCxnSpPr>
        <p:spPr>
          <a:xfrm>
            <a:off x="2651327" y="3075087"/>
            <a:ext cx="796765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0D72A69-55A4-5EB2-39A7-1F1E2BB917E2}"/>
              </a:ext>
            </a:extLst>
          </p:cNvPr>
          <p:cNvCxnSpPr>
            <a:cxnSpLocks/>
            <a:stCxn id="64" idx="3"/>
            <a:endCxn id="112" idx="1"/>
          </p:cNvCxnSpPr>
          <p:nvPr/>
        </p:nvCxnSpPr>
        <p:spPr>
          <a:xfrm>
            <a:off x="2651327" y="3967036"/>
            <a:ext cx="791423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946FB77-ADC6-9DF7-71B7-7D6C95D33F21}"/>
              </a:ext>
            </a:extLst>
          </p:cNvPr>
          <p:cNvCxnSpPr>
            <a:cxnSpLocks/>
            <a:stCxn id="35" idx="3"/>
            <a:endCxn id="32" idx="1"/>
          </p:cNvCxnSpPr>
          <p:nvPr/>
        </p:nvCxnSpPr>
        <p:spPr>
          <a:xfrm>
            <a:off x="2651327" y="4858985"/>
            <a:ext cx="791423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384556F-5F3D-7540-29CF-8AD6A01CE526}"/>
              </a:ext>
            </a:extLst>
          </p:cNvPr>
          <p:cNvCxnSpPr>
            <a:cxnSpLocks/>
            <a:stCxn id="86" idx="3"/>
            <a:endCxn id="83" idx="1"/>
          </p:cNvCxnSpPr>
          <p:nvPr/>
        </p:nvCxnSpPr>
        <p:spPr>
          <a:xfrm>
            <a:off x="2651327" y="5750934"/>
            <a:ext cx="795413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B35A3F0-D53C-2135-9743-1A93C29D012D}"/>
              </a:ext>
            </a:extLst>
          </p:cNvPr>
          <p:cNvCxnSpPr>
            <a:cxnSpLocks/>
            <a:stCxn id="83" idx="3"/>
            <a:endCxn id="96" idx="1"/>
          </p:cNvCxnSpPr>
          <p:nvPr/>
        </p:nvCxnSpPr>
        <p:spPr>
          <a:xfrm>
            <a:off x="4346740" y="5750934"/>
            <a:ext cx="765666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3CFA019-81AD-4573-42E1-5862FB83B5B6}"/>
              </a:ext>
            </a:extLst>
          </p:cNvPr>
          <p:cNvSpPr txBox="1"/>
          <p:nvPr/>
        </p:nvSpPr>
        <p:spPr>
          <a:xfrm>
            <a:off x="4459573" y="5504713"/>
            <a:ext cx="540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000" dirty="0"/>
              <a:t>SQL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03973FC-92A6-B7D2-24A8-29A9EE85905D}"/>
              </a:ext>
            </a:extLst>
          </p:cNvPr>
          <p:cNvSpPr/>
          <p:nvPr/>
        </p:nvSpPr>
        <p:spPr>
          <a:xfrm>
            <a:off x="6778072" y="5570934"/>
            <a:ext cx="90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Java</a:t>
            </a:r>
            <a:r>
              <a:rPr lang="zh-CN" altLang="en-US" sz="1000" dirty="0">
                <a:solidFill>
                  <a:schemeClr val="tx1"/>
                </a:solidFill>
              </a:rPr>
              <a:t>后端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展示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服务</a:t>
            </a: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9C91BE4-4132-493B-A2BC-BE1BE3B14188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6012406" y="5750934"/>
            <a:ext cx="765666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BD749BC-EC58-1D2A-D00C-06C39A8137EE}"/>
              </a:ext>
            </a:extLst>
          </p:cNvPr>
          <p:cNvSpPr txBox="1"/>
          <p:nvPr/>
        </p:nvSpPr>
        <p:spPr>
          <a:xfrm>
            <a:off x="6125239" y="5504713"/>
            <a:ext cx="540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000" dirty="0"/>
              <a:t>API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3B506C2-F84D-E918-6579-C5F259C82678}"/>
              </a:ext>
            </a:extLst>
          </p:cNvPr>
          <p:cNvSpPr/>
          <p:nvPr/>
        </p:nvSpPr>
        <p:spPr>
          <a:xfrm>
            <a:off x="3442750" y="3787036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管会月度数据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97B8997-0107-552E-49DA-45B184F65135}"/>
              </a:ext>
            </a:extLst>
          </p:cNvPr>
          <p:cNvSpPr/>
          <p:nvPr/>
        </p:nvSpPr>
        <p:spPr>
          <a:xfrm>
            <a:off x="4548186" y="3787036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业务月度数据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ED8CDDE-C414-957C-374E-B30929A6BB97}"/>
              </a:ext>
            </a:extLst>
          </p:cNvPr>
          <p:cNvSpPr/>
          <p:nvPr/>
        </p:nvSpPr>
        <p:spPr>
          <a:xfrm>
            <a:off x="3448092" y="2895087"/>
            <a:ext cx="684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>
                <a:solidFill>
                  <a:schemeClr val="tx1"/>
                </a:solidFill>
              </a:rPr>
              <a:t>Run</a:t>
            </a:r>
            <a:r>
              <a:rPr lang="zh-CN" altLang="en-US" sz="1000" dirty="0">
                <a:solidFill>
                  <a:schemeClr val="tx1"/>
                </a:solidFill>
              </a:rPr>
              <a:t>引擎（跑完整条计算链）：产品年度数据规则引擎、机构（群</a:t>
            </a:r>
            <a:r>
              <a:rPr lang="en-US" altLang="zh-CN" sz="1000" dirty="0">
                <a:solidFill>
                  <a:schemeClr val="tx1"/>
                </a:solidFill>
              </a:rPr>
              <a:t>/</a:t>
            </a:r>
            <a:r>
              <a:rPr lang="zh-CN" altLang="en-US" sz="1000" dirty="0">
                <a:solidFill>
                  <a:schemeClr val="tx1"/>
                </a:solidFill>
              </a:rPr>
              <a:t>全行）汇总规则引擎、指标生成公式</a:t>
            </a:r>
            <a:r>
              <a:rPr lang="en-US" altLang="zh-CN" sz="1000" dirty="0">
                <a:solidFill>
                  <a:schemeClr val="tx1"/>
                </a:solidFill>
              </a:rPr>
              <a:t>……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AD55162-979F-69CD-A66A-EC6075C92D44}"/>
              </a:ext>
            </a:extLst>
          </p:cNvPr>
          <p:cNvSpPr/>
          <p:nvPr/>
        </p:nvSpPr>
        <p:spPr>
          <a:xfrm>
            <a:off x="5647910" y="3787036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业务部分年度数据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7AB65D9-1BC5-AB0F-6AD0-DC23CE7B972B}"/>
              </a:ext>
            </a:extLst>
          </p:cNvPr>
          <p:cNvSpPr/>
          <p:nvPr/>
        </p:nvSpPr>
        <p:spPr>
          <a:xfrm>
            <a:off x="6021600" y="4678985"/>
            <a:ext cx="144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>
                <a:solidFill>
                  <a:schemeClr val="tx1"/>
                </a:solidFill>
              </a:rPr>
              <a:t>指标定义：名称、代码、性质</a:t>
            </a:r>
            <a:r>
              <a:rPr lang="en-US" altLang="zh-CN" sz="1000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D33B204-A259-817F-72C5-1C5AE44D18AD}"/>
              </a:ext>
            </a:extLst>
          </p:cNvPr>
          <p:cNvSpPr/>
          <p:nvPr/>
        </p:nvSpPr>
        <p:spPr>
          <a:xfrm>
            <a:off x="9568092" y="4678985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公式配置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804BF48-36A6-159B-02AC-3937B0C5C2A8}"/>
              </a:ext>
            </a:extLst>
          </p:cNvPr>
          <p:cNvSpPr/>
          <p:nvPr/>
        </p:nvSpPr>
        <p:spPr>
          <a:xfrm>
            <a:off x="3447246" y="2003138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固定报表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4A50E27-FE9C-1941-4782-FFE064F0D36C}"/>
              </a:ext>
            </a:extLst>
          </p:cNvPr>
          <p:cNvSpPr/>
          <p:nvPr/>
        </p:nvSpPr>
        <p:spPr>
          <a:xfrm>
            <a:off x="4552682" y="2003138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灵活查询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83F7E482-5831-81D2-2962-7B8C18048516}"/>
              </a:ext>
            </a:extLst>
          </p:cNvPr>
          <p:cNvCxnSpPr>
            <a:cxnSpLocks/>
            <a:stCxn id="156" idx="3"/>
            <a:endCxn id="157" idx="1"/>
          </p:cNvCxnSpPr>
          <p:nvPr/>
        </p:nvCxnSpPr>
        <p:spPr>
          <a:xfrm>
            <a:off x="2646831" y="1324300"/>
            <a:ext cx="79591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FD764FF3-D7BB-9B4E-A2B4-9EE1E1BA36E8}"/>
              </a:ext>
            </a:extLst>
          </p:cNvPr>
          <p:cNvSpPr/>
          <p:nvPr/>
        </p:nvSpPr>
        <p:spPr>
          <a:xfrm>
            <a:off x="1926831" y="1144300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分析及模拟测算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A4EC13A5-506D-DE79-B04D-6BF7A87F1573}"/>
              </a:ext>
            </a:extLst>
          </p:cNvPr>
          <p:cNvSpPr/>
          <p:nvPr/>
        </p:nvSpPr>
        <p:spPr>
          <a:xfrm>
            <a:off x="3442750" y="1144300"/>
            <a:ext cx="43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>
                <a:solidFill>
                  <a:schemeClr val="tx1"/>
                </a:solidFill>
              </a:rPr>
              <a:t>AI</a:t>
            </a:r>
            <a:r>
              <a:rPr lang="zh-CN" altLang="en-US" sz="1000" dirty="0">
                <a:solidFill>
                  <a:schemeClr val="tx1"/>
                </a:solidFill>
              </a:rPr>
              <a:t>分析预测、预算合理性等；</a:t>
            </a:r>
            <a:r>
              <a:rPr lang="en-US" altLang="zh-CN" sz="1000" dirty="0">
                <a:solidFill>
                  <a:schemeClr val="tx1"/>
                </a:solidFill>
              </a:rPr>
              <a:t>AI</a:t>
            </a:r>
            <a:r>
              <a:rPr lang="zh-CN" altLang="en-US" sz="1000" dirty="0">
                <a:solidFill>
                  <a:schemeClr val="tx1"/>
                </a:solidFill>
              </a:rPr>
              <a:t>根据目标模拟业务方案等</a:t>
            </a:r>
          </a:p>
        </p:txBody>
      </p:sp>
      <p:sp>
        <p:nvSpPr>
          <p:cNvPr id="167" name="箭头: 上 166">
            <a:extLst>
              <a:ext uri="{FF2B5EF4-FFF2-40B4-BE49-F238E27FC236}">
                <a16:creationId xmlns:a16="http://schemas.microsoft.com/office/drawing/2014/main" id="{49E48329-9F3A-CF7A-C018-0B53C2CF2327}"/>
              </a:ext>
            </a:extLst>
          </p:cNvPr>
          <p:cNvSpPr/>
          <p:nvPr/>
        </p:nvSpPr>
        <p:spPr>
          <a:xfrm>
            <a:off x="2196831" y="1663719"/>
            <a:ext cx="180000" cy="18000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箭头: 上 168">
            <a:extLst>
              <a:ext uri="{FF2B5EF4-FFF2-40B4-BE49-F238E27FC236}">
                <a16:creationId xmlns:a16="http://schemas.microsoft.com/office/drawing/2014/main" id="{26A33E35-63C8-FACD-62BD-A250E1A4FB4E}"/>
              </a:ext>
            </a:extLst>
          </p:cNvPr>
          <p:cNvSpPr/>
          <p:nvPr/>
        </p:nvSpPr>
        <p:spPr>
          <a:xfrm>
            <a:off x="2196831" y="3432288"/>
            <a:ext cx="180000" cy="18000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箭头: 上 171">
            <a:extLst>
              <a:ext uri="{FF2B5EF4-FFF2-40B4-BE49-F238E27FC236}">
                <a16:creationId xmlns:a16="http://schemas.microsoft.com/office/drawing/2014/main" id="{E247C922-4D07-D7C6-9E08-EE6CAA58BE47}"/>
              </a:ext>
            </a:extLst>
          </p:cNvPr>
          <p:cNvSpPr/>
          <p:nvPr/>
        </p:nvSpPr>
        <p:spPr>
          <a:xfrm>
            <a:off x="2196831" y="2539112"/>
            <a:ext cx="180000" cy="18000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箭头: 上 173">
            <a:extLst>
              <a:ext uri="{FF2B5EF4-FFF2-40B4-BE49-F238E27FC236}">
                <a16:creationId xmlns:a16="http://schemas.microsoft.com/office/drawing/2014/main" id="{011293DC-B47D-1B8D-02D0-B442CC74AC70}"/>
              </a:ext>
            </a:extLst>
          </p:cNvPr>
          <p:cNvSpPr/>
          <p:nvPr/>
        </p:nvSpPr>
        <p:spPr>
          <a:xfrm>
            <a:off x="2196831" y="4321784"/>
            <a:ext cx="180000" cy="18000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箭头: 上 177">
            <a:extLst>
              <a:ext uri="{FF2B5EF4-FFF2-40B4-BE49-F238E27FC236}">
                <a16:creationId xmlns:a16="http://schemas.microsoft.com/office/drawing/2014/main" id="{954E8C76-17DE-F8B9-44C9-C824C03A2760}"/>
              </a:ext>
            </a:extLst>
          </p:cNvPr>
          <p:cNvSpPr/>
          <p:nvPr/>
        </p:nvSpPr>
        <p:spPr>
          <a:xfrm>
            <a:off x="2196831" y="5214959"/>
            <a:ext cx="180000" cy="18000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19EAE46-35D1-05A7-D06D-40145821689A}"/>
              </a:ext>
            </a:extLst>
          </p:cNvPr>
          <p:cNvSpPr/>
          <p:nvPr/>
        </p:nvSpPr>
        <p:spPr>
          <a:xfrm>
            <a:off x="5658118" y="1994648"/>
            <a:ext cx="720000" cy="360000"/>
          </a:xfrm>
          <a:prstGeom prst="rect">
            <a:avLst/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飞书问数</a:t>
            </a:r>
          </a:p>
        </p:txBody>
      </p:sp>
    </p:spTree>
    <p:extLst>
      <p:ext uri="{BB962C8B-B14F-4D97-AF65-F5344CB8AC3E}">
        <p14:creationId xmlns:p14="http://schemas.microsoft.com/office/powerpoint/2010/main" val="139400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258</Words>
  <Application>Microsoft Office PowerPoint</Application>
  <PresentationFormat>宽屏</PresentationFormat>
  <Paragraphs>72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binzhao(赵斌)</dc:creator>
  <cp:lastModifiedBy>binzhao(赵斌)</cp:lastModifiedBy>
  <cp:revision>4</cp:revision>
  <dcterms:created xsi:type="dcterms:W3CDTF">2026-06-14T11:35:12Z</dcterms:created>
  <dcterms:modified xsi:type="dcterms:W3CDTF">2026-06-14T14:50:03Z</dcterms:modified>
</cp:coreProperties>
</file>